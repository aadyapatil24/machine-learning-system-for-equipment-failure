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71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4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_predict_page.png"/></Relationships>
</file>

<file path=ppt/slides/_rels/slide25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_analytics_page.png"/></Relationships>
</file>

<file path=ppt/slides/_rels/slide26.xml.rels><?xml version="1.0" encoding="UTF-8" standalone="yes"?>
<Relationships xmlns="http://schemas.openxmlformats.org/package/2006/relationships"><Relationship Id="rId4" Type="http://schemas.openxmlformats.org/officeDocument/2006/relationships/slideLayout" Target="../slideLayouts/slideLayout1.xml"/><Relationship Id="rId1" Type="http://schemas.openxmlformats.org/officeDocument/2006/relationships/image" Target="../media/image_history_page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F2564"/>
          </a:solidFill>
        </p:spPr>
      </p:sp>
      <p:sp>
        <p:nvSpPr>
          <p:cNvPr id="3" name="Shape 1"/>
          <p:cNvSpPr/>
          <p:nvPr/>
        </p:nvSpPr>
        <p:spPr>
          <a:xfrm>
            <a:off x="9875520" y="4023360"/>
            <a:ext cx="4572000" cy="4572000"/>
          </a:xfrm>
          <a:prstGeom prst="ellipse">
            <a:avLst/>
          </a:prstGeom>
          <a:solidFill>
            <a:srgbClr val="4B4FE0">
              <a:alpha val="2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2633345"/>
            <a:ext cx="11064240" cy="10572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911340" y="4600575"/>
            <a:ext cx="4202430" cy="17056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Presented By: </a:t>
            </a:r>
            <a:endParaRPr lang="en-US" sz="2600" b="1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</a:rPr>
              <a:t>                                          </a:t>
            </a:r>
            <a:r>
              <a:rPr lang="en-US" b="1" dirty="0">
                <a:solidFill>
                  <a:schemeClr val="bg1"/>
                </a:solidFill>
              </a:rPr>
              <a:t> Aadya Patil</a:t>
            </a:r>
            <a:endParaRPr lang="en-US" b="1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                             </a:t>
            </a: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Balasri Korasikha</a:t>
            </a:r>
            <a:endParaRPr lang="en-US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                Bandaru Keerthi Pranathi</a:t>
            </a:r>
            <a:endParaRPr lang="en-US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                Chandini K </a:t>
            </a:r>
            <a:endParaRPr lang="en-US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                Vasavi Kolla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/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/>
              <a:t>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56692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60520" y="50292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56692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50292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-1645920" y="697992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77930" y="3683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920240"/>
            <a:ext cx="5669280" cy="5669280"/>
          </a:xfrm>
          <a:prstGeom prst="ellipse">
            <a:avLst/>
          </a:prstGeom>
          <a:solidFill>
            <a:srgbClr val="12296B"/>
          </a:solidFill>
        </p:spPr>
      </p:sp>
      <p:sp>
        <p:nvSpPr>
          <p:cNvPr id="3" name="Shape 1"/>
          <p:cNvSpPr/>
          <p:nvPr/>
        </p:nvSpPr>
        <p:spPr>
          <a:xfrm rot="720000">
            <a:off x="10607040" y="4297680"/>
            <a:ext cx="914400" cy="914400"/>
          </a:xfrm>
          <a:prstGeom prst="hexagon">
            <a:avLst/>
          </a:prstGeom>
          <a:solidFill>
            <a:srgbClr val="2B6CF0">
              <a:alpha val="3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MILESTONE 3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640080"/>
            <a:ext cx="11155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charset="0"/>
                <a:ea typeface="Segoe UI" panose="020B0502040204020203" pitchFamily="34" charset="-122"/>
                <a:cs typeface="Times New Roman" panose="02020603050405020304" charset="0"/>
              </a:rPr>
              <a:t>From Trained Model to a Live, Working Product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C9D6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Building on the Random Forest model from Milestone 2, this milestone delivers a fully functional Streamlit web application — a SCADA-styled operator console for real-time diagnostics, fleet analytics, and prediction history, now live and deployed.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12296B"/>
          </a:solidFill>
          <a:ln w="12700">
            <a:solidFill>
              <a:srgbClr val="2B6CF0"/>
            </a:solidFill>
            <a:prstDash val="solid"/>
          </a:ln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679192"/>
            <a:ext cx="502920" cy="502920"/>
          </a:xfrm>
          <a:prstGeom prst="ellipse">
            <a:avLst/>
          </a:prstGeom>
          <a:solidFill>
            <a:srgbClr val="22D3EE"/>
          </a:solidFill>
        </p:spPr>
      </p:sp>
      <p:sp>
        <p:nvSpPr>
          <p:cNvPr id="9" name="Text 7"/>
          <p:cNvSpPr/>
          <p:nvPr/>
        </p:nvSpPr>
        <p:spPr>
          <a:xfrm>
            <a:off x="804672" y="267919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1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9900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Segoe UI" panose="020B0502040204020203" pitchFamily="34" charset="-122"/>
                <a:cs typeface="Times New Roman" panose="02020603050405020304" charset="0"/>
              </a:rPr>
              <a:t>Interactive Dashboard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299008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C9D6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 five-page SCADA-styled console built with Streamlit for real-time diagnostics and fleet monitoring.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06824" y="2423160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12296B"/>
          </a:solidFill>
          <a:ln w="12700">
            <a:solidFill>
              <a:srgbClr val="2B6CF0"/>
            </a:solidFill>
            <a:prstDash val="solid"/>
          </a:ln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2856" y="2679192"/>
            <a:ext cx="502920" cy="502920"/>
          </a:xfrm>
          <a:prstGeom prst="ellipse">
            <a:avLst/>
          </a:prstGeom>
          <a:solidFill>
            <a:srgbClr val="22D3EE"/>
          </a:solidFill>
        </p:spPr>
      </p:sp>
      <p:sp>
        <p:nvSpPr>
          <p:cNvPr id="14" name="Text 12"/>
          <p:cNvSpPr/>
          <p:nvPr/>
        </p:nvSpPr>
        <p:spPr>
          <a:xfrm>
            <a:off x="4562856" y="267919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1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81144" y="3337560"/>
            <a:ext cx="29900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Segoe UI" panose="020B0502040204020203" pitchFamily="34" charset="-122"/>
                <a:cs typeface="Times New Roman" panose="02020603050405020304" charset="0"/>
              </a:rPr>
              <a:t>Live Deployment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81144" y="3977640"/>
            <a:ext cx="299008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C9D6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Hosted on Streamlit Community Cloud and accessible to anyone as a public, always-on web app.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65008" y="2423160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12296B"/>
          </a:solidFill>
          <a:ln w="12700">
            <a:solidFill>
              <a:srgbClr val="2B6CF0"/>
            </a:solidFill>
            <a:prstDash val="solid"/>
          </a:ln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679192"/>
            <a:ext cx="502920" cy="502920"/>
          </a:xfrm>
          <a:prstGeom prst="ellipse">
            <a:avLst/>
          </a:prstGeom>
          <a:solidFill>
            <a:srgbClr val="22D3EE"/>
          </a:solidFill>
        </p:spPr>
      </p:sp>
      <p:sp>
        <p:nvSpPr>
          <p:cNvPr id="19" name="Text 17"/>
          <p:cNvSpPr/>
          <p:nvPr/>
        </p:nvSpPr>
        <p:spPr>
          <a:xfrm>
            <a:off x="8321040" y="267919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1E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39328" y="3337560"/>
            <a:ext cx="29900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Segoe UI" panose="020B0502040204020203" pitchFamily="34" charset="-122"/>
                <a:cs typeface="Times New Roman" panose="02020603050405020304" charset="0"/>
              </a:rPr>
              <a:t>End-to-End Traceability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39328" y="3977640"/>
            <a:ext cx="299008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C9D6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Every prediction is logged to an audit-ready history table, from raw input to health score.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9160" y="5532120"/>
            <a:ext cx="27432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4B4FE0"/>
                </a:solidFill>
                <a:latin typeface="Times New Roman" panose="02020603050405020304" charset="0"/>
                <a:cs typeface="Times New Roman" panose="02020603050405020304" charset="0"/>
              </a:rPr>
              <a:t>FRONTEND</a:t>
            </a:r>
            <a:endParaRPr sz="1200" b="1" i="0" spc="200">
              <a:solidFill>
                <a:srgbClr val="4B4FE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06424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Inside the SCADA Monitors Dashboard</a:t>
            </a:r>
            <a:endParaRPr sz="30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21105"/>
            <a:ext cx="11064240" cy="673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The frontend is a five-page Streamlit web app styled as an industrial SCADA operator console, giving live access to every part of the ML pipeline.</a:t>
            </a:r>
            <a:endParaRPr sz="1600" b="0" i="1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566160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5B6178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148840"/>
            <a:ext cx="420624" cy="420624"/>
          </a:xfrm>
          <a:prstGeom prst="ellipse">
            <a:avLst/>
          </a:prstGeom>
          <a:solidFill>
            <a:srgbClr val="4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8096" y="2651760"/>
            <a:ext cx="3127248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Home Overview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3081528"/>
            <a:ext cx="3127248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Fleet-wide KPIs, digital twin overview, and live OPC-UA stream status at a glance.</a:t>
            </a:r>
            <a:endParaRPr sz="1200" b="0" i="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97679" y="1965960"/>
            <a:ext cx="3566160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5B6178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98847" y="2148840"/>
            <a:ext cx="420624" cy="420624"/>
          </a:xfrm>
          <a:prstGeom prst="ellipse">
            <a:avLst/>
          </a:prstGeom>
          <a:solidFill>
            <a:srgbClr val="8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136" y="2651760"/>
            <a:ext cx="3127248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Predict Machine Failure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7136" y="3081528"/>
            <a:ext cx="3127248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Interactive form for live sensor inputs, running real-time diagnostic inference on demand.</a:t>
            </a:r>
            <a:endParaRPr sz="1200" b="0" i="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19" y="1965960"/>
            <a:ext cx="3566160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5B6178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7888" y="2148840"/>
            <a:ext cx="420624" cy="420624"/>
          </a:xfrm>
          <a:prstGeom prst="ellipse">
            <a:avLst/>
          </a:prstGeom>
          <a:solidFill>
            <a:srgbClr val="5C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66175" y="2651760"/>
            <a:ext cx="3127248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Analytics</a:t>
            </a:r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 Dashboard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66175" y="3081528"/>
            <a:ext cx="3127248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Fleet telemetry, root-cause pareto analysis, and correlation matrix with live filters.</a:t>
            </a:r>
            <a:endParaRPr sz="1200" b="0" i="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593591"/>
            <a:ext cx="3566160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5B6178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776472"/>
            <a:ext cx="420624" cy="420624"/>
          </a:xfrm>
          <a:prstGeom prst="ellipse">
            <a:avLst/>
          </a:prstGeom>
          <a:solidFill>
            <a:srgbClr val="3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096" y="4279392"/>
            <a:ext cx="3127248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Prediction History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4709159"/>
            <a:ext cx="3127248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ISO 55000-style audit log of every diagnostic session, exportable as CSV.</a:t>
            </a:r>
            <a:endParaRPr sz="1200" b="0" i="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97679" y="3593591"/>
            <a:ext cx="3566160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5B6178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98847" y="3776472"/>
            <a:ext cx="420624" cy="420624"/>
          </a:xfrm>
          <a:prstGeom prst="ellipse">
            <a:avLst/>
          </a:prstGeom>
          <a:solidFill>
            <a:srgbClr val="4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24350" y="4279265"/>
            <a:ext cx="391033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About</a:t>
            </a:r>
            <a:r>
              <a:rPr lang="en-US"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Project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17136" y="4709159"/>
            <a:ext cx="3127248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Dataset, model, and team details for full transparency on how the system works.</a:t>
            </a:r>
            <a:endParaRPr sz="1200" b="0" i="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46719" y="3593591"/>
            <a:ext cx="3566160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5B6178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47888" y="3776472"/>
            <a:ext cx="420624" cy="420624"/>
          </a:xfrm>
          <a:prstGeom prst="ellipse">
            <a:avLst/>
          </a:prstGeom>
          <a:solidFill>
            <a:srgbClr val="8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6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66175" y="4279392"/>
            <a:ext cx="3127248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SCADA Environment Panel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66175" y="4709159"/>
            <a:ext cx="3127248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Persistent sidebar showing engine, dataset, protocol, latency, and compliance status.</a:t>
            </a:r>
            <a:endParaRPr sz="1200" b="0" i="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48640" y="526694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C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340350"/>
            <a:ext cx="2821305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spc="150">
                <a:solidFill>
                  <a:srgbClr val="4B4FE0"/>
                </a:solidFill>
                <a:latin typeface="Times New Roman" panose="02020603050405020304" charset="0"/>
                <a:cs typeface="Times New Roman" panose="02020603050405020304" charset="0"/>
              </a:rPr>
              <a:t>DESIGN LANGUAGE</a:t>
            </a:r>
            <a:endParaRPr sz="1600" b="1" i="0" spc="150">
              <a:solidFill>
                <a:srgbClr val="4B4FE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" y="5650992"/>
            <a:ext cx="10332720" cy="49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Dark industrial theme   •   Live status badges   •   Card-based KPIs   •   MQTT / OPC-UA styled telemetry   •   Built entirely with Streamlit + Python</a:t>
            </a:r>
            <a:endParaRPr sz="1400" b="0" i="1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4FE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HOME DASHBOARD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140"/>
                </a:solidFill>
                <a:latin typeface="Times New Roman" panose="02020603050405020304" charset="0"/>
                <a:ea typeface="Century Schoolbook" panose="02040604050505020304" pitchFamily="34" charset="-122"/>
                <a:cs typeface="Times New Roman" panose="02020603050405020304" charset="0"/>
              </a:rPr>
              <a:t>Live KPIs on the SCADA Home Screen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5B617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Home page greets operators with four real-time headline metrics pulled from the deployed Random Forest engine and the AI4I telemetry stream.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24328" cy="3566160"/>
          </a:xfrm>
          <a:prstGeom prst="roundRect">
            <a:avLst>
              <a:gd name="adj" fmla="val 3484"/>
            </a:avLst>
          </a:prstGeom>
          <a:solidFill>
            <a:srgbClr val="161B45"/>
          </a:solidFill>
          <a:effectLst>
            <a:outerShdw blurRad="88900" dist="25400" dir="5400000" algn="bl" rotWithShape="0">
              <a:srgbClr val="5B617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23160"/>
            <a:ext cx="26243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1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6243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&lt;12 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2585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CB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Inference Latency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4206240"/>
            <a:ext cx="2221992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7CBF5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Edge micro-service architecture keeps every diagnostic response near-instant.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46704" y="2148840"/>
            <a:ext cx="2624328" cy="35661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5B617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46704" y="2423160"/>
            <a:ext cx="26243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B4F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46704" y="3017520"/>
            <a:ext cx="26243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140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98.4%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9584" y="3657600"/>
            <a:ext cx="22585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4F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Accuracy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47872" y="4206240"/>
            <a:ext cx="2221992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ROC-AUC ensembled Random Forest engine powering every prediction.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44768" y="2148840"/>
            <a:ext cx="2624328" cy="3566160"/>
          </a:xfrm>
          <a:prstGeom prst="roundRect">
            <a:avLst>
              <a:gd name="adj" fmla="val 3484"/>
            </a:avLst>
          </a:prstGeom>
          <a:solidFill>
            <a:srgbClr val="161B45"/>
          </a:solidFill>
          <a:effectLst>
            <a:outerShdw blurRad="88900" dist="25400" dir="5400000" algn="bl" rotWithShape="0">
              <a:srgbClr val="5B617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44768" y="2423160"/>
            <a:ext cx="26243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1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44768" y="3017520"/>
            <a:ext cx="26243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10,000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27648" y="3657600"/>
            <a:ext cx="22585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CB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Monitored Telemetry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45936" y="4206240"/>
            <a:ext cx="2221992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7CBF5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AI4I industrial fleet records streamed live across 6 telemetry channels.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42832" y="2148840"/>
            <a:ext cx="2624328" cy="35661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5B6178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42832" y="2423160"/>
            <a:ext cx="26243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B4F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942832" y="3017520"/>
            <a:ext cx="262432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140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-42.5%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25712" y="3657600"/>
            <a:ext cx="22585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4F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Downtime Reduction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0" y="4206240"/>
            <a:ext cx="2221992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Estimated operational opex saved through early, data-driven intervention.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4B4FE0"/>
                </a:solidFill>
                <a:latin typeface="Times New Roman" panose="02020603050405020304" charset="0"/>
                <a:cs typeface="Times New Roman" panose="02020603050405020304" charset="0"/>
              </a:rPr>
              <a:t>PREDICT PAGE</a:t>
            </a:r>
            <a:endParaRPr sz="1200" b="1" i="0" spc="200">
              <a:solidFill>
                <a:srgbClr val="4B4FE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106424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Real-Time Asset Diagnostics &amp; Health Inference</a:t>
            </a:r>
            <a:endParaRPr sz="30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10310"/>
            <a:ext cx="11433810" cy="8394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The core prediction page lets an operator configure live industrial telemetry sensor inputs and run the Random Forest model on demand, grouped into three intuitive input categories.</a:t>
            </a:r>
            <a:endParaRPr sz="1600" b="0" i="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2367280" cy="1847215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5B6178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8096" y="2350008"/>
            <a:ext cx="457200" cy="457200"/>
          </a:xfrm>
          <a:prstGeom prst="ellipse">
            <a:avLst/>
          </a:prstGeom>
          <a:solidFill>
            <a:srgbClr val="4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90015" y="2331720"/>
            <a:ext cx="1506220" cy="3092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Asset &amp; Tool Metrics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545" y="2834640"/>
            <a:ext cx="2087245" cy="1002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100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•  Machine Type / Variant (L, M, H)</a:t>
            </a:r>
            <a:endParaRPr sz="100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100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•  Tool Wear Time (minutes)</a:t>
            </a:r>
            <a:endParaRPr sz="100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51505" y="2148840"/>
            <a:ext cx="2286635" cy="1847215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5B6178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61106" y="2350008"/>
            <a:ext cx="457200" cy="457200"/>
          </a:xfrm>
          <a:prstGeom prst="ellipse">
            <a:avLst/>
          </a:prstGeom>
          <a:solidFill>
            <a:srgbClr val="8A6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92550" y="2331720"/>
            <a:ext cx="196469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Thermal Dynamics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47415" y="2833370"/>
            <a:ext cx="1689100" cy="156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100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•  Air Temperature (K) &amp; Process Temperature (K)</a:t>
            </a:r>
            <a:endParaRPr sz="100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142105"/>
            <a:ext cx="2343150" cy="1847215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5B6178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8096" y="4343400"/>
            <a:ext cx="457200" cy="457200"/>
          </a:xfrm>
          <a:prstGeom prst="ellipse">
            <a:avLst/>
          </a:prstGeom>
          <a:solidFill>
            <a:srgbClr val="5C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90015" y="4324985"/>
            <a:ext cx="1487805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Kinematic Load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545" y="4827905"/>
            <a:ext cx="1750060" cy="802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100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•  Rotational Speed (RPM)</a:t>
            </a:r>
            <a:endParaRPr sz="100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100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•  Torque Load (Nm)</a:t>
            </a:r>
            <a:endParaRPr sz="100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62300" y="4142105"/>
            <a:ext cx="2275840" cy="1847215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>
            <a:noFill/>
          </a:ln>
          <a:effectLst>
            <a:outerShdw blurRad="90000" dist="25000" dir="5400000" rotWithShape="0">
              <a:srgbClr val="5B6178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64916" y="4384040"/>
            <a:ext cx="457200" cy="457200"/>
          </a:xfrm>
          <a:prstGeom prst="ellipse">
            <a:avLst/>
          </a:prstGeom>
          <a:solidFill>
            <a:srgbClr val="3A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79520" y="4314825"/>
            <a:ext cx="1373505" cy="428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How Inference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sz="1600" b="1" i="0">
                <a:solidFill>
                  <a:srgbClr val="1C2140"/>
                </a:solidFill>
                <a:latin typeface="Times New Roman" panose="02020603050405020304" charset="0"/>
                <a:cs typeface="Times New Roman" panose="02020603050405020304" charset="0"/>
              </a:rPr>
              <a:t>Runs</a:t>
            </a:r>
            <a:endParaRPr sz="1600" b="1" i="0">
              <a:solidFill>
                <a:srgbClr val="1C214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52470" y="4878070"/>
            <a:ext cx="2276475" cy="11118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100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•  Set all 6 inputs via steppers/dropdown</a:t>
            </a:r>
            <a:endParaRPr sz="100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100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•  Click “Execute Diagnostic Inference”</a:t>
            </a:r>
            <a:endParaRPr sz="100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100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•  Model scores the input instantly</a:t>
            </a:r>
            <a:endParaRPr sz="100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1000">
                <a:solidFill>
                  <a:srgbClr val="5B6178"/>
                </a:solidFill>
                <a:latin typeface="Times New Roman" panose="02020603050405020304" charset="0"/>
                <a:cs typeface="Times New Roman" panose="02020603050405020304" charset="0"/>
              </a:rPr>
              <a:t>•  Auto-logged to Prediction History</a:t>
            </a:r>
            <a:endParaRPr sz="1000">
              <a:solidFill>
                <a:srgbClr val="5B617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Predict Page Screenshot" descr="Real-Time Asset Diagnostics fo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490" y="2011680"/>
            <a:ext cx="6112510" cy="2846000"/>
          </a:xfrm>
          <a:prstGeom prst="roundRect">
            <a:avLst>
              <a:gd name="adj" fmla="val 3000"/>
            </a:avLst>
          </a:prstGeom>
          <a:ln w="12700">
            <a:solidFill>
              <a:srgbClr val="D9DCE5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57E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ANALYTICS PAGE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55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Times New Roman" panose="02020603050405020304" charset="0"/>
                <a:ea typeface="Segoe UI" panose="020B0502040204020203" pitchFamily="34" charset="-122"/>
                <a:cs typeface="Times New Roman" panose="02020603050405020304" charset="0"/>
              </a:rPr>
              <a:t>Manufacturing SCADA Analytics Dashboard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Analytics page turns the full 10,000-record fleet into fleet-wide sensor telemetry, root-cause analysis, and a live correlation matrix — five capabilities in one screen.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309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76856"/>
            <a:ext cx="438912" cy="438912"/>
          </a:xfrm>
          <a:prstGeom prst="ellipse">
            <a:avLst/>
          </a:prstGeom>
          <a:solidFill>
            <a:srgbClr val="1657E0"/>
          </a:solidFill>
        </p:spPr>
      </p:sp>
      <p:sp>
        <p:nvSpPr>
          <p:cNvPr id="7" name="Text 5"/>
          <p:cNvSpPr/>
          <p:nvPr/>
        </p:nvSpPr>
        <p:spPr>
          <a:xfrm>
            <a:off x="713232" y="2276856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176272"/>
            <a:ext cx="5349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Fleet KPI Cards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2468880"/>
            <a:ext cx="5349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66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Monitored assets, fleet failures, failure rate, and average wear at failure, updated live.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6309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136392"/>
            <a:ext cx="438912" cy="438912"/>
          </a:xfrm>
          <a:prstGeom prst="ellipse">
            <a:avLst/>
          </a:prstGeom>
          <a:solidFill>
            <a:srgbClr val="1657E0"/>
          </a:solidFill>
        </p:spPr>
      </p:sp>
      <p:sp>
        <p:nvSpPr>
          <p:cNvPr id="12" name="Text 10"/>
          <p:cNvSpPr/>
          <p:nvPr/>
        </p:nvSpPr>
        <p:spPr>
          <a:xfrm>
            <a:off x="713232" y="3136392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035808"/>
            <a:ext cx="5349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Asset Variant Filter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25880" y="3328416"/>
            <a:ext cx="5349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66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 the fleet by machine variant to compare failure behavior across types.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6309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3995928"/>
            <a:ext cx="438912" cy="438912"/>
          </a:xfrm>
          <a:prstGeom prst="ellipse">
            <a:avLst/>
          </a:prstGeom>
          <a:solidFill>
            <a:srgbClr val="1657E0"/>
          </a:solidFill>
        </p:spPr>
      </p:sp>
      <p:sp>
        <p:nvSpPr>
          <p:cNvPr id="17" name="Text 15"/>
          <p:cNvSpPr/>
          <p:nvPr/>
        </p:nvSpPr>
        <p:spPr>
          <a:xfrm>
            <a:off x="713232" y="3995928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895344"/>
            <a:ext cx="5349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Operational State Filter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25880" y="4187952"/>
            <a:ext cx="5349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66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Narrow the view to specific asset operational states across the fleet.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548640" y="4681728"/>
            <a:ext cx="6309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55464"/>
            <a:ext cx="438912" cy="438912"/>
          </a:xfrm>
          <a:prstGeom prst="ellipse">
            <a:avLst/>
          </a:prstGeom>
          <a:solidFill>
            <a:srgbClr val="1657E0"/>
          </a:solidFill>
        </p:spPr>
      </p:sp>
      <p:sp>
        <p:nvSpPr>
          <p:cNvPr id="22" name="Text 20"/>
          <p:cNvSpPr/>
          <p:nvPr/>
        </p:nvSpPr>
        <p:spPr>
          <a:xfrm>
            <a:off x="713232" y="4855464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754880"/>
            <a:ext cx="5349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Telemetry Record Window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25880" y="5047488"/>
            <a:ext cx="5349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66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Adjustable slider controls how many of the 10,000 sensor records are analyzed.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548640" y="5541264"/>
            <a:ext cx="6309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5715000"/>
            <a:ext cx="438912" cy="438912"/>
          </a:xfrm>
          <a:prstGeom prst="ellipse">
            <a:avLst/>
          </a:prstGeom>
          <a:solidFill>
            <a:srgbClr val="1657E0"/>
          </a:solidFill>
        </p:spPr>
      </p:sp>
      <p:sp>
        <p:nvSpPr>
          <p:cNvPr id="27" name="Text 25"/>
          <p:cNvSpPr/>
          <p:nvPr/>
        </p:nvSpPr>
        <p:spPr>
          <a:xfrm>
            <a:off x="713232" y="571500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614416"/>
            <a:ext cx="5349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B3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Root-Cause Pareto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325880" y="5907024"/>
            <a:ext cx="5349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660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Kinematic operating envelope and root-cause failure mode charts, side by side.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7086600" y="1797253"/>
            <a:ext cx="4914900" cy="301000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85482" y="1897253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       SCADA Analytics View</a:t>
            </a:r>
            <a:endParaRPr lang="en-US" sz="1300" dirty="0"/>
          </a:p>
        </p:txBody>
      </p:sp>
      <p:pic>
        <p:nvPicPr>
          <p:cNvPr id="32" name="Image 0" descr="/home/claude/proj2/cropped/correlat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5965" y="2339861"/>
            <a:ext cx="4914265" cy="2317000"/>
          </a:xfrm>
          <a:prstGeom prst="roundRect">
            <a:avLst>
              <a:gd name="adj" fmla="val 3000"/>
            </a:avLst>
          </a:prstGeom>
          <a:ln w="12700">
            <a:solidFill>
              <a:srgbClr val="D9DCE5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57E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HISTORY PAGE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55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Times New Roman" panose="02020603050405020304" charset="0"/>
                <a:ea typeface="Segoe UI" panose="020B0502040204020203" pitchFamily="34" charset="-122"/>
                <a:cs typeface="Times New Roman" panose="02020603050405020304" charset="0"/>
              </a:rPr>
              <a:t>Every Prediction, Logged and Auditable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575425" cy="3282315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52" y="1618615"/>
            <a:ext cx="4000000" cy="2908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3"/>
                </a:solidFill>
                <a:latin typeface="Times New Roman" panose="02020603050405020304" charset="0"/>
                <a:ea typeface="Segoe UI" panose="020B0502040204020203" pitchFamily="34" charset="-122"/>
                <a:cs typeface="Times New Roman" panose="02020603050405020304" charset="0"/>
              </a:rPr>
              <a:t>    Prediction History &amp; Audit Log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Image 0" descr="/home/claude/proj2/cropped/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52" y="1989445"/>
            <a:ext cx="6100000" cy="2739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0225" y="5193665"/>
            <a:ext cx="11109960" cy="1537970"/>
          </a:xfrm>
          <a:prstGeom prst="roundRect">
            <a:avLst>
              <a:gd name="adj" fmla="val 4186"/>
            </a:avLst>
          </a:prstGeom>
          <a:solidFill>
            <a:srgbClr val="0A1E4A"/>
          </a:solidFill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5273675"/>
            <a:ext cx="4572000" cy="2813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2D3E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KEY FINDINGS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68680" y="5558790"/>
            <a:ext cx="5212080" cy="1002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2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Every diagnostic session is timestamped and saved automatically — no manual logging.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2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Table records date, time, machine type, health score, failure probability, and verdict.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2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Styled as an ISO 55000-aligned historical diagnostic trail for compliance.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263640" y="5554345"/>
            <a:ext cx="5212080" cy="10064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2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Session, nominal-log, and failure-alarm counters update live at the top of the page.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2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One-click “Export Audit History (CSV)” for offline review or reporting.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2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“Clear Telemetry Audit Log” gives operators a controlled reset when needed.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B4FE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TECH STACK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140"/>
                </a:solidFill>
                <a:latin typeface="Times New Roman" panose="02020603050405020304" charset="0"/>
                <a:ea typeface="Century Schoolbook" panose="02040604050505020304" pitchFamily="34" charset="-122"/>
                <a:cs typeface="Times New Roman" panose="02020603050405020304" charset="0"/>
              </a:rPr>
              <a:t>Frontend Stack &amp; Deployment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5B617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dashboard layer is built and deployed with a lightweight, fully open-source Python stack — no separate frontend framework required.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4B4FE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APP &amp; VISUALIZATION LAYER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0" y="214884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4B4FE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HOSTING &amp; PROJECT DELIVERY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5B6178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697480"/>
            <a:ext cx="82296" cy="804672"/>
          </a:xfrm>
          <a:prstGeom prst="roundRect">
            <a:avLst>
              <a:gd name="adj" fmla="val 44444"/>
            </a:avLst>
          </a:prstGeom>
          <a:solidFill>
            <a:srgbClr val="8A6FF0"/>
          </a:solidFill>
        </p:spPr>
      </p:sp>
      <p:sp>
        <p:nvSpPr>
          <p:cNvPr id="9" name="Text 7"/>
          <p:cNvSpPr/>
          <p:nvPr/>
        </p:nvSpPr>
        <p:spPr>
          <a:xfrm>
            <a:off x="987552" y="2642616"/>
            <a:ext cx="4800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140"/>
                </a:solidFill>
                <a:latin typeface="Times New Roman" panose="02020603050405020304" charset="0"/>
                <a:ea typeface="Century Schoolbook" panose="02040604050505020304" pitchFamily="34" charset="-122"/>
                <a:cs typeface="Times New Roman" panose="02020603050405020304" charset="0"/>
              </a:rPr>
              <a:t>Streamlit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4800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Powers the entire multi-page app — navigation, forms, live inputs, and session state.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813048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5B617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995928"/>
            <a:ext cx="82296" cy="804672"/>
          </a:xfrm>
          <a:prstGeom prst="roundRect">
            <a:avLst>
              <a:gd name="adj" fmla="val 44444"/>
            </a:avLst>
          </a:prstGeom>
          <a:solidFill>
            <a:srgbClr val="8A6FF0"/>
          </a:solidFill>
        </p:spPr>
      </p:sp>
      <p:sp>
        <p:nvSpPr>
          <p:cNvPr id="13" name="Text 11"/>
          <p:cNvSpPr/>
          <p:nvPr/>
        </p:nvSpPr>
        <p:spPr>
          <a:xfrm>
            <a:off x="987552" y="3941064"/>
            <a:ext cx="4800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140"/>
                </a:solidFill>
                <a:latin typeface="Times New Roman" panose="02020603050405020304" charset="0"/>
                <a:ea typeface="Century Schoolbook" panose="02040604050505020304" pitchFamily="34" charset="-122"/>
                <a:cs typeface="Times New Roman" panose="02020603050405020304" charset="0"/>
              </a:rPr>
              <a:t>Pandas &amp; Plotly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7552" y="4270248"/>
            <a:ext cx="4800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Handles telemetry data wrangling and renders the interactive charts on Home and Analytics.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5111496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5B6178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5294376"/>
            <a:ext cx="82296" cy="804672"/>
          </a:xfrm>
          <a:prstGeom prst="roundRect">
            <a:avLst>
              <a:gd name="adj" fmla="val 44444"/>
            </a:avLst>
          </a:prstGeom>
          <a:solidFill>
            <a:srgbClr val="8A6FF0"/>
          </a:solidFill>
        </p:spPr>
      </p:sp>
      <p:sp>
        <p:nvSpPr>
          <p:cNvPr id="17" name="Text 15"/>
          <p:cNvSpPr/>
          <p:nvPr/>
        </p:nvSpPr>
        <p:spPr>
          <a:xfrm>
            <a:off x="987552" y="5239512"/>
            <a:ext cx="4800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140"/>
                </a:solidFill>
                <a:latin typeface="Times New Roman" panose="02020603050405020304" charset="0"/>
                <a:ea typeface="Century Schoolbook" panose="02040604050505020304" pitchFamily="34" charset="-122"/>
                <a:cs typeface="Times New Roman" panose="02020603050405020304" charset="0"/>
              </a:rPr>
              <a:t>Scikit-learn &amp; Joblib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7552" y="5568696"/>
            <a:ext cx="4800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Loads the pre-trained Random Forest model for instant, in-app inference — no external API.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25146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5B6178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2697480"/>
            <a:ext cx="82296" cy="804672"/>
          </a:xfrm>
          <a:prstGeom prst="roundRect">
            <a:avLst>
              <a:gd name="adj" fmla="val 44444"/>
            </a:avLst>
          </a:prstGeom>
          <a:solidFill>
            <a:srgbClr val="8A6FF0"/>
          </a:solidFill>
        </p:spPr>
      </p:sp>
      <p:sp>
        <p:nvSpPr>
          <p:cNvPr id="21" name="Text 19"/>
          <p:cNvSpPr/>
          <p:nvPr/>
        </p:nvSpPr>
        <p:spPr>
          <a:xfrm>
            <a:off x="6656832" y="2642616"/>
            <a:ext cx="4800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140"/>
                </a:solidFill>
                <a:latin typeface="Times New Roman" panose="02020603050405020304" charset="0"/>
                <a:ea typeface="Century Schoolbook" panose="02040604050505020304" pitchFamily="34" charset="-122"/>
                <a:cs typeface="Times New Roman" panose="02020603050405020304" charset="0"/>
              </a:rPr>
              <a:t>Streamlit Community Cloud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56832" y="2971800"/>
            <a:ext cx="4800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Hosts the app as a free, public, always-on web service with automatic redeploys.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7920" y="3813048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5B6178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3995928"/>
            <a:ext cx="82296" cy="804672"/>
          </a:xfrm>
          <a:prstGeom prst="roundRect">
            <a:avLst>
              <a:gd name="adj" fmla="val 44444"/>
            </a:avLst>
          </a:prstGeom>
          <a:solidFill>
            <a:srgbClr val="8A6FF0"/>
          </a:solidFill>
        </p:spPr>
      </p:sp>
      <p:sp>
        <p:nvSpPr>
          <p:cNvPr id="25" name="Text 23"/>
          <p:cNvSpPr/>
          <p:nvPr/>
        </p:nvSpPr>
        <p:spPr>
          <a:xfrm>
            <a:off x="6656832" y="3941064"/>
            <a:ext cx="4800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140"/>
                </a:solidFill>
                <a:latin typeface="Times New Roman" panose="02020603050405020304" charset="0"/>
                <a:ea typeface="Century Schoolbook" panose="02040604050505020304" pitchFamily="34" charset="-122"/>
                <a:cs typeface="Times New Roman" panose="02020603050405020304" charset="0"/>
              </a:rPr>
              <a:t>GitHub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56832" y="4270248"/>
            <a:ext cx="4800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Version control and CI trigger — every push to main redeploys the live app automatically.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5111496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5B6178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19088" y="5294376"/>
            <a:ext cx="82296" cy="804672"/>
          </a:xfrm>
          <a:prstGeom prst="roundRect">
            <a:avLst>
              <a:gd name="adj" fmla="val 44444"/>
            </a:avLst>
          </a:prstGeom>
          <a:solidFill>
            <a:srgbClr val="8A6FF0"/>
          </a:solidFill>
        </p:spPr>
      </p:sp>
      <p:sp>
        <p:nvSpPr>
          <p:cNvPr id="29" name="Text 27"/>
          <p:cNvSpPr/>
          <p:nvPr/>
        </p:nvSpPr>
        <p:spPr>
          <a:xfrm>
            <a:off x="6656832" y="5239512"/>
            <a:ext cx="4800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140"/>
                </a:solidFill>
                <a:latin typeface="Times New Roman" panose="02020603050405020304" charset="0"/>
                <a:ea typeface="Century Schoolbook" panose="02040604050505020304" pitchFamily="34" charset="-122"/>
                <a:cs typeface="Times New Roman" panose="02020603050405020304" charset="0"/>
              </a:rPr>
              <a:t>Custom CSS Theming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56832" y="5568696"/>
            <a:ext cx="4800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Hand-styled dark SCADA console theme layered on top of native Streamlit components.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57E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MILESTONE 3 PROGRESS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55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33"/>
                </a:solidFill>
                <a:latin typeface="Times New Roman" panose="02020603050405020304" charset="0"/>
                <a:ea typeface="Segoe UI" panose="020B0502040204020203" pitchFamily="34" charset="-122"/>
                <a:cs typeface="Times New Roman" panose="02020603050405020304" charset="0"/>
              </a:rPr>
              <a:t>96% Complete — Frontend Live, Final Polish Ahead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733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OVERALL PROGRESS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92640" y="160020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7A56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96%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121408"/>
            <a:ext cx="10332720" cy="310896"/>
          </a:xfrm>
          <a:prstGeom prst="roundRect">
            <a:avLst>
              <a:gd name="adj" fmla="val 50000"/>
            </a:avLst>
          </a:prstGeom>
          <a:solidFill>
            <a:srgbClr val="E4E9F7"/>
          </a:solidFill>
        </p:spPr>
      </p:sp>
      <p:sp>
        <p:nvSpPr>
          <p:cNvPr id="8" name="Shape 6"/>
          <p:cNvSpPr/>
          <p:nvPr/>
        </p:nvSpPr>
        <p:spPr>
          <a:xfrm>
            <a:off x="822960" y="2121408"/>
            <a:ext cx="8782812" cy="310896"/>
          </a:xfrm>
          <a:prstGeom prst="roundRect">
            <a:avLst>
              <a:gd name="adj" fmla="val 50000"/>
            </a:avLst>
          </a:prstGeom>
          <a:solidFill>
            <a:srgbClr val="17A566"/>
          </a:solidFill>
        </p:spPr>
      </p:sp>
      <p:sp>
        <p:nvSpPr>
          <p:cNvPr id="9" name="Shape 7"/>
          <p:cNvSpPr/>
          <p:nvPr/>
        </p:nvSpPr>
        <p:spPr>
          <a:xfrm>
            <a:off x="548640" y="288036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01752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A566"/>
                </a:solidFill>
                <a:latin typeface="Times New Roman" panose="02020603050405020304" charset="0"/>
                <a:ea typeface="Segoe UI" panose="020B0502040204020203" pitchFamily="34" charset="-122"/>
                <a:cs typeface="Times New Roman" panose="02020603050405020304" charset="0"/>
              </a:rPr>
              <a:t>✓  COMPLETED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4846320" cy="2606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Full 5-page Streamlit dashboard built &amp; deployed live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Real-time diagnostic inference page (Predict Machine Failure)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Analytics dashboard with fleet telemetry &amp; correlation views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Prediction History audit log with CSV export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SCADA-styled dark theme UI polish across all pages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0" y="288036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5400000" algn="bl" rotWithShape="0">
              <a:srgbClr val="3A4A7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01752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anose="02020603050405020304" charset="0"/>
                <a:ea typeface="Segoe UI" panose="020B0502040204020203" pitchFamily="34" charset="-122"/>
                <a:cs typeface="Times New Roman" panose="02020603050405020304" charset="0"/>
              </a:rPr>
              <a:t>◷  REMAINING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60" y="3429000"/>
            <a:ext cx="4846320" cy="2606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Load testing &amp; performance optimization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Self-healing recommendation engine refinement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Real-time IoT sensor integration testing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6607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Final documentation &amp; project handover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13771</Words>
  <Application>WPS Presentation</Application>
  <PresentationFormat>On-screen Show (16:9)</PresentationFormat>
  <Paragraphs>614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SimSun</vt:lpstr>
      <vt:lpstr>Wingdings</vt:lpstr>
      <vt:lpstr>Calibri</vt:lpstr>
      <vt:lpstr>Calibri</vt:lpstr>
      <vt:lpstr>Calibri</vt:lpstr>
      <vt:lpstr>Century Schoolbook</vt:lpstr>
      <vt:lpstr>Century Schoolbook</vt:lpstr>
      <vt:lpstr>Century Schoolbook</vt:lpstr>
      <vt:lpstr>Calibri</vt:lpstr>
      <vt:lpstr>Century Schoolbook</vt:lpstr>
      <vt:lpstr>Microsoft YaHei</vt:lpstr>
      <vt:lpstr>Arial Unicode MS</vt:lpstr>
      <vt:lpstr>Segoe UI</vt:lpstr>
      <vt:lpstr>Segoe UI</vt:lpstr>
      <vt:lpstr>Segoe UI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Aadya Patil</cp:lastModifiedBy>
  <cp:revision>5</cp:revision>
  <dcterms:created xsi:type="dcterms:W3CDTF">2026-07-10T12:08:00Z</dcterms:created>
  <dcterms:modified xsi:type="dcterms:W3CDTF">2026-07-24T07:50:52Z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201286445AC74A9F9CD8AAB2F3FE0ADB_13</vt:lpwstr>
  </property>
</Properties>
</file>