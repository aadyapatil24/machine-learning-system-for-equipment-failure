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73" r:id="rId14"/>
    <p:sldId id="275" r:id="rId15"/>
    <p:sldId id="276" r:id="rId16"/>
    <p:sldId id="277" r:id="rId17"/>
    <p:sldId id="278" r:id="rId18"/>
    <p:sldId id="279" r:id="rId19"/>
    <p:sldId id="280" r:id="rId20"/>
    <p:sldId id="281" r:id="rId21"/>
    <p:sldId id="282"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4" Type="http://schemas.openxmlformats.org/officeDocument/2006/relationships/notesMaster" Target="notesMasters/notesMaster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 Type="http://schemas.openxmlformats.org/officeDocument/2006/relationships/slideMaster" Target="slideMasters/slideMaster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9.png"/></Relationships>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548640" y="384048"/>
            <a:ext cx="9144000" cy="184150"/>
          </a:xfrm>
          <a:prstGeom prst="rect">
            <a:avLst/>
          </a:prstGeom>
          <a:noFill/>
        </p:spPr>
        <p:txBody>
          <a:bodyPr wrap="square" lIns="0" tIns="0" rIns="0" bIns="0" anchor="t">
            <a:spAutoFit/>
          </a:bodyPr>
          <a:lstStyle/>
          <a:p>
            <a:pPr algn="l"/>
            <a:r>
              <a:rPr sz="1200" b="1" i="0" spc="200">
                <a:solidFill>
                  <a:srgbClr val="4B4FE0"/>
                </a:solidFill>
                <a:latin typeface="Times New Roman" panose="02020603050405020304" charset="0"/>
                <a:cs typeface="Times New Roman" panose="02020603050405020304" charset="0"/>
              </a:rPr>
              <a:t>DATASET</a:t>
            </a:r>
            <a:endParaRPr sz="1200" b="1" i="0" spc="200">
              <a:solidFill>
                <a:srgbClr val="4B4FE0"/>
              </a:solidFill>
              <a:latin typeface="Times New Roman" panose="02020603050405020304" charset="0"/>
              <a:cs typeface="Times New Roman" panose="02020603050405020304" charset="0"/>
            </a:endParaRPr>
          </a:p>
        </p:txBody>
      </p:sp>
      <p:sp>
        <p:nvSpPr>
          <p:cNvPr id="3" name="TextBox 2"/>
          <p:cNvSpPr txBox="1"/>
          <p:nvPr/>
        </p:nvSpPr>
        <p:spPr>
          <a:xfrm>
            <a:off x="530352" y="658368"/>
            <a:ext cx="11064240" cy="461645"/>
          </a:xfrm>
          <a:prstGeom prst="rect">
            <a:avLst/>
          </a:prstGeom>
          <a:noFill/>
        </p:spPr>
        <p:txBody>
          <a:bodyPr wrap="square" lIns="0" tIns="0" rIns="0" bIns="0" anchor="t">
            <a:spAutoFit/>
          </a:bodyPr>
          <a:lstStyle/>
          <a:p>
            <a:pPr algn="l">
              <a:lnSpc>
                <a:spcPct val="100000"/>
              </a:lnSpc>
            </a:pPr>
            <a:r>
              <a:rPr sz="3000" b="1" i="0">
                <a:solidFill>
                  <a:srgbClr val="1C2140"/>
                </a:solidFill>
                <a:latin typeface="Times New Roman" panose="02020603050405020304" charset="0"/>
                <a:cs typeface="Times New Roman" panose="02020603050405020304" charset="0"/>
              </a:rPr>
              <a:t>Dataset Used – AI4I 2020 Predictive Maintenance Dataset</a:t>
            </a:r>
            <a:endParaRPr sz="3000" b="1" i="0">
              <a:solidFill>
                <a:srgbClr val="1C2140"/>
              </a:solidFill>
              <a:latin typeface="Times New Roman" panose="02020603050405020304" charset="0"/>
              <a:cs typeface="Times New Roman" panose="02020603050405020304" charset="0"/>
            </a:endParaRPr>
          </a:p>
        </p:txBody>
      </p:sp>
      <p:sp>
        <p:nvSpPr>
          <p:cNvPr id="4" name="TextBox 3"/>
          <p:cNvSpPr txBox="1"/>
          <p:nvPr/>
        </p:nvSpPr>
        <p:spPr>
          <a:xfrm>
            <a:off x="548640" y="1210310"/>
            <a:ext cx="11433810" cy="839470"/>
          </a:xfrm>
          <a:prstGeom prst="rect">
            <a:avLst/>
          </a:prstGeom>
          <a:noFill/>
        </p:spPr>
        <p:txBody>
          <a:bodyPr wrap="square" lIns="0" tIns="0" rIns="0" bIns="0" anchor="t">
            <a:noAutofit/>
          </a:bodyPr>
          <a:lstStyle/>
          <a:p>
            <a:pPr algn="l">
              <a:lnSpc>
                <a:spcPct val="115000"/>
              </a:lnSpc>
            </a:pPr>
            <a:r>
              <a:rPr sz="1600" b="0" i="0">
                <a:solidFill>
                  <a:srgbClr val="5B6178"/>
                </a:solidFill>
                <a:latin typeface="Times New Roman" panose="02020603050405020304" charset="0"/>
                <a:cs typeface="Times New Roman" panose="02020603050405020304" charset="0"/>
              </a:rPr>
              <a:t>We use the AI4I 2020 Predictive Maintenance Dataset, a publicly available industrial dataset designed for predictive maintenance and machine failure detection. It contains 10,000 machine observations with realistic sensor readings, suitable for training ML models to identify failures before they occur.</a:t>
            </a:r>
            <a:endParaRPr sz="1600" b="0" i="0">
              <a:solidFill>
                <a:srgbClr val="5B6178"/>
              </a:solidFill>
              <a:latin typeface="Times New Roman" panose="02020603050405020304" charset="0"/>
              <a:cs typeface="Times New Roman" panose="02020603050405020304" charset="0"/>
            </a:endParaRPr>
          </a:p>
        </p:txBody>
      </p:sp>
      <p:sp>
        <p:nvSpPr>
          <p:cNvPr id="5" name="Rounded Rectangle 4"/>
          <p:cNvSpPr/>
          <p:nvPr/>
        </p:nvSpPr>
        <p:spPr>
          <a:xfrm>
            <a:off x="548640" y="2148840"/>
            <a:ext cx="2367280" cy="1847215"/>
          </a:xfrm>
          <a:prstGeom prst="roundRect">
            <a:avLst>
              <a:gd name="adj" fmla="val 4455"/>
            </a:avLst>
          </a:prstGeom>
          <a:solidFill>
            <a:srgbClr val="FFFFFF"/>
          </a:solidFill>
          <a:ln>
            <a:noFill/>
          </a:ln>
          <a:effectLst>
            <a:outerShdw blurRad="90000" dist="25000" dir="5400000" rotWithShape="0">
              <a:srgbClr val="5B6178">
                <a:alpha val="8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68096" y="2350008"/>
            <a:ext cx="457200" cy="457200"/>
          </a:xfrm>
          <a:prstGeom prst="ellipse">
            <a:avLst/>
          </a:prstGeom>
          <a:solidFill>
            <a:srgbClr val="4B4FE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Calibri" panose="020F0502020204030204"/>
              </a:rPr>
              <a:t>1</a:t>
            </a:r>
            <a:endParaRPr sz="1500" b="1">
              <a:solidFill>
                <a:srgbClr val="FFFFFF"/>
              </a:solidFill>
              <a:latin typeface="Calibri" panose="020F0502020204030204"/>
            </a:endParaRPr>
          </a:p>
        </p:txBody>
      </p:sp>
      <p:sp>
        <p:nvSpPr>
          <p:cNvPr id="7" name="TextBox 6"/>
          <p:cNvSpPr txBox="1"/>
          <p:nvPr/>
        </p:nvSpPr>
        <p:spPr>
          <a:xfrm>
            <a:off x="1390015" y="2331720"/>
            <a:ext cx="1506220" cy="309245"/>
          </a:xfrm>
          <a:prstGeom prst="rect">
            <a:avLst/>
          </a:prstGeom>
          <a:noFill/>
        </p:spPr>
        <p:txBody>
          <a:bodyPr wrap="square" lIns="0" tIns="0" rIns="0" bIns="0" anchor="t">
            <a:noAutofit/>
          </a:bodyPr>
          <a:lstStyle/>
          <a:p>
            <a:pPr algn="l"/>
            <a:r>
              <a:rPr sz="1600" b="1" i="0">
                <a:solidFill>
                  <a:srgbClr val="1C2140"/>
                </a:solidFill>
                <a:latin typeface="Times New Roman" panose="02020603050405020304" charset="0"/>
                <a:cs typeface="Times New Roman" panose="02020603050405020304" charset="0"/>
              </a:rPr>
              <a:t>Input Features</a:t>
            </a:r>
            <a:endParaRPr sz="1600" b="1" i="0">
              <a:solidFill>
                <a:srgbClr val="1C2140"/>
              </a:solidFill>
              <a:latin typeface="Times New Roman" panose="02020603050405020304" charset="0"/>
              <a:cs typeface="Times New Roman" panose="02020603050405020304" charset="0"/>
            </a:endParaRPr>
          </a:p>
        </p:txBody>
      </p:sp>
      <p:sp>
        <p:nvSpPr>
          <p:cNvPr id="8" name="TextBox 7"/>
          <p:cNvSpPr txBox="1"/>
          <p:nvPr/>
        </p:nvSpPr>
        <p:spPr>
          <a:xfrm>
            <a:off x="804545" y="2834640"/>
            <a:ext cx="2087245" cy="1002665"/>
          </a:xfrm>
          <a:prstGeom prst="rect">
            <a:avLst/>
          </a:prstGeom>
          <a:noFill/>
        </p:spPr>
        <p:txBody>
          <a:bodyPr wrap="square" lIns="0" tIns="0" rIns="0" bIns="0">
            <a:spAutoFit/>
          </a:bodyPr>
          <a:lstStyle/>
          <a:p>
            <a:pPr>
              <a:lnSpc>
                <a:spcPct val="102000"/>
              </a:lnSpc>
              <a:spcAft>
                <a:spcPts val="100"/>
              </a:spcAft>
            </a:pPr>
            <a:r>
              <a:rPr sz="1000">
                <a:solidFill>
                  <a:srgbClr val="5B6178"/>
                </a:solidFill>
                <a:latin typeface="Times New Roman" panose="02020603050405020304" charset="0"/>
                <a:cs typeface="Times New Roman" panose="02020603050405020304" charset="0"/>
              </a:rPr>
              <a:t>•  Air Temperature (K)</a:t>
            </a:r>
            <a:endParaRPr sz="1000">
              <a:solidFill>
                <a:srgbClr val="5B6178"/>
              </a:solidFill>
              <a:latin typeface="Times New Roman" panose="02020603050405020304" charset="0"/>
              <a:cs typeface="Times New Roman" panose="02020603050405020304" charset="0"/>
            </a:endParaRPr>
          </a:p>
          <a:p>
            <a:pPr>
              <a:lnSpc>
                <a:spcPct val="102000"/>
              </a:lnSpc>
              <a:spcAft>
                <a:spcPts val="100"/>
              </a:spcAft>
            </a:pPr>
            <a:r>
              <a:rPr sz="1000">
                <a:solidFill>
                  <a:srgbClr val="5B6178"/>
                </a:solidFill>
                <a:latin typeface="Times New Roman" panose="02020603050405020304" charset="0"/>
                <a:cs typeface="Times New Roman" panose="02020603050405020304" charset="0"/>
              </a:rPr>
              <a:t>•  Process Temperature (K)</a:t>
            </a:r>
            <a:endParaRPr sz="1000">
              <a:solidFill>
                <a:srgbClr val="5B6178"/>
              </a:solidFill>
              <a:latin typeface="Times New Roman" panose="02020603050405020304" charset="0"/>
              <a:cs typeface="Times New Roman" panose="02020603050405020304" charset="0"/>
            </a:endParaRPr>
          </a:p>
          <a:p>
            <a:pPr>
              <a:lnSpc>
                <a:spcPct val="102000"/>
              </a:lnSpc>
              <a:spcAft>
                <a:spcPts val="100"/>
              </a:spcAft>
            </a:pPr>
            <a:r>
              <a:rPr sz="1000">
                <a:solidFill>
                  <a:srgbClr val="5B6178"/>
                </a:solidFill>
                <a:latin typeface="Times New Roman" panose="02020603050405020304" charset="0"/>
                <a:cs typeface="Times New Roman" panose="02020603050405020304" charset="0"/>
              </a:rPr>
              <a:t>•  Rotational Speed (RPM)</a:t>
            </a:r>
            <a:endParaRPr sz="1000">
              <a:solidFill>
                <a:srgbClr val="5B6178"/>
              </a:solidFill>
              <a:latin typeface="Times New Roman" panose="02020603050405020304" charset="0"/>
              <a:cs typeface="Times New Roman" panose="02020603050405020304" charset="0"/>
            </a:endParaRPr>
          </a:p>
          <a:p>
            <a:pPr>
              <a:lnSpc>
                <a:spcPct val="102000"/>
              </a:lnSpc>
              <a:spcAft>
                <a:spcPts val="100"/>
              </a:spcAft>
            </a:pPr>
            <a:r>
              <a:rPr sz="1000">
                <a:solidFill>
                  <a:srgbClr val="5B6178"/>
                </a:solidFill>
                <a:latin typeface="Times New Roman" panose="02020603050405020304" charset="0"/>
                <a:cs typeface="Times New Roman" panose="02020603050405020304" charset="0"/>
              </a:rPr>
              <a:t>•  Torque (Nm)</a:t>
            </a:r>
            <a:endParaRPr sz="1000">
              <a:solidFill>
                <a:srgbClr val="5B6178"/>
              </a:solidFill>
              <a:latin typeface="Times New Roman" panose="02020603050405020304" charset="0"/>
              <a:cs typeface="Times New Roman" panose="02020603050405020304" charset="0"/>
            </a:endParaRPr>
          </a:p>
          <a:p>
            <a:pPr>
              <a:lnSpc>
                <a:spcPct val="102000"/>
              </a:lnSpc>
              <a:spcAft>
                <a:spcPts val="100"/>
              </a:spcAft>
            </a:pPr>
            <a:r>
              <a:rPr sz="1000">
                <a:solidFill>
                  <a:srgbClr val="5B6178"/>
                </a:solidFill>
                <a:latin typeface="Times New Roman" panose="02020603050405020304" charset="0"/>
                <a:cs typeface="Times New Roman" panose="02020603050405020304" charset="0"/>
              </a:rPr>
              <a:t>•  Tool Wear (Minutes)</a:t>
            </a:r>
            <a:endParaRPr sz="1000">
              <a:solidFill>
                <a:srgbClr val="5B6178"/>
              </a:solidFill>
              <a:latin typeface="Times New Roman" panose="02020603050405020304" charset="0"/>
              <a:cs typeface="Times New Roman" panose="02020603050405020304" charset="0"/>
            </a:endParaRPr>
          </a:p>
          <a:p>
            <a:pPr>
              <a:lnSpc>
                <a:spcPct val="102000"/>
              </a:lnSpc>
              <a:spcAft>
                <a:spcPts val="100"/>
              </a:spcAft>
            </a:pPr>
            <a:r>
              <a:rPr sz="1000">
                <a:solidFill>
                  <a:srgbClr val="5B6178"/>
                </a:solidFill>
                <a:latin typeface="Times New Roman" panose="02020603050405020304" charset="0"/>
                <a:cs typeface="Times New Roman" panose="02020603050405020304" charset="0"/>
              </a:rPr>
              <a:t>•  Machine Type (Low, Medium, High)</a:t>
            </a:r>
            <a:endParaRPr sz="1000">
              <a:solidFill>
                <a:srgbClr val="5B6178"/>
              </a:solidFill>
              <a:latin typeface="Times New Roman" panose="02020603050405020304" charset="0"/>
              <a:cs typeface="Times New Roman" panose="02020603050405020304" charset="0"/>
            </a:endParaRPr>
          </a:p>
        </p:txBody>
      </p:sp>
      <p:sp>
        <p:nvSpPr>
          <p:cNvPr id="9" name="Rounded Rectangle 8"/>
          <p:cNvSpPr/>
          <p:nvPr/>
        </p:nvSpPr>
        <p:spPr>
          <a:xfrm>
            <a:off x="3151505" y="2148840"/>
            <a:ext cx="2286635" cy="1847215"/>
          </a:xfrm>
          <a:prstGeom prst="roundRect">
            <a:avLst>
              <a:gd name="adj" fmla="val 4455"/>
            </a:avLst>
          </a:prstGeom>
          <a:solidFill>
            <a:srgbClr val="FFFFFF"/>
          </a:solidFill>
          <a:ln>
            <a:noFill/>
          </a:ln>
          <a:effectLst>
            <a:outerShdw blurRad="90000" dist="25000" dir="5400000" rotWithShape="0">
              <a:srgbClr val="5B6178">
                <a:alpha val="8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261106" y="2350008"/>
            <a:ext cx="457200" cy="457200"/>
          </a:xfrm>
          <a:prstGeom prst="ellipse">
            <a:avLst/>
          </a:prstGeom>
          <a:solidFill>
            <a:srgbClr val="8A6FF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Calibri" panose="020F0502020204030204"/>
              </a:rPr>
              <a:t>2</a:t>
            </a:r>
            <a:endParaRPr sz="1500" b="1">
              <a:solidFill>
                <a:srgbClr val="FFFFFF"/>
              </a:solidFill>
              <a:latin typeface="Calibri" panose="020F0502020204030204"/>
            </a:endParaRPr>
          </a:p>
        </p:txBody>
      </p:sp>
      <p:sp>
        <p:nvSpPr>
          <p:cNvPr id="11" name="TextBox 10"/>
          <p:cNvSpPr txBox="1"/>
          <p:nvPr/>
        </p:nvSpPr>
        <p:spPr>
          <a:xfrm>
            <a:off x="3892550" y="2331720"/>
            <a:ext cx="1964690" cy="304800"/>
          </a:xfrm>
          <a:prstGeom prst="rect">
            <a:avLst/>
          </a:prstGeom>
          <a:noFill/>
        </p:spPr>
        <p:txBody>
          <a:bodyPr wrap="square" lIns="0" tIns="0" rIns="0" bIns="0" anchor="t">
            <a:noAutofit/>
          </a:bodyPr>
          <a:lstStyle/>
          <a:p>
            <a:pPr algn="l"/>
            <a:r>
              <a:rPr sz="1600" b="1" i="0">
                <a:solidFill>
                  <a:srgbClr val="1C2140"/>
                </a:solidFill>
                <a:latin typeface="Times New Roman" panose="02020603050405020304" charset="0"/>
                <a:cs typeface="Times New Roman" panose="02020603050405020304" charset="0"/>
              </a:rPr>
              <a:t>Target Variable</a:t>
            </a:r>
            <a:endParaRPr sz="1600" b="1" i="0">
              <a:solidFill>
                <a:srgbClr val="1C2140"/>
              </a:solidFill>
              <a:latin typeface="Times New Roman" panose="02020603050405020304" charset="0"/>
              <a:cs typeface="Times New Roman" panose="02020603050405020304" charset="0"/>
            </a:endParaRPr>
          </a:p>
        </p:txBody>
      </p:sp>
      <p:sp>
        <p:nvSpPr>
          <p:cNvPr id="12" name="TextBox 11"/>
          <p:cNvSpPr txBox="1"/>
          <p:nvPr/>
        </p:nvSpPr>
        <p:spPr>
          <a:xfrm>
            <a:off x="3447415" y="2833370"/>
            <a:ext cx="1689100" cy="156210"/>
          </a:xfrm>
          <a:prstGeom prst="rect">
            <a:avLst/>
          </a:prstGeom>
          <a:noFill/>
        </p:spPr>
        <p:txBody>
          <a:bodyPr wrap="square" lIns="0" tIns="0" rIns="0" bIns="0">
            <a:spAutoFit/>
          </a:bodyPr>
          <a:lstStyle/>
          <a:p>
            <a:pPr>
              <a:lnSpc>
                <a:spcPct val="102000"/>
              </a:lnSpc>
              <a:spcAft>
                <a:spcPts val="100"/>
              </a:spcAft>
            </a:pPr>
            <a:r>
              <a:rPr sz="1000">
                <a:solidFill>
                  <a:srgbClr val="5B6178"/>
                </a:solidFill>
                <a:latin typeface="Times New Roman" panose="02020603050405020304" charset="0"/>
                <a:cs typeface="Times New Roman" panose="02020603050405020304" charset="0"/>
              </a:rPr>
              <a:t>•  Machine Failure (Yes / No)</a:t>
            </a:r>
            <a:endParaRPr sz="1000">
              <a:solidFill>
                <a:srgbClr val="5B6178"/>
              </a:solidFill>
              <a:latin typeface="Times New Roman" panose="02020603050405020304" charset="0"/>
              <a:cs typeface="Times New Roman" panose="02020603050405020304" charset="0"/>
            </a:endParaRPr>
          </a:p>
        </p:txBody>
      </p:sp>
      <p:sp>
        <p:nvSpPr>
          <p:cNvPr id="13" name="Rounded Rectangle 12"/>
          <p:cNvSpPr/>
          <p:nvPr/>
        </p:nvSpPr>
        <p:spPr>
          <a:xfrm>
            <a:off x="548640" y="4142105"/>
            <a:ext cx="2343150" cy="1847215"/>
          </a:xfrm>
          <a:prstGeom prst="roundRect">
            <a:avLst>
              <a:gd name="adj" fmla="val 4455"/>
            </a:avLst>
          </a:prstGeom>
          <a:solidFill>
            <a:srgbClr val="FFFFFF"/>
          </a:solidFill>
          <a:ln>
            <a:noFill/>
          </a:ln>
          <a:effectLst>
            <a:outerShdw blurRad="90000" dist="25000" dir="5400000" rotWithShape="0">
              <a:srgbClr val="5B6178">
                <a:alpha val="8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68096" y="4343400"/>
            <a:ext cx="457200" cy="457200"/>
          </a:xfrm>
          <a:prstGeom prst="ellipse">
            <a:avLst/>
          </a:prstGeom>
          <a:solidFill>
            <a:srgbClr val="5C63E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Calibri" panose="020F0502020204030204"/>
              </a:rPr>
              <a:t>3</a:t>
            </a:r>
            <a:endParaRPr sz="1500" b="1">
              <a:solidFill>
                <a:srgbClr val="FFFFFF"/>
              </a:solidFill>
              <a:latin typeface="Calibri" panose="020F0502020204030204"/>
            </a:endParaRPr>
          </a:p>
        </p:txBody>
      </p:sp>
      <p:sp>
        <p:nvSpPr>
          <p:cNvPr id="15" name="TextBox 14"/>
          <p:cNvSpPr txBox="1"/>
          <p:nvPr/>
        </p:nvSpPr>
        <p:spPr>
          <a:xfrm>
            <a:off x="1390015" y="4324985"/>
            <a:ext cx="1487805" cy="411480"/>
          </a:xfrm>
          <a:prstGeom prst="rect">
            <a:avLst/>
          </a:prstGeom>
          <a:noFill/>
        </p:spPr>
        <p:txBody>
          <a:bodyPr wrap="square" lIns="0" tIns="0" rIns="0" bIns="0" anchor="t">
            <a:noAutofit/>
          </a:bodyPr>
          <a:lstStyle/>
          <a:p>
            <a:pPr algn="l"/>
            <a:r>
              <a:rPr sz="1600" b="1" i="0">
                <a:solidFill>
                  <a:srgbClr val="1C2140"/>
                </a:solidFill>
                <a:latin typeface="Times New Roman" panose="02020603050405020304" charset="0"/>
                <a:cs typeface="Times New Roman" panose="02020603050405020304" charset="0"/>
              </a:rPr>
              <a:t>Failure Types</a:t>
            </a:r>
            <a:endParaRPr sz="1600" b="1" i="0">
              <a:solidFill>
                <a:srgbClr val="1C2140"/>
              </a:solidFill>
              <a:latin typeface="Times New Roman" panose="02020603050405020304" charset="0"/>
              <a:cs typeface="Times New Roman" panose="02020603050405020304" charset="0"/>
            </a:endParaRPr>
          </a:p>
        </p:txBody>
      </p:sp>
      <p:sp>
        <p:nvSpPr>
          <p:cNvPr id="16" name="TextBox 15"/>
          <p:cNvSpPr txBox="1"/>
          <p:nvPr/>
        </p:nvSpPr>
        <p:spPr>
          <a:xfrm>
            <a:off x="804545" y="4827905"/>
            <a:ext cx="1750060" cy="802640"/>
          </a:xfrm>
          <a:prstGeom prst="rect">
            <a:avLst/>
          </a:prstGeom>
          <a:noFill/>
        </p:spPr>
        <p:txBody>
          <a:bodyPr wrap="square" lIns="0" tIns="0" rIns="0" bIns="0">
            <a:noAutofit/>
          </a:bodyPr>
          <a:lstStyle/>
          <a:p>
            <a:pPr>
              <a:lnSpc>
                <a:spcPct val="102000"/>
              </a:lnSpc>
              <a:spcAft>
                <a:spcPts val="100"/>
              </a:spcAft>
            </a:pPr>
            <a:r>
              <a:rPr sz="1000">
                <a:solidFill>
                  <a:srgbClr val="5B6178"/>
                </a:solidFill>
                <a:latin typeface="Times New Roman" panose="02020603050405020304" charset="0"/>
                <a:cs typeface="Times New Roman" panose="02020603050405020304" charset="0"/>
              </a:rPr>
              <a:t>•  Tool Wear Failure (TWF)</a:t>
            </a:r>
            <a:endParaRPr sz="1000">
              <a:solidFill>
                <a:srgbClr val="5B6178"/>
              </a:solidFill>
              <a:latin typeface="Times New Roman" panose="02020603050405020304" charset="0"/>
              <a:cs typeface="Times New Roman" panose="02020603050405020304" charset="0"/>
            </a:endParaRPr>
          </a:p>
          <a:p>
            <a:pPr>
              <a:lnSpc>
                <a:spcPct val="102000"/>
              </a:lnSpc>
              <a:spcAft>
                <a:spcPts val="100"/>
              </a:spcAft>
            </a:pPr>
            <a:r>
              <a:rPr sz="1000">
                <a:solidFill>
                  <a:srgbClr val="5B6178"/>
                </a:solidFill>
                <a:latin typeface="Times New Roman" panose="02020603050405020304" charset="0"/>
                <a:cs typeface="Times New Roman" panose="02020603050405020304" charset="0"/>
              </a:rPr>
              <a:t>•  Heat Dissipation Failure (HDF)</a:t>
            </a:r>
            <a:endParaRPr sz="1000">
              <a:solidFill>
                <a:srgbClr val="5B6178"/>
              </a:solidFill>
              <a:latin typeface="Times New Roman" panose="02020603050405020304" charset="0"/>
              <a:cs typeface="Times New Roman" panose="02020603050405020304" charset="0"/>
            </a:endParaRPr>
          </a:p>
          <a:p>
            <a:pPr>
              <a:lnSpc>
                <a:spcPct val="102000"/>
              </a:lnSpc>
              <a:spcAft>
                <a:spcPts val="100"/>
              </a:spcAft>
            </a:pPr>
            <a:r>
              <a:rPr sz="1000">
                <a:solidFill>
                  <a:srgbClr val="5B6178"/>
                </a:solidFill>
                <a:latin typeface="Times New Roman" panose="02020603050405020304" charset="0"/>
                <a:cs typeface="Times New Roman" panose="02020603050405020304" charset="0"/>
              </a:rPr>
              <a:t>•  Power Failure (PWF)</a:t>
            </a:r>
            <a:endParaRPr sz="1000">
              <a:solidFill>
                <a:srgbClr val="5B6178"/>
              </a:solidFill>
              <a:latin typeface="Times New Roman" panose="02020603050405020304" charset="0"/>
              <a:cs typeface="Times New Roman" panose="02020603050405020304" charset="0"/>
            </a:endParaRPr>
          </a:p>
          <a:p>
            <a:pPr>
              <a:lnSpc>
                <a:spcPct val="102000"/>
              </a:lnSpc>
              <a:spcAft>
                <a:spcPts val="100"/>
              </a:spcAft>
            </a:pPr>
            <a:r>
              <a:rPr sz="1000">
                <a:solidFill>
                  <a:srgbClr val="5B6178"/>
                </a:solidFill>
                <a:latin typeface="Times New Roman" panose="02020603050405020304" charset="0"/>
                <a:cs typeface="Times New Roman" panose="02020603050405020304" charset="0"/>
              </a:rPr>
              <a:t>•  Overstrain Failure (OSF)</a:t>
            </a:r>
            <a:endParaRPr sz="1000">
              <a:solidFill>
                <a:srgbClr val="5B6178"/>
              </a:solidFill>
              <a:latin typeface="Times New Roman" panose="02020603050405020304" charset="0"/>
              <a:cs typeface="Times New Roman" panose="02020603050405020304" charset="0"/>
            </a:endParaRPr>
          </a:p>
          <a:p>
            <a:pPr>
              <a:lnSpc>
                <a:spcPct val="102000"/>
              </a:lnSpc>
              <a:spcAft>
                <a:spcPts val="100"/>
              </a:spcAft>
            </a:pPr>
            <a:r>
              <a:rPr sz="1000">
                <a:solidFill>
                  <a:srgbClr val="5B6178"/>
                </a:solidFill>
                <a:latin typeface="Times New Roman" panose="02020603050405020304" charset="0"/>
                <a:cs typeface="Times New Roman" panose="02020603050405020304" charset="0"/>
              </a:rPr>
              <a:t>•  Random Failure (RNF)</a:t>
            </a:r>
            <a:endParaRPr sz="1000">
              <a:solidFill>
                <a:srgbClr val="5B6178"/>
              </a:solidFill>
              <a:latin typeface="Times New Roman" panose="02020603050405020304" charset="0"/>
              <a:cs typeface="Times New Roman" panose="02020603050405020304" charset="0"/>
            </a:endParaRPr>
          </a:p>
        </p:txBody>
      </p:sp>
      <p:sp>
        <p:nvSpPr>
          <p:cNvPr id="17" name="Rounded Rectangle 16"/>
          <p:cNvSpPr/>
          <p:nvPr/>
        </p:nvSpPr>
        <p:spPr>
          <a:xfrm>
            <a:off x="3162300" y="4142105"/>
            <a:ext cx="2275840" cy="1847215"/>
          </a:xfrm>
          <a:prstGeom prst="roundRect">
            <a:avLst>
              <a:gd name="adj" fmla="val 4455"/>
            </a:avLst>
          </a:prstGeom>
          <a:solidFill>
            <a:srgbClr val="FFFFFF"/>
          </a:solidFill>
          <a:ln>
            <a:noFill/>
          </a:ln>
          <a:effectLst>
            <a:outerShdw blurRad="90000" dist="25000" dir="5400000" rotWithShape="0">
              <a:srgbClr val="5B6178">
                <a:alpha val="8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264916" y="4384040"/>
            <a:ext cx="457200" cy="457200"/>
          </a:xfrm>
          <a:prstGeom prst="ellipse">
            <a:avLst/>
          </a:prstGeom>
          <a:solidFill>
            <a:srgbClr val="3A3F9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rgbClr val="FFFFFF"/>
                </a:solidFill>
                <a:latin typeface="Calibri" panose="020F0502020204030204"/>
              </a:rPr>
              <a:t>4</a:t>
            </a:r>
            <a:endParaRPr sz="1500" b="1">
              <a:solidFill>
                <a:srgbClr val="FFFFFF"/>
              </a:solidFill>
              <a:latin typeface="Calibri" panose="020F0502020204030204"/>
            </a:endParaRPr>
          </a:p>
        </p:txBody>
      </p:sp>
      <p:sp>
        <p:nvSpPr>
          <p:cNvPr id="19" name="TextBox 18"/>
          <p:cNvSpPr txBox="1"/>
          <p:nvPr/>
        </p:nvSpPr>
        <p:spPr>
          <a:xfrm>
            <a:off x="3779520" y="4314825"/>
            <a:ext cx="1373505" cy="428625"/>
          </a:xfrm>
          <a:prstGeom prst="rect">
            <a:avLst/>
          </a:prstGeom>
          <a:noFill/>
        </p:spPr>
        <p:txBody>
          <a:bodyPr wrap="square" lIns="0" tIns="0" rIns="0" bIns="0" anchor="t">
            <a:noAutofit/>
          </a:bodyPr>
          <a:lstStyle/>
          <a:p>
            <a:pPr algn="l"/>
            <a:r>
              <a:rPr sz="1600" b="1" i="0">
                <a:solidFill>
                  <a:srgbClr val="1C2140"/>
                </a:solidFill>
                <a:latin typeface="Times New Roman" panose="02020603050405020304" charset="0"/>
                <a:cs typeface="Times New Roman" panose="02020603050405020304" charset="0"/>
              </a:rPr>
              <a:t>Why We Chose </a:t>
            </a:r>
            <a:endParaRPr sz="1600" b="1" i="0">
              <a:solidFill>
                <a:srgbClr val="1C2140"/>
              </a:solidFill>
              <a:latin typeface="Times New Roman" panose="02020603050405020304" charset="0"/>
              <a:cs typeface="Times New Roman" panose="02020603050405020304" charset="0"/>
            </a:endParaRPr>
          </a:p>
          <a:p>
            <a:pPr algn="l"/>
            <a:r>
              <a:rPr sz="1600" b="1" i="0">
                <a:solidFill>
                  <a:srgbClr val="1C2140"/>
                </a:solidFill>
                <a:latin typeface="Times New Roman" panose="02020603050405020304" charset="0"/>
                <a:cs typeface="Times New Roman" panose="02020603050405020304" charset="0"/>
              </a:rPr>
              <a:t>This Dataset</a:t>
            </a:r>
            <a:endParaRPr sz="1600" b="1" i="0">
              <a:solidFill>
                <a:srgbClr val="1C2140"/>
              </a:solidFill>
              <a:latin typeface="Times New Roman" panose="02020603050405020304" charset="0"/>
              <a:cs typeface="Times New Roman" panose="02020603050405020304" charset="0"/>
            </a:endParaRPr>
          </a:p>
        </p:txBody>
      </p:sp>
      <p:sp>
        <p:nvSpPr>
          <p:cNvPr id="20" name="TextBox 19"/>
          <p:cNvSpPr txBox="1"/>
          <p:nvPr/>
        </p:nvSpPr>
        <p:spPr>
          <a:xfrm>
            <a:off x="3252470" y="4878070"/>
            <a:ext cx="2276475" cy="1111885"/>
          </a:xfrm>
          <a:prstGeom prst="rect">
            <a:avLst/>
          </a:prstGeom>
          <a:noFill/>
        </p:spPr>
        <p:txBody>
          <a:bodyPr wrap="square" lIns="0" tIns="0" rIns="0" bIns="0">
            <a:noAutofit/>
          </a:bodyPr>
          <a:lstStyle/>
          <a:p>
            <a:pPr>
              <a:lnSpc>
                <a:spcPct val="102000"/>
              </a:lnSpc>
              <a:spcAft>
                <a:spcPts val="100"/>
              </a:spcAft>
            </a:pPr>
            <a:r>
              <a:rPr sz="1000">
                <a:solidFill>
                  <a:srgbClr val="5B6178"/>
                </a:solidFill>
                <a:latin typeface="Times New Roman" panose="02020603050405020304" charset="0"/>
                <a:cs typeface="Times New Roman" panose="02020603050405020304" charset="0"/>
              </a:rPr>
              <a:t>•  Specifically designed for predictive maintenance</a:t>
            </a:r>
            <a:endParaRPr sz="1000">
              <a:solidFill>
                <a:srgbClr val="5B6178"/>
              </a:solidFill>
              <a:latin typeface="Times New Roman" panose="02020603050405020304" charset="0"/>
              <a:cs typeface="Times New Roman" panose="02020603050405020304" charset="0"/>
            </a:endParaRPr>
          </a:p>
          <a:p>
            <a:pPr>
              <a:lnSpc>
                <a:spcPct val="102000"/>
              </a:lnSpc>
              <a:spcAft>
                <a:spcPts val="100"/>
              </a:spcAft>
            </a:pPr>
            <a:r>
              <a:rPr sz="1000">
                <a:solidFill>
                  <a:srgbClr val="5B6178"/>
                </a:solidFill>
                <a:latin typeface="Times New Roman" panose="02020603050405020304" charset="0"/>
                <a:cs typeface="Times New Roman" panose="02020603050405020304" charset="0"/>
              </a:rPr>
              <a:t>•  Contains real industrial machine sensor data</a:t>
            </a:r>
            <a:endParaRPr sz="1000">
              <a:solidFill>
                <a:srgbClr val="5B6178"/>
              </a:solidFill>
              <a:latin typeface="Times New Roman" panose="02020603050405020304" charset="0"/>
              <a:cs typeface="Times New Roman" panose="02020603050405020304" charset="0"/>
            </a:endParaRPr>
          </a:p>
          <a:p>
            <a:pPr>
              <a:lnSpc>
                <a:spcPct val="102000"/>
              </a:lnSpc>
              <a:spcAft>
                <a:spcPts val="100"/>
              </a:spcAft>
            </a:pPr>
            <a:r>
              <a:rPr sz="1000">
                <a:solidFill>
                  <a:srgbClr val="5B6178"/>
                </a:solidFill>
                <a:latin typeface="Times New Roman" panose="02020603050405020304" charset="0"/>
                <a:cs typeface="Times New Roman" panose="02020603050405020304" charset="0"/>
              </a:rPr>
              <a:t>•  Includes multiple failure categories</a:t>
            </a:r>
            <a:endParaRPr sz="1000">
              <a:solidFill>
                <a:srgbClr val="5B6178"/>
              </a:solidFill>
              <a:latin typeface="Times New Roman" panose="02020603050405020304" charset="0"/>
              <a:cs typeface="Times New Roman" panose="02020603050405020304" charset="0"/>
            </a:endParaRPr>
          </a:p>
          <a:p>
            <a:pPr>
              <a:lnSpc>
                <a:spcPct val="102000"/>
              </a:lnSpc>
              <a:spcAft>
                <a:spcPts val="100"/>
              </a:spcAft>
            </a:pPr>
            <a:r>
              <a:rPr sz="1000">
                <a:solidFill>
                  <a:srgbClr val="5B6178"/>
                </a:solidFill>
                <a:latin typeface="Times New Roman" panose="02020603050405020304" charset="0"/>
                <a:cs typeface="Times New Roman" panose="02020603050405020304" charset="0"/>
              </a:rPr>
              <a:t>•  Ideal for building and evaluating ML models</a:t>
            </a:r>
            <a:endParaRPr sz="1000">
              <a:solidFill>
                <a:srgbClr val="5B6178"/>
              </a:solidFill>
              <a:latin typeface="Times New Roman" panose="02020603050405020304" charset="0"/>
              <a:cs typeface="Times New Roman" panose="02020603050405020304" charset="0"/>
            </a:endParaRPr>
          </a:p>
        </p:txBody>
      </p:sp>
      <p:pic>
        <p:nvPicPr>
          <p:cNvPr id="23" name="Image 0" descr="/home/claude/proj2/cropped/failure_dist.png"/>
          <p:cNvPicPr>
            <a:picLocks noChangeAspect="1"/>
          </p:cNvPicPr>
          <p:nvPr/>
        </p:nvPicPr>
        <p:blipFill>
          <a:blip r:embed="rId1"/>
          <a:srcRect l="16362" t="25646" r="45085" b="2719"/>
          <a:stretch>
            <a:fillRect/>
          </a:stretch>
        </p:blipFill>
        <p:spPr>
          <a:xfrm>
            <a:off x="7190105" y="3812540"/>
            <a:ext cx="3403600" cy="3045460"/>
          </a:xfrm>
          <a:prstGeom prst="rect">
            <a:avLst/>
          </a:prstGeom>
        </p:spPr>
      </p:pic>
      <p:pic>
        <p:nvPicPr>
          <p:cNvPr id="27" name="Picture 26" descr="Screenshot (74)"/>
          <p:cNvPicPr>
            <a:picLocks noChangeAspect="1"/>
          </p:cNvPicPr>
          <p:nvPr/>
        </p:nvPicPr>
        <p:blipFill>
          <a:blip r:embed="rId2"/>
          <a:srcRect l="16001" t="32568" r="40270" b="43003"/>
          <a:stretch>
            <a:fillRect/>
          </a:stretch>
        </p:blipFill>
        <p:spPr>
          <a:xfrm>
            <a:off x="6079490" y="2011680"/>
            <a:ext cx="5881370" cy="182689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8229600" cy="310896"/>
          </a:xfrm>
          <a:prstGeom prst="rect">
            <a:avLst/>
          </a:prstGeom>
          <a:noFill/>
        </p:spPr>
        <p:txBody>
          <a:bodyPr wrap="square" rtlCol="0" anchor="ctr"/>
          <a:lstStyle/>
          <a:p>
            <a:pPr marL="0" indent="0">
              <a:buNone/>
            </a:pPr>
            <a:r>
              <a:rPr lang="en-US" sz="1200" b="1" kern="0" spc="200" dirty="0">
                <a:solidFill>
                  <a:srgbClr val="1657E0"/>
                </a:solidFill>
                <a:latin typeface="Times New Roman" panose="02020603050405020304" charset="0"/>
                <a:ea typeface="Calibri" panose="020F0502020204030204" pitchFamily="34" charset="-122"/>
                <a:cs typeface="Times New Roman" panose="02020603050405020304" charset="0"/>
              </a:rPr>
              <a:t>WORKFLOW</a:t>
            </a:r>
            <a:endParaRPr lang="en-US" sz="1200" dirty="0">
              <a:latin typeface="Times New Roman" panose="02020603050405020304" charset="0"/>
              <a:cs typeface="Times New Roman" panose="02020603050405020304" charset="0"/>
            </a:endParaRPr>
          </a:p>
        </p:txBody>
      </p:sp>
      <p:sp>
        <p:nvSpPr>
          <p:cNvPr id="3" name="Text 1"/>
          <p:cNvSpPr/>
          <p:nvPr/>
        </p:nvSpPr>
        <p:spPr>
          <a:xfrm>
            <a:off x="530352" y="640080"/>
            <a:ext cx="11155680" cy="868680"/>
          </a:xfrm>
          <a:prstGeom prst="rect">
            <a:avLst/>
          </a:prstGeom>
          <a:noFill/>
        </p:spPr>
        <p:txBody>
          <a:bodyPr wrap="square" rtlCol="0" anchor="ctr"/>
          <a:lstStyle/>
          <a:p>
            <a:pPr marL="0" indent="0">
              <a:buNone/>
            </a:pPr>
            <a:r>
              <a:rPr lang="en-US" sz="3000" b="1" dirty="0">
                <a:solidFill>
                  <a:srgbClr val="0F1B33"/>
                </a:solidFill>
                <a:latin typeface="Times New Roman" panose="02020603050405020304" charset="0"/>
                <a:ea typeface="Segoe UI" panose="020B0502040204020203" pitchFamily="34" charset="-122"/>
                <a:cs typeface="Times New Roman" panose="02020603050405020304" charset="0"/>
              </a:rPr>
              <a:t>End-to-End Project Pipeline</a:t>
            </a:r>
            <a:endParaRPr lang="en-US" sz="3000" dirty="0">
              <a:latin typeface="Times New Roman" panose="02020603050405020304" charset="0"/>
              <a:cs typeface="Times New Roman" panose="02020603050405020304" charset="0"/>
            </a:endParaRPr>
          </a:p>
        </p:txBody>
      </p:sp>
      <p:sp>
        <p:nvSpPr>
          <p:cNvPr id="4" name="Text 2"/>
          <p:cNvSpPr/>
          <p:nvPr/>
        </p:nvSpPr>
        <p:spPr>
          <a:xfrm>
            <a:off x="548640" y="1417320"/>
            <a:ext cx="11064240" cy="457200"/>
          </a:xfrm>
          <a:prstGeom prst="rect">
            <a:avLst/>
          </a:prstGeom>
          <a:noFill/>
        </p:spPr>
        <p:txBody>
          <a:bodyPr wrap="square" rtlCol="0" anchor="ctr"/>
          <a:lstStyle/>
          <a:p>
            <a:pPr marL="0" indent="0">
              <a:buNone/>
            </a:pPr>
            <a:r>
              <a:rPr lang="en-US" sz="1600" dirty="0">
                <a:solidFill>
                  <a:srgbClr val="56607A"/>
                </a:solidFill>
                <a:latin typeface="Calibri" panose="020F0502020204030204" pitchFamily="34" charset="0"/>
                <a:ea typeface="Calibri" panose="020F0502020204030204" pitchFamily="34" charset="-122"/>
                <a:cs typeface="Calibri" panose="020F0502020204030204" pitchFamily="34" charset="0"/>
              </a:rPr>
              <a:t>From raw sensor data to a live, self-healing recommendation — the pipeline is fully automated and repeatable.</a:t>
            </a:r>
            <a:endParaRPr lang="en-US" sz="1600" dirty="0">
              <a:latin typeface="Calibri" panose="020F0502020204030204" pitchFamily="34" charset="0"/>
              <a:cs typeface="Calibri" panose="020F0502020204030204" pitchFamily="34" charset="0"/>
            </a:endParaRPr>
          </a:p>
        </p:txBody>
      </p:sp>
      <p:sp>
        <p:nvSpPr>
          <p:cNvPr id="5" name="Shape 3"/>
          <p:cNvSpPr/>
          <p:nvPr/>
        </p:nvSpPr>
        <p:spPr>
          <a:xfrm>
            <a:off x="1013460" y="2834640"/>
            <a:ext cx="914400" cy="914400"/>
          </a:xfrm>
          <a:prstGeom prst="ellipse">
            <a:avLst/>
          </a:prstGeom>
          <a:solidFill>
            <a:srgbClr val="1657E0"/>
          </a:solidFill>
        </p:spPr>
      </p:sp>
      <p:sp>
        <p:nvSpPr>
          <p:cNvPr id="6" name="Text 4"/>
          <p:cNvSpPr/>
          <p:nvPr/>
        </p:nvSpPr>
        <p:spPr>
          <a:xfrm>
            <a:off x="1013460" y="2834640"/>
            <a:ext cx="914400" cy="914400"/>
          </a:xfrm>
          <a:prstGeom prst="rect">
            <a:avLst/>
          </a:prstGeom>
          <a:noFill/>
        </p:spPr>
        <p:txBody>
          <a:bodyPr wrap="square" rtlCol="0" anchor="ctr"/>
          <a:lstStyle/>
          <a:p>
            <a:pPr marL="0" indent="0" algn="ctr">
              <a:buNone/>
            </a:pPr>
            <a:r>
              <a:rPr lang="en-US" sz="20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2000" dirty="0"/>
          </a:p>
        </p:txBody>
      </p:sp>
      <p:sp>
        <p:nvSpPr>
          <p:cNvPr id="7" name="Text 5"/>
          <p:cNvSpPr/>
          <p:nvPr/>
        </p:nvSpPr>
        <p:spPr>
          <a:xfrm>
            <a:off x="594360" y="3886200"/>
            <a:ext cx="1752600" cy="594360"/>
          </a:xfrm>
          <a:prstGeom prst="rect">
            <a:avLst/>
          </a:prstGeom>
          <a:noFill/>
        </p:spPr>
        <p:txBody>
          <a:bodyPr wrap="square" rtlCol="0" anchor="ctr"/>
          <a:lstStyle/>
          <a:p>
            <a:pPr marL="0" indent="0" algn="ctr">
              <a:lnSpc>
                <a:spcPts val="1300"/>
              </a:lnSpc>
              <a:buNone/>
            </a:pPr>
            <a:r>
              <a:rPr lang="en-US" sz="1100" b="1" dirty="0">
                <a:solidFill>
                  <a:srgbClr val="0F1B33"/>
                </a:solidFill>
                <a:latin typeface="Times New Roman" panose="02020603050405020304" charset="0"/>
                <a:ea typeface="Segoe UI" panose="020B0502040204020203" pitchFamily="34" charset="-122"/>
                <a:cs typeface="Times New Roman" panose="02020603050405020304" charset="0"/>
              </a:rPr>
              <a:t>Data</a:t>
            </a:r>
            <a:endParaRPr lang="en-US" sz="1100" dirty="0">
              <a:latin typeface="Times New Roman" panose="02020603050405020304" charset="0"/>
              <a:cs typeface="Times New Roman" panose="02020603050405020304" charset="0"/>
            </a:endParaRPr>
          </a:p>
          <a:p>
            <a:pPr marL="0" indent="0" algn="ctr">
              <a:lnSpc>
                <a:spcPts val="1300"/>
              </a:lnSpc>
              <a:buNone/>
            </a:pPr>
            <a:r>
              <a:rPr lang="en-US" sz="1100" b="1" dirty="0">
                <a:solidFill>
                  <a:srgbClr val="0F1B33"/>
                </a:solidFill>
                <a:latin typeface="Times New Roman" panose="02020603050405020304" charset="0"/>
                <a:ea typeface="Segoe UI" panose="020B0502040204020203" pitchFamily="34" charset="-122"/>
                <a:cs typeface="Times New Roman" panose="02020603050405020304" charset="0"/>
              </a:rPr>
              <a:t>Collection</a:t>
            </a:r>
            <a:endParaRPr lang="en-US" sz="1100" dirty="0">
              <a:latin typeface="Times New Roman" panose="02020603050405020304" charset="0"/>
              <a:cs typeface="Times New Roman" panose="02020603050405020304" charset="0"/>
            </a:endParaRPr>
          </a:p>
        </p:txBody>
      </p:sp>
      <p:sp>
        <p:nvSpPr>
          <p:cNvPr id="8" name="Shape 6"/>
          <p:cNvSpPr/>
          <p:nvPr/>
        </p:nvSpPr>
        <p:spPr>
          <a:xfrm>
            <a:off x="2319528" y="3191256"/>
            <a:ext cx="118872" cy="201168"/>
          </a:xfrm>
          <a:prstGeom prst="chevron">
            <a:avLst/>
          </a:prstGeom>
          <a:solidFill>
            <a:srgbClr val="2B6CF0"/>
          </a:solidFill>
        </p:spPr>
      </p:sp>
      <p:sp>
        <p:nvSpPr>
          <p:cNvPr id="9" name="Shape 7"/>
          <p:cNvSpPr/>
          <p:nvPr/>
        </p:nvSpPr>
        <p:spPr>
          <a:xfrm>
            <a:off x="2857500" y="2834640"/>
            <a:ext cx="914400" cy="914400"/>
          </a:xfrm>
          <a:prstGeom prst="ellipse">
            <a:avLst/>
          </a:prstGeom>
          <a:solidFill>
            <a:srgbClr val="1657E0"/>
          </a:solidFill>
        </p:spPr>
      </p:sp>
      <p:sp>
        <p:nvSpPr>
          <p:cNvPr id="10" name="Text 8"/>
          <p:cNvSpPr/>
          <p:nvPr/>
        </p:nvSpPr>
        <p:spPr>
          <a:xfrm>
            <a:off x="2857500" y="2834640"/>
            <a:ext cx="914400" cy="914400"/>
          </a:xfrm>
          <a:prstGeom prst="rect">
            <a:avLst/>
          </a:prstGeom>
          <a:noFill/>
        </p:spPr>
        <p:txBody>
          <a:bodyPr wrap="square" rtlCol="0" anchor="ctr"/>
          <a:lstStyle/>
          <a:p>
            <a:pPr marL="0" indent="0" algn="ctr">
              <a:buNone/>
            </a:pPr>
            <a:r>
              <a:rPr lang="en-US" sz="20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2000" dirty="0"/>
          </a:p>
        </p:txBody>
      </p:sp>
      <p:sp>
        <p:nvSpPr>
          <p:cNvPr id="11" name="Text 9"/>
          <p:cNvSpPr/>
          <p:nvPr/>
        </p:nvSpPr>
        <p:spPr>
          <a:xfrm>
            <a:off x="2438400" y="3886200"/>
            <a:ext cx="1752600" cy="594360"/>
          </a:xfrm>
          <a:prstGeom prst="rect">
            <a:avLst/>
          </a:prstGeom>
          <a:noFill/>
        </p:spPr>
        <p:txBody>
          <a:bodyPr wrap="square" rtlCol="0" anchor="ctr"/>
          <a:lstStyle/>
          <a:p>
            <a:pPr marL="0" indent="0" algn="ctr">
              <a:lnSpc>
                <a:spcPts val="1300"/>
              </a:lnSpc>
              <a:buNone/>
            </a:pPr>
            <a:r>
              <a:rPr lang="en-US" sz="1100" b="1" dirty="0">
                <a:solidFill>
                  <a:srgbClr val="0F1B33"/>
                </a:solidFill>
                <a:latin typeface="Times New Roman" panose="02020603050405020304" charset="0"/>
                <a:ea typeface="Segoe UI" panose="020B0502040204020203" pitchFamily="34" charset="-122"/>
                <a:cs typeface="Times New Roman" panose="02020603050405020304" charset="0"/>
              </a:rPr>
              <a:t>Data</a:t>
            </a:r>
            <a:endParaRPr lang="en-US" sz="1100" dirty="0">
              <a:latin typeface="Times New Roman" panose="02020603050405020304" charset="0"/>
              <a:cs typeface="Times New Roman" panose="02020603050405020304" charset="0"/>
            </a:endParaRPr>
          </a:p>
          <a:p>
            <a:pPr marL="0" indent="0" algn="ctr">
              <a:lnSpc>
                <a:spcPts val="1300"/>
              </a:lnSpc>
              <a:buNone/>
            </a:pPr>
            <a:r>
              <a:rPr lang="en-US" sz="1100" b="1" dirty="0">
                <a:solidFill>
                  <a:srgbClr val="0F1B33"/>
                </a:solidFill>
                <a:latin typeface="Times New Roman" panose="02020603050405020304" charset="0"/>
                <a:ea typeface="Segoe UI" panose="020B0502040204020203" pitchFamily="34" charset="-122"/>
                <a:cs typeface="Times New Roman" panose="02020603050405020304" charset="0"/>
              </a:rPr>
              <a:t>Preprocessing</a:t>
            </a:r>
            <a:endParaRPr lang="en-US" sz="1100" dirty="0">
              <a:latin typeface="Times New Roman" panose="02020603050405020304" charset="0"/>
              <a:cs typeface="Times New Roman" panose="02020603050405020304" charset="0"/>
            </a:endParaRPr>
          </a:p>
        </p:txBody>
      </p:sp>
      <p:sp>
        <p:nvSpPr>
          <p:cNvPr id="12" name="Shape 10"/>
          <p:cNvSpPr/>
          <p:nvPr/>
        </p:nvSpPr>
        <p:spPr>
          <a:xfrm>
            <a:off x="4163568" y="3191256"/>
            <a:ext cx="118872" cy="201168"/>
          </a:xfrm>
          <a:prstGeom prst="chevron">
            <a:avLst/>
          </a:prstGeom>
          <a:solidFill>
            <a:srgbClr val="2B6CF0"/>
          </a:solidFill>
        </p:spPr>
      </p:sp>
      <p:sp>
        <p:nvSpPr>
          <p:cNvPr id="13" name="Shape 11"/>
          <p:cNvSpPr/>
          <p:nvPr/>
        </p:nvSpPr>
        <p:spPr>
          <a:xfrm>
            <a:off x="4701540" y="2834640"/>
            <a:ext cx="914400" cy="914400"/>
          </a:xfrm>
          <a:prstGeom prst="ellipse">
            <a:avLst/>
          </a:prstGeom>
          <a:solidFill>
            <a:srgbClr val="1657E0"/>
          </a:solidFill>
        </p:spPr>
      </p:sp>
      <p:sp>
        <p:nvSpPr>
          <p:cNvPr id="14" name="Text 12"/>
          <p:cNvSpPr/>
          <p:nvPr/>
        </p:nvSpPr>
        <p:spPr>
          <a:xfrm>
            <a:off x="4701540" y="2834640"/>
            <a:ext cx="914400" cy="914400"/>
          </a:xfrm>
          <a:prstGeom prst="rect">
            <a:avLst/>
          </a:prstGeom>
          <a:noFill/>
        </p:spPr>
        <p:txBody>
          <a:bodyPr wrap="square" rtlCol="0" anchor="ctr"/>
          <a:lstStyle/>
          <a:p>
            <a:pPr marL="0" indent="0" algn="ctr">
              <a:buNone/>
            </a:pPr>
            <a:r>
              <a:rPr lang="en-US" sz="20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2000" dirty="0"/>
          </a:p>
        </p:txBody>
      </p:sp>
      <p:sp>
        <p:nvSpPr>
          <p:cNvPr id="15" name="Text 13"/>
          <p:cNvSpPr/>
          <p:nvPr/>
        </p:nvSpPr>
        <p:spPr>
          <a:xfrm>
            <a:off x="4282440" y="3886200"/>
            <a:ext cx="1752600" cy="594360"/>
          </a:xfrm>
          <a:prstGeom prst="rect">
            <a:avLst/>
          </a:prstGeom>
          <a:noFill/>
        </p:spPr>
        <p:txBody>
          <a:bodyPr wrap="square" rtlCol="0" anchor="ctr"/>
          <a:lstStyle/>
          <a:p>
            <a:pPr marL="0" indent="0" algn="ctr">
              <a:lnSpc>
                <a:spcPts val="1300"/>
              </a:lnSpc>
              <a:buNone/>
            </a:pPr>
            <a:r>
              <a:rPr lang="en-US" sz="1100" b="1" dirty="0">
                <a:solidFill>
                  <a:srgbClr val="0F1B33"/>
                </a:solidFill>
                <a:latin typeface="Segoe UI" panose="020B0502040204020203" pitchFamily="34" charset="0"/>
                <a:ea typeface="Segoe UI" panose="020B0502040204020203" pitchFamily="34" charset="-122"/>
                <a:cs typeface="Segoe UI" panose="020B0502040204020203" pitchFamily="34" charset="-120"/>
              </a:rPr>
              <a:t>Exploratory</a:t>
            </a:r>
            <a:endParaRPr lang="en-US" sz="1100" dirty="0"/>
          </a:p>
          <a:p>
            <a:pPr marL="0" indent="0" algn="ctr">
              <a:lnSpc>
                <a:spcPts val="1300"/>
              </a:lnSpc>
              <a:buNone/>
            </a:pPr>
            <a:r>
              <a:rPr lang="en-US" sz="1100" b="1" dirty="0">
                <a:solidFill>
                  <a:srgbClr val="0F1B33"/>
                </a:solidFill>
                <a:latin typeface="Segoe UI" panose="020B0502040204020203" pitchFamily="34" charset="0"/>
                <a:ea typeface="Segoe UI" panose="020B0502040204020203" pitchFamily="34" charset="-122"/>
                <a:cs typeface="Segoe UI" panose="020B0502040204020203" pitchFamily="34" charset="-120"/>
              </a:rPr>
              <a:t>Analysis</a:t>
            </a:r>
            <a:endParaRPr lang="en-US" sz="1100" dirty="0"/>
          </a:p>
        </p:txBody>
      </p:sp>
      <p:sp>
        <p:nvSpPr>
          <p:cNvPr id="16" name="Shape 14"/>
          <p:cNvSpPr/>
          <p:nvPr/>
        </p:nvSpPr>
        <p:spPr>
          <a:xfrm>
            <a:off x="6007608" y="3191256"/>
            <a:ext cx="118872" cy="201168"/>
          </a:xfrm>
          <a:prstGeom prst="chevron">
            <a:avLst/>
          </a:prstGeom>
          <a:solidFill>
            <a:srgbClr val="2B6CF0"/>
          </a:solidFill>
        </p:spPr>
      </p:sp>
      <p:sp>
        <p:nvSpPr>
          <p:cNvPr id="17" name="Shape 15"/>
          <p:cNvSpPr/>
          <p:nvPr/>
        </p:nvSpPr>
        <p:spPr>
          <a:xfrm>
            <a:off x="6545580" y="2834640"/>
            <a:ext cx="914400" cy="914400"/>
          </a:xfrm>
          <a:prstGeom prst="ellipse">
            <a:avLst/>
          </a:prstGeom>
          <a:solidFill>
            <a:srgbClr val="1657E0"/>
          </a:solidFill>
        </p:spPr>
      </p:sp>
      <p:sp>
        <p:nvSpPr>
          <p:cNvPr id="18" name="Text 16"/>
          <p:cNvSpPr/>
          <p:nvPr/>
        </p:nvSpPr>
        <p:spPr>
          <a:xfrm>
            <a:off x="6545580" y="2834640"/>
            <a:ext cx="914400" cy="914400"/>
          </a:xfrm>
          <a:prstGeom prst="rect">
            <a:avLst/>
          </a:prstGeom>
          <a:noFill/>
        </p:spPr>
        <p:txBody>
          <a:bodyPr wrap="square" rtlCol="0" anchor="ctr"/>
          <a:lstStyle/>
          <a:p>
            <a:pPr marL="0" indent="0" algn="ctr">
              <a:buNone/>
            </a:pPr>
            <a:r>
              <a:rPr lang="en-US" sz="20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2000" dirty="0"/>
          </a:p>
        </p:txBody>
      </p:sp>
      <p:sp>
        <p:nvSpPr>
          <p:cNvPr id="19" name="Text 17"/>
          <p:cNvSpPr/>
          <p:nvPr/>
        </p:nvSpPr>
        <p:spPr>
          <a:xfrm>
            <a:off x="6126480" y="3886200"/>
            <a:ext cx="1752600" cy="594360"/>
          </a:xfrm>
          <a:prstGeom prst="rect">
            <a:avLst/>
          </a:prstGeom>
          <a:noFill/>
        </p:spPr>
        <p:txBody>
          <a:bodyPr wrap="square" rtlCol="0" anchor="ctr"/>
          <a:lstStyle/>
          <a:p>
            <a:pPr marL="0" indent="0" algn="ctr">
              <a:lnSpc>
                <a:spcPts val="1300"/>
              </a:lnSpc>
              <a:buNone/>
            </a:pPr>
            <a:r>
              <a:rPr lang="en-US" sz="1100" b="1" dirty="0">
                <a:solidFill>
                  <a:srgbClr val="0F1B33"/>
                </a:solidFill>
                <a:latin typeface="Times New Roman" panose="02020603050405020304" charset="0"/>
                <a:ea typeface="Segoe UI" panose="020B0502040204020203" pitchFamily="34" charset="-122"/>
                <a:cs typeface="Times New Roman" panose="02020603050405020304" charset="0"/>
              </a:rPr>
              <a:t>Model Training</a:t>
            </a:r>
            <a:endParaRPr lang="en-US" sz="1100" dirty="0">
              <a:latin typeface="Times New Roman" panose="02020603050405020304" charset="0"/>
              <a:cs typeface="Times New Roman" panose="02020603050405020304" charset="0"/>
            </a:endParaRPr>
          </a:p>
          <a:p>
            <a:pPr marL="0" indent="0" algn="ctr">
              <a:lnSpc>
                <a:spcPts val="1300"/>
              </a:lnSpc>
              <a:buNone/>
            </a:pPr>
            <a:r>
              <a:rPr lang="en-US" sz="1100" b="1" dirty="0">
                <a:solidFill>
                  <a:srgbClr val="0F1B33"/>
                </a:solidFill>
                <a:latin typeface="Times New Roman" panose="02020603050405020304" charset="0"/>
                <a:ea typeface="Segoe UI" panose="020B0502040204020203" pitchFamily="34" charset="-122"/>
                <a:cs typeface="Times New Roman" panose="02020603050405020304" charset="0"/>
              </a:rPr>
              <a:t>&amp; Evaluation</a:t>
            </a:r>
            <a:endParaRPr lang="en-US" sz="1100" dirty="0">
              <a:latin typeface="Times New Roman" panose="02020603050405020304" charset="0"/>
              <a:cs typeface="Times New Roman" panose="02020603050405020304" charset="0"/>
            </a:endParaRPr>
          </a:p>
        </p:txBody>
      </p:sp>
      <p:sp>
        <p:nvSpPr>
          <p:cNvPr id="20" name="Shape 18"/>
          <p:cNvSpPr/>
          <p:nvPr/>
        </p:nvSpPr>
        <p:spPr>
          <a:xfrm>
            <a:off x="7851648" y="3191256"/>
            <a:ext cx="118872" cy="201168"/>
          </a:xfrm>
          <a:prstGeom prst="chevron">
            <a:avLst/>
          </a:prstGeom>
          <a:solidFill>
            <a:srgbClr val="2B6CF0"/>
          </a:solidFill>
        </p:spPr>
      </p:sp>
      <p:sp>
        <p:nvSpPr>
          <p:cNvPr id="21" name="Shape 19"/>
          <p:cNvSpPr/>
          <p:nvPr/>
        </p:nvSpPr>
        <p:spPr>
          <a:xfrm>
            <a:off x="8389620" y="2834640"/>
            <a:ext cx="914400" cy="914400"/>
          </a:xfrm>
          <a:prstGeom prst="ellipse">
            <a:avLst/>
          </a:prstGeom>
          <a:solidFill>
            <a:srgbClr val="1657E0"/>
          </a:solidFill>
        </p:spPr>
      </p:sp>
      <p:sp>
        <p:nvSpPr>
          <p:cNvPr id="22" name="Text 20"/>
          <p:cNvSpPr/>
          <p:nvPr/>
        </p:nvSpPr>
        <p:spPr>
          <a:xfrm>
            <a:off x="8389620" y="2834640"/>
            <a:ext cx="914400" cy="914400"/>
          </a:xfrm>
          <a:prstGeom prst="rect">
            <a:avLst/>
          </a:prstGeom>
          <a:noFill/>
        </p:spPr>
        <p:txBody>
          <a:bodyPr wrap="square" rtlCol="0" anchor="ctr"/>
          <a:lstStyle/>
          <a:p>
            <a:pPr marL="0" indent="0" algn="ctr">
              <a:buNone/>
            </a:pPr>
            <a:r>
              <a:rPr lang="en-US" sz="20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2000" dirty="0"/>
          </a:p>
        </p:txBody>
      </p:sp>
      <p:sp>
        <p:nvSpPr>
          <p:cNvPr id="23" name="Text 21"/>
          <p:cNvSpPr/>
          <p:nvPr/>
        </p:nvSpPr>
        <p:spPr>
          <a:xfrm>
            <a:off x="7970520" y="3886200"/>
            <a:ext cx="1752600" cy="594360"/>
          </a:xfrm>
          <a:prstGeom prst="rect">
            <a:avLst/>
          </a:prstGeom>
          <a:noFill/>
        </p:spPr>
        <p:txBody>
          <a:bodyPr wrap="square" rtlCol="0" anchor="ctr"/>
          <a:lstStyle/>
          <a:p>
            <a:pPr marL="0" indent="0" algn="ctr">
              <a:lnSpc>
                <a:spcPts val="1300"/>
              </a:lnSpc>
              <a:buNone/>
            </a:pPr>
            <a:r>
              <a:rPr lang="en-US" sz="1100" b="1" dirty="0">
                <a:solidFill>
                  <a:srgbClr val="0F1B33"/>
                </a:solidFill>
                <a:latin typeface="Times New Roman" panose="02020603050405020304" charset="0"/>
                <a:ea typeface="Segoe UI" panose="020B0502040204020203" pitchFamily="34" charset="-122"/>
                <a:cs typeface="Times New Roman" panose="02020603050405020304" charset="0"/>
              </a:rPr>
              <a:t>Health Scoring &amp;</a:t>
            </a:r>
            <a:endParaRPr lang="en-US" sz="1100" dirty="0">
              <a:latin typeface="Times New Roman" panose="02020603050405020304" charset="0"/>
              <a:cs typeface="Times New Roman" panose="02020603050405020304" charset="0"/>
            </a:endParaRPr>
          </a:p>
          <a:p>
            <a:pPr marL="0" indent="0" algn="ctr">
              <a:lnSpc>
                <a:spcPts val="1300"/>
              </a:lnSpc>
              <a:buNone/>
            </a:pPr>
            <a:r>
              <a:rPr lang="en-US" sz="1100" b="1" dirty="0">
                <a:solidFill>
                  <a:srgbClr val="0F1B33"/>
                </a:solidFill>
                <a:latin typeface="Times New Roman" panose="02020603050405020304" charset="0"/>
                <a:ea typeface="Segoe UI" panose="020B0502040204020203" pitchFamily="34" charset="-122"/>
                <a:cs typeface="Times New Roman" panose="02020603050405020304" charset="0"/>
              </a:rPr>
              <a:t>Self-Healing</a:t>
            </a:r>
            <a:endParaRPr lang="en-US" sz="1100" dirty="0">
              <a:latin typeface="Times New Roman" panose="02020603050405020304" charset="0"/>
              <a:cs typeface="Times New Roman" panose="02020603050405020304" charset="0"/>
            </a:endParaRPr>
          </a:p>
        </p:txBody>
      </p:sp>
      <p:sp>
        <p:nvSpPr>
          <p:cNvPr id="24" name="Shape 22"/>
          <p:cNvSpPr/>
          <p:nvPr/>
        </p:nvSpPr>
        <p:spPr>
          <a:xfrm>
            <a:off x="9695688" y="3191256"/>
            <a:ext cx="118872" cy="201168"/>
          </a:xfrm>
          <a:prstGeom prst="chevron">
            <a:avLst/>
          </a:prstGeom>
          <a:solidFill>
            <a:srgbClr val="2B6CF0"/>
          </a:solidFill>
        </p:spPr>
      </p:sp>
      <p:sp>
        <p:nvSpPr>
          <p:cNvPr id="25" name="Shape 23"/>
          <p:cNvSpPr/>
          <p:nvPr/>
        </p:nvSpPr>
        <p:spPr>
          <a:xfrm>
            <a:off x="10233660" y="2834640"/>
            <a:ext cx="914400" cy="914400"/>
          </a:xfrm>
          <a:prstGeom prst="ellipse">
            <a:avLst/>
          </a:prstGeom>
          <a:solidFill>
            <a:srgbClr val="17A566"/>
          </a:solidFill>
        </p:spPr>
      </p:sp>
      <p:sp>
        <p:nvSpPr>
          <p:cNvPr id="26" name="Text 24"/>
          <p:cNvSpPr/>
          <p:nvPr/>
        </p:nvSpPr>
        <p:spPr>
          <a:xfrm>
            <a:off x="10233660" y="2834640"/>
            <a:ext cx="914400" cy="914400"/>
          </a:xfrm>
          <a:prstGeom prst="rect">
            <a:avLst/>
          </a:prstGeom>
          <a:noFill/>
        </p:spPr>
        <p:txBody>
          <a:bodyPr wrap="square" rtlCol="0" anchor="ctr"/>
          <a:lstStyle/>
          <a:p>
            <a:pPr marL="0" indent="0" algn="ctr">
              <a:buNone/>
            </a:pPr>
            <a:r>
              <a:rPr lang="en-US" sz="2000" b="1" dirty="0">
                <a:solidFill>
                  <a:srgbClr val="FFFFFF"/>
                </a:solidFill>
                <a:latin typeface="Calibri" panose="020F0502020204030204" pitchFamily="34" charset="0"/>
                <a:ea typeface="Calibri" panose="020F0502020204030204" pitchFamily="34" charset="-122"/>
                <a:cs typeface="Calibri" panose="020F0502020204030204" pitchFamily="34" charset="-120"/>
              </a:rPr>
              <a:t>6</a:t>
            </a:r>
            <a:endParaRPr lang="en-US" sz="2000" dirty="0"/>
          </a:p>
        </p:txBody>
      </p:sp>
      <p:sp>
        <p:nvSpPr>
          <p:cNvPr id="27" name="Text 25"/>
          <p:cNvSpPr/>
          <p:nvPr/>
        </p:nvSpPr>
        <p:spPr>
          <a:xfrm>
            <a:off x="9814560" y="3886200"/>
            <a:ext cx="1752600" cy="594360"/>
          </a:xfrm>
          <a:prstGeom prst="rect">
            <a:avLst/>
          </a:prstGeom>
          <a:noFill/>
        </p:spPr>
        <p:txBody>
          <a:bodyPr wrap="square" rtlCol="0" anchor="ctr"/>
          <a:lstStyle/>
          <a:p>
            <a:pPr marL="0" indent="0" algn="ctr">
              <a:lnSpc>
                <a:spcPts val="1300"/>
              </a:lnSpc>
              <a:buNone/>
            </a:pPr>
            <a:r>
              <a:rPr lang="en-US" sz="1100" b="1" dirty="0">
                <a:solidFill>
                  <a:srgbClr val="0F1B33"/>
                </a:solidFill>
                <a:latin typeface="Times New Roman" panose="02020603050405020304" charset="0"/>
                <a:ea typeface="Segoe UI" panose="020B0502040204020203" pitchFamily="34" charset="-122"/>
                <a:cs typeface="Times New Roman" panose="02020603050405020304" charset="0"/>
              </a:rPr>
              <a:t>Dashboard</a:t>
            </a:r>
            <a:endParaRPr lang="en-US" sz="1100" dirty="0">
              <a:latin typeface="Times New Roman" panose="02020603050405020304" charset="0"/>
              <a:cs typeface="Times New Roman" panose="02020603050405020304" charset="0"/>
            </a:endParaRPr>
          </a:p>
          <a:p>
            <a:pPr marL="0" indent="0" algn="ctr">
              <a:lnSpc>
                <a:spcPts val="1300"/>
              </a:lnSpc>
              <a:buNone/>
            </a:pPr>
            <a:r>
              <a:rPr lang="en-US" sz="1100" b="1" dirty="0">
                <a:solidFill>
                  <a:srgbClr val="0F1B33"/>
                </a:solidFill>
                <a:latin typeface="Times New Roman" panose="02020603050405020304" charset="0"/>
                <a:ea typeface="Segoe UI" panose="020B0502040204020203" pitchFamily="34" charset="-122"/>
                <a:cs typeface="Times New Roman" panose="02020603050405020304" charset="0"/>
              </a:rPr>
              <a:t>Deployment</a:t>
            </a:r>
            <a:endParaRPr lang="en-US" sz="1100" dirty="0">
              <a:latin typeface="Times New Roman" panose="02020603050405020304" charset="0"/>
              <a:cs typeface="Times New Roman" panose="02020603050405020304" charset="0"/>
            </a:endParaRPr>
          </a:p>
        </p:txBody>
      </p:sp>
      <p:sp>
        <p:nvSpPr>
          <p:cNvPr id="28" name="Shape 26"/>
          <p:cNvSpPr/>
          <p:nvPr/>
        </p:nvSpPr>
        <p:spPr>
          <a:xfrm>
            <a:off x="548640" y="5074920"/>
            <a:ext cx="11064240" cy="1005840"/>
          </a:xfrm>
          <a:prstGeom prst="roundRect">
            <a:avLst>
              <a:gd name="adj" fmla="val 8182"/>
            </a:avLst>
          </a:prstGeom>
          <a:solidFill>
            <a:srgbClr val="E9F0FE"/>
          </a:solidFill>
          <a:effectLst>
            <a:outerShdw blurRad="101600" dist="25400" dir="5400000" algn="bl" rotWithShape="0">
              <a:srgbClr val="3A4A7A">
                <a:alpha val="16000"/>
              </a:srgbClr>
            </a:outerShdw>
          </a:effectLst>
        </p:spPr>
      </p:sp>
      <p:sp>
        <p:nvSpPr>
          <p:cNvPr id="29" name="Text 27"/>
          <p:cNvSpPr/>
          <p:nvPr/>
        </p:nvSpPr>
        <p:spPr>
          <a:xfrm>
            <a:off x="822960" y="5193792"/>
            <a:ext cx="10515600" cy="777240"/>
          </a:xfrm>
          <a:prstGeom prst="rect">
            <a:avLst/>
          </a:prstGeom>
          <a:noFill/>
        </p:spPr>
        <p:txBody>
          <a:bodyPr wrap="square" rtlCol="0" anchor="ctr"/>
          <a:lstStyle/>
          <a:p>
            <a:pPr marL="0" indent="0">
              <a:lnSpc>
                <a:spcPts val="1600"/>
              </a:lnSpc>
              <a:buNone/>
            </a:pPr>
            <a:r>
              <a:rPr lang="en-US" sz="1400" i="1" dirty="0">
                <a:solidFill>
                  <a:srgbClr val="0F1B33"/>
                </a:solidFill>
                <a:latin typeface="Times New Roman" panose="02020603050405020304" charset="0"/>
                <a:ea typeface="Calibri" panose="020F0502020204030204" pitchFamily="34" charset="-122"/>
                <a:cs typeface="Times New Roman" panose="02020603050405020304" charset="0"/>
              </a:rPr>
              <a:t>Continuous feedback loop: operator confirmations on predicted failures flow back into the training data — improving model accuracy over time.</a:t>
            </a:r>
            <a:endParaRPr lang="en-US" sz="1400" dirty="0">
              <a:latin typeface="Times New Roman" panose="02020603050405020304" charset="0"/>
              <a:cs typeface="Times New Roman" panose="020206030504050203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8229600" cy="310896"/>
          </a:xfrm>
          <a:prstGeom prst="rect">
            <a:avLst/>
          </a:prstGeom>
          <a:noFill/>
        </p:spPr>
        <p:txBody>
          <a:bodyPr wrap="square" rtlCol="0" anchor="ctr"/>
          <a:lstStyle/>
          <a:p>
            <a:pPr marL="0" indent="0">
              <a:buNone/>
            </a:pPr>
            <a:r>
              <a:rPr lang="en-US" sz="1200" b="1" kern="0" spc="200" dirty="0">
                <a:solidFill>
                  <a:srgbClr val="1657E0"/>
                </a:solidFill>
                <a:latin typeface="Times New Roman" panose="02020603050405020304" charset="0"/>
                <a:ea typeface="Calibri" panose="020F0502020204030204" pitchFamily="34" charset="-122"/>
                <a:cs typeface="Times New Roman" panose="02020603050405020304" charset="0"/>
              </a:rPr>
              <a:t>DATA PREPROCESSING</a:t>
            </a:r>
            <a:endParaRPr lang="en-US" sz="1200" dirty="0">
              <a:latin typeface="Times New Roman" panose="02020603050405020304" charset="0"/>
              <a:cs typeface="Times New Roman" panose="02020603050405020304" charset="0"/>
            </a:endParaRPr>
          </a:p>
        </p:txBody>
      </p:sp>
      <p:sp>
        <p:nvSpPr>
          <p:cNvPr id="3" name="Text 1"/>
          <p:cNvSpPr/>
          <p:nvPr/>
        </p:nvSpPr>
        <p:spPr>
          <a:xfrm>
            <a:off x="530352" y="640080"/>
            <a:ext cx="11155680" cy="868680"/>
          </a:xfrm>
          <a:prstGeom prst="rect">
            <a:avLst/>
          </a:prstGeom>
          <a:noFill/>
        </p:spPr>
        <p:txBody>
          <a:bodyPr wrap="square" rtlCol="0" anchor="ctr"/>
          <a:lstStyle/>
          <a:p>
            <a:pPr marL="0" indent="0">
              <a:buNone/>
            </a:pPr>
            <a:r>
              <a:rPr lang="en-US" sz="3000" b="1" dirty="0">
                <a:solidFill>
                  <a:srgbClr val="0F1B33"/>
                </a:solidFill>
                <a:latin typeface="Times New Roman" panose="02020603050405020304" charset="0"/>
                <a:ea typeface="Segoe UI" panose="020B0502040204020203" pitchFamily="34" charset="-122"/>
                <a:cs typeface="Times New Roman" panose="02020603050405020304" charset="0"/>
              </a:rPr>
              <a:t>Preparing Data for Reliable Model Training</a:t>
            </a:r>
            <a:endParaRPr lang="en-US" sz="3000" dirty="0">
              <a:latin typeface="Times New Roman" panose="02020603050405020304" charset="0"/>
              <a:cs typeface="Times New Roman" panose="02020603050405020304" charset="0"/>
            </a:endParaRPr>
          </a:p>
        </p:txBody>
      </p:sp>
      <p:sp>
        <p:nvSpPr>
          <p:cNvPr id="4" name="Text 2"/>
          <p:cNvSpPr/>
          <p:nvPr/>
        </p:nvSpPr>
        <p:spPr>
          <a:xfrm>
            <a:off x="548640" y="1417320"/>
            <a:ext cx="11064240" cy="457200"/>
          </a:xfrm>
          <a:prstGeom prst="rect">
            <a:avLst/>
          </a:prstGeom>
          <a:noFill/>
        </p:spPr>
        <p:txBody>
          <a:bodyPr wrap="square" rtlCol="0" anchor="ctr"/>
          <a:lstStyle/>
          <a:p>
            <a:pPr marL="0" indent="0">
              <a:buNone/>
            </a:pPr>
            <a:r>
              <a:rPr lang="en-US" sz="1600" dirty="0">
                <a:solidFill>
                  <a:srgbClr val="56607A"/>
                </a:solidFill>
                <a:latin typeface="Times New Roman" panose="02020603050405020304" charset="0"/>
                <a:ea typeface="Calibri" panose="020F0502020204030204" pitchFamily="34" charset="-122"/>
                <a:cs typeface="Times New Roman" panose="02020603050405020304" charset="0"/>
              </a:rPr>
              <a:t>Clean, well-structured data is the foundation of every accurate prediction — five key steps get the raw dataset model-ready.</a:t>
            </a:r>
            <a:endParaRPr lang="en-US" sz="1600" dirty="0">
              <a:latin typeface="Times New Roman" panose="02020603050405020304" charset="0"/>
              <a:cs typeface="Times New Roman" panose="02020603050405020304" charset="0"/>
            </a:endParaRPr>
          </a:p>
        </p:txBody>
      </p:sp>
      <p:sp>
        <p:nvSpPr>
          <p:cNvPr id="5" name="Shape 3"/>
          <p:cNvSpPr/>
          <p:nvPr/>
        </p:nvSpPr>
        <p:spPr>
          <a:xfrm>
            <a:off x="548640" y="2103120"/>
            <a:ext cx="6309360" cy="786384"/>
          </a:xfrm>
          <a:prstGeom prst="roundRect">
            <a:avLst>
              <a:gd name="adj" fmla="val 10465"/>
            </a:avLst>
          </a:prstGeom>
          <a:solidFill>
            <a:srgbClr val="FFFFFF"/>
          </a:solidFill>
          <a:effectLst>
            <a:outerShdw blurRad="101600" dist="25400" dir="5400000" algn="bl" rotWithShape="0">
              <a:srgbClr val="3A4A7A">
                <a:alpha val="16000"/>
              </a:srgbClr>
            </a:outerShdw>
          </a:effectLst>
        </p:spPr>
      </p:sp>
      <p:sp>
        <p:nvSpPr>
          <p:cNvPr id="6" name="Shape 4"/>
          <p:cNvSpPr/>
          <p:nvPr/>
        </p:nvSpPr>
        <p:spPr>
          <a:xfrm>
            <a:off x="713232" y="2276856"/>
            <a:ext cx="438912" cy="438912"/>
          </a:xfrm>
          <a:prstGeom prst="ellipse">
            <a:avLst/>
          </a:prstGeom>
          <a:solidFill>
            <a:srgbClr val="1657E0"/>
          </a:solidFill>
        </p:spPr>
      </p:sp>
      <p:sp>
        <p:nvSpPr>
          <p:cNvPr id="7" name="Text 5"/>
          <p:cNvSpPr/>
          <p:nvPr/>
        </p:nvSpPr>
        <p:spPr>
          <a:xfrm>
            <a:off x="713232" y="2276856"/>
            <a:ext cx="438912" cy="438912"/>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400" dirty="0"/>
          </a:p>
        </p:txBody>
      </p:sp>
      <p:sp>
        <p:nvSpPr>
          <p:cNvPr id="8" name="Text 6"/>
          <p:cNvSpPr/>
          <p:nvPr/>
        </p:nvSpPr>
        <p:spPr>
          <a:xfrm>
            <a:off x="1325880" y="2176272"/>
            <a:ext cx="5349240" cy="274320"/>
          </a:xfrm>
          <a:prstGeom prst="rect">
            <a:avLst/>
          </a:prstGeom>
          <a:noFill/>
        </p:spPr>
        <p:txBody>
          <a:bodyPr wrap="square" rtlCol="0" anchor="ctr"/>
          <a:lstStyle/>
          <a:p>
            <a:pPr marL="0" indent="0">
              <a:buNone/>
            </a:pPr>
            <a:r>
              <a:rPr lang="en-US" sz="1250" b="1" dirty="0">
                <a:solidFill>
                  <a:srgbClr val="0F1B33"/>
                </a:solidFill>
                <a:latin typeface="Segoe UI" panose="020B0502040204020203" pitchFamily="34" charset="0"/>
                <a:ea typeface="Segoe UI" panose="020B0502040204020203" pitchFamily="34" charset="-122"/>
                <a:cs typeface="Segoe UI" panose="020B0502040204020203" pitchFamily="34" charset="-120"/>
              </a:rPr>
              <a:t>Missing Value Treatment</a:t>
            </a:r>
            <a:endParaRPr lang="en-US" sz="1250" dirty="0"/>
          </a:p>
        </p:txBody>
      </p:sp>
      <p:sp>
        <p:nvSpPr>
          <p:cNvPr id="9" name="Text 7"/>
          <p:cNvSpPr/>
          <p:nvPr/>
        </p:nvSpPr>
        <p:spPr>
          <a:xfrm>
            <a:off x="1325880" y="2468880"/>
            <a:ext cx="5349240" cy="384048"/>
          </a:xfrm>
          <a:prstGeom prst="rect">
            <a:avLst/>
          </a:prstGeom>
          <a:noFill/>
        </p:spPr>
        <p:txBody>
          <a:bodyPr wrap="square" rtlCol="0" anchor="ctr"/>
          <a:lstStyle/>
          <a:p>
            <a:pPr marL="0" indent="0">
              <a:lnSpc>
                <a:spcPts val="1200"/>
              </a:lnSpc>
              <a:buNone/>
            </a:pPr>
            <a:r>
              <a:rPr lang="en-US" sz="970" dirty="0">
                <a:solidFill>
                  <a:srgbClr val="56607A"/>
                </a:solidFill>
                <a:latin typeface="Calibri" panose="020F0502020204030204" pitchFamily="34" charset="0"/>
                <a:ea typeface="Calibri" panose="020F0502020204030204" pitchFamily="34" charset="-122"/>
                <a:cs typeface="Calibri" panose="020F0502020204030204" pitchFamily="34" charset="-120"/>
              </a:rPr>
              <a:t>Checked and handled null / inconsistent sensor readings to ensure a complete, reliable dataset.</a:t>
            </a:r>
            <a:endParaRPr lang="en-US" sz="970" dirty="0"/>
          </a:p>
        </p:txBody>
      </p:sp>
      <p:sp>
        <p:nvSpPr>
          <p:cNvPr id="10" name="Shape 8"/>
          <p:cNvSpPr/>
          <p:nvPr/>
        </p:nvSpPr>
        <p:spPr>
          <a:xfrm>
            <a:off x="548640" y="2962656"/>
            <a:ext cx="6309360" cy="786384"/>
          </a:xfrm>
          <a:prstGeom prst="roundRect">
            <a:avLst>
              <a:gd name="adj" fmla="val 10465"/>
            </a:avLst>
          </a:prstGeom>
          <a:solidFill>
            <a:srgbClr val="FFFFFF"/>
          </a:solidFill>
          <a:effectLst>
            <a:outerShdw blurRad="101600" dist="25400" dir="5400000" algn="bl" rotWithShape="0">
              <a:srgbClr val="3A4A7A">
                <a:alpha val="16000"/>
              </a:srgbClr>
            </a:outerShdw>
          </a:effectLst>
        </p:spPr>
      </p:sp>
      <p:sp>
        <p:nvSpPr>
          <p:cNvPr id="11" name="Shape 9"/>
          <p:cNvSpPr/>
          <p:nvPr/>
        </p:nvSpPr>
        <p:spPr>
          <a:xfrm>
            <a:off x="713232" y="3136392"/>
            <a:ext cx="438912" cy="438912"/>
          </a:xfrm>
          <a:prstGeom prst="ellipse">
            <a:avLst/>
          </a:prstGeom>
          <a:solidFill>
            <a:srgbClr val="1657E0"/>
          </a:solidFill>
        </p:spPr>
      </p:sp>
      <p:sp>
        <p:nvSpPr>
          <p:cNvPr id="12" name="Text 10"/>
          <p:cNvSpPr/>
          <p:nvPr/>
        </p:nvSpPr>
        <p:spPr>
          <a:xfrm>
            <a:off x="713232" y="3136392"/>
            <a:ext cx="438912" cy="438912"/>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400" dirty="0"/>
          </a:p>
        </p:txBody>
      </p:sp>
      <p:sp>
        <p:nvSpPr>
          <p:cNvPr id="13" name="Text 11"/>
          <p:cNvSpPr/>
          <p:nvPr/>
        </p:nvSpPr>
        <p:spPr>
          <a:xfrm>
            <a:off x="1325880" y="3035808"/>
            <a:ext cx="5349240" cy="274320"/>
          </a:xfrm>
          <a:prstGeom prst="rect">
            <a:avLst/>
          </a:prstGeom>
          <a:noFill/>
        </p:spPr>
        <p:txBody>
          <a:bodyPr wrap="square" rtlCol="0" anchor="ctr"/>
          <a:lstStyle/>
          <a:p>
            <a:pPr marL="0" indent="0">
              <a:buNone/>
            </a:pPr>
            <a:r>
              <a:rPr lang="en-US" sz="1250" b="1" dirty="0">
                <a:solidFill>
                  <a:srgbClr val="0F1B33"/>
                </a:solidFill>
                <a:latin typeface="Segoe UI" panose="020B0502040204020203" pitchFamily="34" charset="0"/>
                <a:ea typeface="Segoe UI" panose="020B0502040204020203" pitchFamily="34" charset="-122"/>
                <a:cs typeface="Segoe UI" panose="020B0502040204020203" pitchFamily="34" charset="-120"/>
              </a:rPr>
              <a:t>Categorical Encoding</a:t>
            </a:r>
            <a:endParaRPr lang="en-US" sz="1250" dirty="0"/>
          </a:p>
        </p:txBody>
      </p:sp>
      <p:sp>
        <p:nvSpPr>
          <p:cNvPr id="14" name="Text 12"/>
          <p:cNvSpPr/>
          <p:nvPr/>
        </p:nvSpPr>
        <p:spPr>
          <a:xfrm>
            <a:off x="1325880" y="3328416"/>
            <a:ext cx="5349240" cy="384048"/>
          </a:xfrm>
          <a:prstGeom prst="rect">
            <a:avLst/>
          </a:prstGeom>
          <a:noFill/>
        </p:spPr>
        <p:txBody>
          <a:bodyPr wrap="square" rtlCol="0" anchor="ctr"/>
          <a:lstStyle/>
          <a:p>
            <a:pPr marL="0" indent="0">
              <a:lnSpc>
                <a:spcPts val="1200"/>
              </a:lnSpc>
              <a:buNone/>
            </a:pPr>
            <a:r>
              <a:rPr lang="en-US" sz="970" dirty="0">
                <a:solidFill>
                  <a:srgbClr val="56607A"/>
                </a:solidFill>
                <a:latin typeface="Calibri" panose="020F0502020204030204" pitchFamily="34" charset="0"/>
                <a:ea typeface="Calibri" panose="020F0502020204030204" pitchFamily="34" charset="-122"/>
                <a:cs typeface="Calibri" panose="020F0502020204030204" pitchFamily="34" charset="-120"/>
              </a:rPr>
              <a:t>Converted the Type feature (Low / Medium / High) into numeric form for model compatibility.</a:t>
            </a:r>
            <a:endParaRPr lang="en-US" sz="970" dirty="0"/>
          </a:p>
        </p:txBody>
      </p:sp>
      <p:sp>
        <p:nvSpPr>
          <p:cNvPr id="15" name="Shape 13"/>
          <p:cNvSpPr/>
          <p:nvPr/>
        </p:nvSpPr>
        <p:spPr>
          <a:xfrm>
            <a:off x="548640" y="3822192"/>
            <a:ext cx="6309360" cy="786384"/>
          </a:xfrm>
          <a:prstGeom prst="roundRect">
            <a:avLst>
              <a:gd name="adj" fmla="val 10465"/>
            </a:avLst>
          </a:prstGeom>
          <a:solidFill>
            <a:srgbClr val="FFFFFF"/>
          </a:solidFill>
          <a:effectLst>
            <a:outerShdw blurRad="101600" dist="25400" dir="5400000" algn="bl" rotWithShape="0">
              <a:srgbClr val="3A4A7A">
                <a:alpha val="16000"/>
              </a:srgbClr>
            </a:outerShdw>
          </a:effectLst>
        </p:spPr>
      </p:sp>
      <p:sp>
        <p:nvSpPr>
          <p:cNvPr id="16" name="Shape 14"/>
          <p:cNvSpPr/>
          <p:nvPr/>
        </p:nvSpPr>
        <p:spPr>
          <a:xfrm>
            <a:off x="713232" y="3995928"/>
            <a:ext cx="438912" cy="438912"/>
          </a:xfrm>
          <a:prstGeom prst="ellipse">
            <a:avLst/>
          </a:prstGeom>
          <a:solidFill>
            <a:srgbClr val="1657E0"/>
          </a:solidFill>
        </p:spPr>
      </p:sp>
      <p:sp>
        <p:nvSpPr>
          <p:cNvPr id="17" name="Text 15"/>
          <p:cNvSpPr/>
          <p:nvPr/>
        </p:nvSpPr>
        <p:spPr>
          <a:xfrm>
            <a:off x="713232" y="3995928"/>
            <a:ext cx="438912" cy="438912"/>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400" dirty="0"/>
          </a:p>
        </p:txBody>
      </p:sp>
      <p:sp>
        <p:nvSpPr>
          <p:cNvPr id="18" name="Text 16"/>
          <p:cNvSpPr/>
          <p:nvPr/>
        </p:nvSpPr>
        <p:spPr>
          <a:xfrm>
            <a:off x="1325880" y="3895344"/>
            <a:ext cx="5349240" cy="274320"/>
          </a:xfrm>
          <a:prstGeom prst="rect">
            <a:avLst/>
          </a:prstGeom>
          <a:noFill/>
        </p:spPr>
        <p:txBody>
          <a:bodyPr wrap="square" rtlCol="0" anchor="ctr"/>
          <a:lstStyle/>
          <a:p>
            <a:pPr marL="0" indent="0">
              <a:buNone/>
            </a:pPr>
            <a:r>
              <a:rPr lang="en-US" sz="1250" b="1" dirty="0">
                <a:solidFill>
                  <a:srgbClr val="0F1B33"/>
                </a:solidFill>
                <a:latin typeface="Segoe UI" panose="020B0502040204020203" pitchFamily="34" charset="0"/>
                <a:ea typeface="Segoe UI" panose="020B0502040204020203" pitchFamily="34" charset="-122"/>
                <a:cs typeface="Segoe UI" panose="020B0502040204020203" pitchFamily="34" charset="-120"/>
              </a:rPr>
              <a:t>Feature Selection</a:t>
            </a:r>
            <a:endParaRPr lang="en-US" sz="1250" dirty="0"/>
          </a:p>
        </p:txBody>
      </p:sp>
      <p:sp>
        <p:nvSpPr>
          <p:cNvPr id="19" name="Text 17"/>
          <p:cNvSpPr/>
          <p:nvPr/>
        </p:nvSpPr>
        <p:spPr>
          <a:xfrm>
            <a:off x="1325880" y="4187952"/>
            <a:ext cx="5349240" cy="384048"/>
          </a:xfrm>
          <a:prstGeom prst="rect">
            <a:avLst/>
          </a:prstGeom>
          <a:noFill/>
        </p:spPr>
        <p:txBody>
          <a:bodyPr wrap="square" rtlCol="0" anchor="ctr"/>
          <a:lstStyle/>
          <a:p>
            <a:pPr marL="0" indent="0">
              <a:lnSpc>
                <a:spcPts val="1200"/>
              </a:lnSpc>
              <a:buNone/>
            </a:pPr>
            <a:r>
              <a:rPr lang="en-US" sz="970" dirty="0">
                <a:solidFill>
                  <a:srgbClr val="56607A"/>
                </a:solidFill>
                <a:latin typeface="Calibri" panose="020F0502020204030204" pitchFamily="34" charset="0"/>
                <a:ea typeface="Calibri" panose="020F0502020204030204" pitchFamily="34" charset="-122"/>
                <a:cs typeface="Calibri" panose="020F0502020204030204" pitchFamily="34" charset="-120"/>
              </a:rPr>
              <a:t>Used correlation analysis to identify and retain the most predictive sensor features.</a:t>
            </a:r>
            <a:endParaRPr lang="en-US" sz="970" dirty="0"/>
          </a:p>
        </p:txBody>
      </p:sp>
      <p:sp>
        <p:nvSpPr>
          <p:cNvPr id="20" name="Shape 18"/>
          <p:cNvSpPr/>
          <p:nvPr/>
        </p:nvSpPr>
        <p:spPr>
          <a:xfrm>
            <a:off x="548640" y="4681728"/>
            <a:ext cx="6309360" cy="786384"/>
          </a:xfrm>
          <a:prstGeom prst="roundRect">
            <a:avLst>
              <a:gd name="adj" fmla="val 10465"/>
            </a:avLst>
          </a:prstGeom>
          <a:solidFill>
            <a:srgbClr val="FFFFFF"/>
          </a:solidFill>
          <a:effectLst>
            <a:outerShdw blurRad="101600" dist="25400" dir="5400000" algn="bl" rotWithShape="0">
              <a:srgbClr val="3A4A7A">
                <a:alpha val="16000"/>
              </a:srgbClr>
            </a:outerShdw>
          </a:effectLst>
        </p:spPr>
      </p:sp>
      <p:sp>
        <p:nvSpPr>
          <p:cNvPr id="21" name="Shape 19"/>
          <p:cNvSpPr/>
          <p:nvPr/>
        </p:nvSpPr>
        <p:spPr>
          <a:xfrm>
            <a:off x="713232" y="4855464"/>
            <a:ext cx="438912" cy="438912"/>
          </a:xfrm>
          <a:prstGeom prst="ellipse">
            <a:avLst/>
          </a:prstGeom>
          <a:solidFill>
            <a:srgbClr val="1657E0"/>
          </a:solidFill>
        </p:spPr>
      </p:sp>
      <p:sp>
        <p:nvSpPr>
          <p:cNvPr id="22" name="Text 20"/>
          <p:cNvSpPr/>
          <p:nvPr/>
        </p:nvSpPr>
        <p:spPr>
          <a:xfrm>
            <a:off x="713232" y="4855464"/>
            <a:ext cx="438912" cy="438912"/>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400" dirty="0"/>
          </a:p>
        </p:txBody>
      </p:sp>
      <p:sp>
        <p:nvSpPr>
          <p:cNvPr id="23" name="Text 21"/>
          <p:cNvSpPr/>
          <p:nvPr/>
        </p:nvSpPr>
        <p:spPr>
          <a:xfrm>
            <a:off x="1325880" y="4754880"/>
            <a:ext cx="5349240" cy="274320"/>
          </a:xfrm>
          <a:prstGeom prst="rect">
            <a:avLst/>
          </a:prstGeom>
          <a:noFill/>
        </p:spPr>
        <p:txBody>
          <a:bodyPr wrap="square" rtlCol="0" anchor="ctr"/>
          <a:lstStyle/>
          <a:p>
            <a:pPr marL="0" indent="0">
              <a:buNone/>
            </a:pPr>
            <a:r>
              <a:rPr lang="en-US" sz="1250" b="1" dirty="0">
                <a:solidFill>
                  <a:srgbClr val="0F1B33"/>
                </a:solidFill>
                <a:latin typeface="Segoe UI" panose="020B0502040204020203" pitchFamily="34" charset="0"/>
                <a:ea typeface="Segoe UI" panose="020B0502040204020203" pitchFamily="34" charset="-122"/>
                <a:cs typeface="Segoe UI" panose="020B0502040204020203" pitchFamily="34" charset="-120"/>
              </a:rPr>
              <a:t>Train-Test Split</a:t>
            </a:r>
            <a:endParaRPr lang="en-US" sz="1250" dirty="0"/>
          </a:p>
        </p:txBody>
      </p:sp>
      <p:sp>
        <p:nvSpPr>
          <p:cNvPr id="24" name="Text 22"/>
          <p:cNvSpPr/>
          <p:nvPr/>
        </p:nvSpPr>
        <p:spPr>
          <a:xfrm>
            <a:off x="1325880" y="5047488"/>
            <a:ext cx="5349240" cy="384048"/>
          </a:xfrm>
          <a:prstGeom prst="rect">
            <a:avLst/>
          </a:prstGeom>
          <a:noFill/>
        </p:spPr>
        <p:txBody>
          <a:bodyPr wrap="square" rtlCol="0" anchor="ctr"/>
          <a:lstStyle/>
          <a:p>
            <a:pPr marL="0" indent="0">
              <a:lnSpc>
                <a:spcPts val="1200"/>
              </a:lnSpc>
              <a:buNone/>
            </a:pPr>
            <a:r>
              <a:rPr lang="en-US" sz="970" dirty="0">
                <a:solidFill>
                  <a:srgbClr val="56607A"/>
                </a:solidFill>
                <a:latin typeface="Calibri" panose="020F0502020204030204" pitchFamily="34" charset="0"/>
                <a:ea typeface="Calibri" panose="020F0502020204030204" pitchFamily="34" charset="-122"/>
                <a:cs typeface="Calibri" panose="020F0502020204030204" pitchFamily="34" charset="-120"/>
              </a:rPr>
              <a:t>Split data 80/20 into training and testing sets to fairly evaluate model performance.</a:t>
            </a:r>
            <a:endParaRPr lang="en-US" sz="970" dirty="0"/>
          </a:p>
        </p:txBody>
      </p:sp>
      <p:sp>
        <p:nvSpPr>
          <p:cNvPr id="25" name="Shape 23"/>
          <p:cNvSpPr/>
          <p:nvPr/>
        </p:nvSpPr>
        <p:spPr>
          <a:xfrm>
            <a:off x="548640" y="5541264"/>
            <a:ext cx="6309360" cy="786384"/>
          </a:xfrm>
          <a:prstGeom prst="roundRect">
            <a:avLst>
              <a:gd name="adj" fmla="val 10465"/>
            </a:avLst>
          </a:prstGeom>
          <a:solidFill>
            <a:srgbClr val="FFFFFF"/>
          </a:solidFill>
          <a:effectLst>
            <a:outerShdw blurRad="101600" dist="25400" dir="5400000" algn="bl" rotWithShape="0">
              <a:srgbClr val="3A4A7A">
                <a:alpha val="16000"/>
              </a:srgbClr>
            </a:outerShdw>
          </a:effectLst>
        </p:spPr>
      </p:sp>
      <p:sp>
        <p:nvSpPr>
          <p:cNvPr id="26" name="Shape 24"/>
          <p:cNvSpPr/>
          <p:nvPr/>
        </p:nvSpPr>
        <p:spPr>
          <a:xfrm>
            <a:off x="713232" y="5715000"/>
            <a:ext cx="438912" cy="438912"/>
          </a:xfrm>
          <a:prstGeom prst="ellipse">
            <a:avLst/>
          </a:prstGeom>
          <a:solidFill>
            <a:srgbClr val="1657E0"/>
          </a:solidFill>
        </p:spPr>
      </p:sp>
      <p:sp>
        <p:nvSpPr>
          <p:cNvPr id="27" name="Text 25"/>
          <p:cNvSpPr/>
          <p:nvPr/>
        </p:nvSpPr>
        <p:spPr>
          <a:xfrm>
            <a:off x="713232" y="5715000"/>
            <a:ext cx="438912" cy="438912"/>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400" dirty="0"/>
          </a:p>
        </p:txBody>
      </p:sp>
      <p:sp>
        <p:nvSpPr>
          <p:cNvPr id="28" name="Text 26"/>
          <p:cNvSpPr/>
          <p:nvPr/>
        </p:nvSpPr>
        <p:spPr>
          <a:xfrm>
            <a:off x="1325880" y="5614416"/>
            <a:ext cx="5349240" cy="274320"/>
          </a:xfrm>
          <a:prstGeom prst="rect">
            <a:avLst/>
          </a:prstGeom>
          <a:noFill/>
        </p:spPr>
        <p:txBody>
          <a:bodyPr wrap="square" rtlCol="0" anchor="ctr"/>
          <a:lstStyle/>
          <a:p>
            <a:pPr marL="0" indent="0">
              <a:buNone/>
            </a:pPr>
            <a:r>
              <a:rPr lang="en-US" sz="1250" b="1" dirty="0">
                <a:solidFill>
                  <a:srgbClr val="0F1B33"/>
                </a:solidFill>
                <a:latin typeface="Segoe UI" panose="020B0502040204020203" pitchFamily="34" charset="0"/>
                <a:ea typeface="Segoe UI" panose="020B0502040204020203" pitchFamily="34" charset="-122"/>
                <a:cs typeface="Segoe UI" panose="020B0502040204020203" pitchFamily="34" charset="-120"/>
              </a:rPr>
              <a:t>Feature Scaling</a:t>
            </a:r>
            <a:endParaRPr lang="en-US" sz="1250" dirty="0"/>
          </a:p>
        </p:txBody>
      </p:sp>
      <p:sp>
        <p:nvSpPr>
          <p:cNvPr id="29" name="Text 27"/>
          <p:cNvSpPr/>
          <p:nvPr/>
        </p:nvSpPr>
        <p:spPr>
          <a:xfrm>
            <a:off x="1325880" y="5907024"/>
            <a:ext cx="5349240" cy="384048"/>
          </a:xfrm>
          <a:prstGeom prst="rect">
            <a:avLst/>
          </a:prstGeom>
          <a:noFill/>
        </p:spPr>
        <p:txBody>
          <a:bodyPr wrap="square" rtlCol="0" anchor="ctr"/>
          <a:lstStyle/>
          <a:p>
            <a:pPr marL="0" indent="0">
              <a:lnSpc>
                <a:spcPts val="1200"/>
              </a:lnSpc>
              <a:buNone/>
            </a:pPr>
            <a:r>
              <a:rPr lang="en-US" sz="970" dirty="0">
                <a:solidFill>
                  <a:srgbClr val="56607A"/>
                </a:solidFill>
                <a:latin typeface="Calibri" panose="020F0502020204030204" pitchFamily="34" charset="0"/>
                <a:ea typeface="Calibri" panose="020F0502020204030204" pitchFamily="34" charset="-122"/>
                <a:cs typeface="Calibri" panose="020F0502020204030204" pitchFamily="34" charset="-120"/>
              </a:rPr>
              <a:t>Applied StandardScaler to normalize feature ranges for distance-sensitive models like SVM.</a:t>
            </a:r>
            <a:endParaRPr lang="en-US" sz="970" dirty="0"/>
          </a:p>
        </p:txBody>
      </p:sp>
      <p:sp>
        <p:nvSpPr>
          <p:cNvPr id="30" name="Shape 28"/>
          <p:cNvSpPr/>
          <p:nvPr/>
        </p:nvSpPr>
        <p:spPr>
          <a:xfrm>
            <a:off x="7086600" y="1907540"/>
            <a:ext cx="4914900" cy="4617720"/>
          </a:xfrm>
          <a:prstGeom prst="roundRect">
            <a:avLst>
              <a:gd name="adj" fmla="val 1978"/>
            </a:avLst>
          </a:prstGeom>
          <a:solidFill>
            <a:srgbClr val="FFFFFF"/>
          </a:solidFill>
          <a:effectLst>
            <a:outerShdw blurRad="101600" dist="25400" dir="5400000" algn="bl" rotWithShape="0">
              <a:srgbClr val="3A4A7A">
                <a:alpha val="16000"/>
              </a:srgbClr>
            </a:outerShdw>
          </a:effectLst>
        </p:spPr>
      </p:sp>
      <p:sp>
        <p:nvSpPr>
          <p:cNvPr id="31" name="Text 29"/>
          <p:cNvSpPr/>
          <p:nvPr/>
        </p:nvSpPr>
        <p:spPr>
          <a:xfrm>
            <a:off x="7285482" y="1897253"/>
            <a:ext cx="4114800" cy="292608"/>
          </a:xfrm>
          <a:prstGeom prst="rect">
            <a:avLst/>
          </a:prstGeom>
          <a:noFill/>
        </p:spPr>
        <p:txBody>
          <a:bodyPr wrap="square" rtlCol="0" anchor="ctr"/>
          <a:lstStyle/>
          <a:p>
            <a:pPr marL="0" indent="0" algn="ctr">
              <a:buNone/>
            </a:pPr>
            <a:r>
              <a:rPr lang="en-US" sz="1300" b="1" dirty="0">
                <a:solidFill>
                  <a:srgbClr val="0F1B33"/>
                </a:solidFill>
                <a:latin typeface="Segoe UI" panose="020B0502040204020203" pitchFamily="34" charset="0"/>
                <a:ea typeface="Segoe UI" panose="020B0502040204020203" pitchFamily="34" charset="-122"/>
                <a:cs typeface="Segoe UI" panose="020B0502040204020203" pitchFamily="34" charset="-120"/>
              </a:rPr>
              <a:t>            Correlation Matrix</a:t>
            </a:r>
            <a:endParaRPr lang="en-US" sz="1300" dirty="0"/>
          </a:p>
        </p:txBody>
      </p:sp>
      <p:pic>
        <p:nvPicPr>
          <p:cNvPr id="32" name="Image 0" descr="/home/claude/proj2/cropped/correlation_matrix.png"/>
          <p:cNvPicPr>
            <a:picLocks noChangeAspect="1"/>
          </p:cNvPicPr>
          <p:nvPr/>
        </p:nvPicPr>
        <p:blipFill>
          <a:blip r:embed="rId1"/>
          <a:srcRect l="23567" r="21483" b="4598"/>
          <a:stretch>
            <a:fillRect/>
          </a:stretch>
        </p:blipFill>
        <p:spPr>
          <a:xfrm>
            <a:off x="7085965" y="2234565"/>
            <a:ext cx="4914265" cy="42386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8229600" cy="310896"/>
          </a:xfrm>
          <a:prstGeom prst="rect">
            <a:avLst/>
          </a:prstGeom>
          <a:noFill/>
        </p:spPr>
        <p:txBody>
          <a:bodyPr wrap="square" rtlCol="0" anchor="ctr"/>
          <a:lstStyle/>
          <a:p>
            <a:pPr marL="0" indent="0">
              <a:buNone/>
            </a:pPr>
            <a:r>
              <a:rPr lang="en-US" sz="1200" b="1" kern="0" spc="200" dirty="0">
                <a:solidFill>
                  <a:srgbClr val="1657E0"/>
                </a:solidFill>
                <a:latin typeface="Times New Roman" panose="02020603050405020304" charset="0"/>
                <a:ea typeface="Calibri" panose="020F0502020204030204" pitchFamily="34" charset="-122"/>
                <a:cs typeface="Times New Roman" panose="02020603050405020304" charset="0"/>
              </a:rPr>
              <a:t>MACHINE LEARNING MODELS</a:t>
            </a:r>
            <a:endParaRPr lang="en-US" sz="1200" dirty="0">
              <a:latin typeface="Times New Roman" panose="02020603050405020304" charset="0"/>
              <a:cs typeface="Times New Roman" panose="02020603050405020304" charset="0"/>
            </a:endParaRPr>
          </a:p>
        </p:txBody>
      </p:sp>
      <p:sp>
        <p:nvSpPr>
          <p:cNvPr id="3" name="Text 1"/>
          <p:cNvSpPr/>
          <p:nvPr/>
        </p:nvSpPr>
        <p:spPr>
          <a:xfrm>
            <a:off x="530352" y="640080"/>
            <a:ext cx="11155680" cy="868680"/>
          </a:xfrm>
          <a:prstGeom prst="rect">
            <a:avLst/>
          </a:prstGeom>
          <a:noFill/>
        </p:spPr>
        <p:txBody>
          <a:bodyPr wrap="square" rtlCol="0" anchor="ctr"/>
          <a:lstStyle/>
          <a:p>
            <a:pPr marL="0" indent="0">
              <a:buNone/>
            </a:pPr>
            <a:r>
              <a:rPr lang="en-US" sz="3000" b="1" dirty="0">
                <a:solidFill>
                  <a:srgbClr val="0F1B33"/>
                </a:solidFill>
                <a:latin typeface="Times New Roman" panose="02020603050405020304" charset="0"/>
                <a:ea typeface="Segoe UI" panose="020B0502040204020203" pitchFamily="34" charset="-122"/>
                <a:cs typeface="Times New Roman" panose="02020603050405020304" charset="0"/>
              </a:rPr>
              <a:t>Comparing Models to Find the Best Predictor</a:t>
            </a:r>
            <a:endParaRPr lang="en-US" sz="3000" dirty="0">
              <a:latin typeface="Times New Roman" panose="02020603050405020304" charset="0"/>
              <a:cs typeface="Times New Roman" panose="02020603050405020304" charset="0"/>
            </a:endParaRPr>
          </a:p>
        </p:txBody>
      </p:sp>
      <p:sp>
        <p:nvSpPr>
          <p:cNvPr id="4" name="Text 2"/>
          <p:cNvSpPr/>
          <p:nvPr/>
        </p:nvSpPr>
        <p:spPr>
          <a:xfrm>
            <a:off x="548640" y="1322705"/>
            <a:ext cx="6882130" cy="551815"/>
          </a:xfrm>
          <a:prstGeom prst="rect">
            <a:avLst/>
          </a:prstGeom>
          <a:noFill/>
        </p:spPr>
        <p:txBody>
          <a:bodyPr wrap="square" rtlCol="0" anchor="ctr"/>
          <a:lstStyle/>
          <a:p>
            <a:pPr marL="0" indent="0">
              <a:buNone/>
            </a:pPr>
            <a:r>
              <a:rPr lang="en-US" sz="1600" dirty="0">
                <a:solidFill>
                  <a:srgbClr val="56607A"/>
                </a:solidFill>
                <a:latin typeface="Times New Roman" panose="02020603050405020304" charset="0"/>
                <a:ea typeface="Calibri" panose="020F0502020204030204" pitchFamily="34" charset="-122"/>
                <a:cs typeface="Times New Roman" panose="02020603050405020304" charset="0"/>
              </a:rPr>
              <a:t>They were trained and evaluated on Accuracy, Precision, Recall, F1-Score, and Confusion Matrix.</a:t>
            </a:r>
            <a:endParaRPr lang="en-US" sz="1600" dirty="0">
              <a:latin typeface="Times New Roman" panose="02020603050405020304" charset="0"/>
              <a:cs typeface="Times New Roman" panose="02020603050405020304" charset="0"/>
            </a:endParaRPr>
          </a:p>
        </p:txBody>
      </p:sp>
      <p:sp>
        <p:nvSpPr>
          <p:cNvPr id="5" name="Shape 3"/>
          <p:cNvSpPr/>
          <p:nvPr/>
        </p:nvSpPr>
        <p:spPr>
          <a:xfrm>
            <a:off x="548640" y="2148840"/>
            <a:ext cx="6309360" cy="841248"/>
          </a:xfrm>
          <a:prstGeom prst="roundRect">
            <a:avLst>
              <a:gd name="adj" fmla="val 9783"/>
            </a:avLst>
          </a:prstGeom>
          <a:solidFill>
            <a:srgbClr val="FFFFFF"/>
          </a:solidFill>
          <a:effectLst>
            <a:outerShdw blurRad="101600" dist="25400" dir="5400000" algn="bl" rotWithShape="0">
              <a:srgbClr val="3A4A7A">
                <a:alpha val="16000"/>
              </a:srgbClr>
            </a:outerShdw>
          </a:effectLst>
        </p:spPr>
      </p:sp>
      <p:sp>
        <p:nvSpPr>
          <p:cNvPr id="6" name="Text 4"/>
          <p:cNvSpPr/>
          <p:nvPr/>
        </p:nvSpPr>
        <p:spPr>
          <a:xfrm>
            <a:off x="822960" y="2240280"/>
            <a:ext cx="3291840" cy="365760"/>
          </a:xfrm>
          <a:prstGeom prst="rect">
            <a:avLst/>
          </a:prstGeom>
          <a:noFill/>
        </p:spPr>
        <p:txBody>
          <a:bodyPr wrap="square" rtlCol="0" anchor="ctr"/>
          <a:lstStyle/>
          <a:p>
            <a:pPr marL="0" indent="0">
              <a:buNone/>
            </a:pPr>
            <a:r>
              <a:rPr lang="en-US" sz="1450" b="1" dirty="0">
                <a:solidFill>
                  <a:srgbClr val="0F1B33"/>
                </a:solidFill>
                <a:latin typeface="Segoe UI" panose="020B0502040204020203" pitchFamily="34" charset="0"/>
                <a:ea typeface="Segoe UI" panose="020B0502040204020203" pitchFamily="34" charset="-122"/>
                <a:cs typeface="Segoe UI" panose="020B0502040204020203" pitchFamily="34" charset="-120"/>
              </a:rPr>
              <a:t>Logistic Regression</a:t>
            </a:r>
            <a:endParaRPr lang="en-US" sz="1450" dirty="0"/>
          </a:p>
        </p:txBody>
      </p:sp>
      <p:sp>
        <p:nvSpPr>
          <p:cNvPr id="7" name="Text 5"/>
          <p:cNvSpPr/>
          <p:nvPr/>
        </p:nvSpPr>
        <p:spPr>
          <a:xfrm>
            <a:off x="4114800" y="2148840"/>
            <a:ext cx="1463040" cy="841248"/>
          </a:xfrm>
          <a:prstGeom prst="rect">
            <a:avLst/>
          </a:prstGeom>
          <a:noFill/>
        </p:spPr>
        <p:txBody>
          <a:bodyPr wrap="square" rtlCol="0" anchor="ctr"/>
          <a:lstStyle/>
          <a:p>
            <a:pPr marL="0" indent="0" algn="r">
              <a:buNone/>
            </a:pPr>
            <a:r>
              <a:rPr lang="en-US" sz="2000" b="1" dirty="0">
                <a:solidFill>
                  <a:srgbClr val="1657E0"/>
                </a:solidFill>
                <a:latin typeface="Segoe UI" panose="020B0502040204020203" pitchFamily="34" charset="0"/>
                <a:ea typeface="Segoe UI" panose="020B0502040204020203" pitchFamily="34" charset="-122"/>
                <a:cs typeface="Segoe UI" panose="020B0502040204020203" pitchFamily="34" charset="-120"/>
              </a:rPr>
              <a:t>97.30%</a:t>
            </a:r>
            <a:endParaRPr lang="en-US" sz="2000" dirty="0"/>
          </a:p>
        </p:txBody>
      </p:sp>
      <p:sp>
        <p:nvSpPr>
          <p:cNvPr id="8" name="Text 6"/>
          <p:cNvSpPr/>
          <p:nvPr/>
        </p:nvSpPr>
        <p:spPr>
          <a:xfrm>
            <a:off x="822960" y="2587752"/>
            <a:ext cx="3291840" cy="274320"/>
          </a:xfrm>
          <a:prstGeom prst="rect">
            <a:avLst/>
          </a:prstGeom>
          <a:noFill/>
        </p:spPr>
        <p:txBody>
          <a:bodyPr wrap="square" rtlCol="0" anchor="ctr"/>
          <a:lstStyle/>
          <a:p>
            <a:pPr marL="0" indent="0">
              <a:buNone/>
            </a:pPr>
            <a:r>
              <a:rPr lang="en-US" sz="1000" dirty="0">
                <a:solidFill>
                  <a:srgbClr val="56607A"/>
                </a:solidFill>
                <a:latin typeface="Calibri" panose="020F0502020204030204" pitchFamily="34" charset="0"/>
                <a:ea typeface="Calibri" panose="020F0502020204030204" pitchFamily="34" charset="-122"/>
                <a:cs typeface="Calibri" panose="020F0502020204030204" pitchFamily="34" charset="-120"/>
              </a:rPr>
              <a:t>Accuracy</a:t>
            </a:r>
            <a:endParaRPr lang="en-US" sz="1000" dirty="0"/>
          </a:p>
        </p:txBody>
      </p:sp>
      <p:sp>
        <p:nvSpPr>
          <p:cNvPr id="9" name="Shape 7"/>
          <p:cNvSpPr/>
          <p:nvPr/>
        </p:nvSpPr>
        <p:spPr>
          <a:xfrm>
            <a:off x="548640" y="3099816"/>
            <a:ext cx="6309360" cy="841248"/>
          </a:xfrm>
          <a:prstGeom prst="roundRect">
            <a:avLst>
              <a:gd name="adj" fmla="val 9783"/>
            </a:avLst>
          </a:prstGeom>
          <a:solidFill>
            <a:srgbClr val="FFFFFF"/>
          </a:solidFill>
          <a:effectLst>
            <a:outerShdw blurRad="101600" dist="25400" dir="5400000" algn="bl" rotWithShape="0">
              <a:srgbClr val="3A4A7A">
                <a:alpha val="16000"/>
              </a:srgbClr>
            </a:outerShdw>
          </a:effectLst>
        </p:spPr>
      </p:sp>
      <p:sp>
        <p:nvSpPr>
          <p:cNvPr id="10" name="Text 8"/>
          <p:cNvSpPr/>
          <p:nvPr/>
        </p:nvSpPr>
        <p:spPr>
          <a:xfrm>
            <a:off x="822960" y="3191256"/>
            <a:ext cx="3291840" cy="365760"/>
          </a:xfrm>
          <a:prstGeom prst="rect">
            <a:avLst/>
          </a:prstGeom>
          <a:noFill/>
        </p:spPr>
        <p:txBody>
          <a:bodyPr wrap="square" rtlCol="0" anchor="ctr"/>
          <a:lstStyle/>
          <a:p>
            <a:pPr marL="0" indent="0">
              <a:buNone/>
            </a:pPr>
            <a:r>
              <a:rPr lang="en-US" sz="1450" b="1" dirty="0">
                <a:solidFill>
                  <a:srgbClr val="0F1B33"/>
                </a:solidFill>
                <a:latin typeface="Segoe UI" panose="020B0502040204020203" pitchFamily="34" charset="0"/>
                <a:ea typeface="Segoe UI" panose="020B0502040204020203" pitchFamily="34" charset="-122"/>
                <a:cs typeface="Segoe UI" panose="020B0502040204020203" pitchFamily="34" charset="-120"/>
              </a:rPr>
              <a:t>Decision Tree</a:t>
            </a:r>
            <a:endParaRPr lang="en-US" sz="1450" dirty="0"/>
          </a:p>
        </p:txBody>
      </p:sp>
      <p:sp>
        <p:nvSpPr>
          <p:cNvPr id="11" name="Text 9"/>
          <p:cNvSpPr/>
          <p:nvPr/>
        </p:nvSpPr>
        <p:spPr>
          <a:xfrm>
            <a:off x="4114800" y="3099816"/>
            <a:ext cx="1463040" cy="841248"/>
          </a:xfrm>
          <a:prstGeom prst="rect">
            <a:avLst/>
          </a:prstGeom>
          <a:noFill/>
        </p:spPr>
        <p:txBody>
          <a:bodyPr wrap="square" rtlCol="0" anchor="ctr"/>
          <a:lstStyle/>
          <a:p>
            <a:pPr marL="0" indent="0" algn="r">
              <a:buNone/>
            </a:pPr>
            <a:r>
              <a:rPr lang="en-US" sz="2000" b="1" dirty="0">
                <a:solidFill>
                  <a:srgbClr val="1657E0"/>
                </a:solidFill>
                <a:latin typeface="Segoe UI" panose="020B0502040204020203" pitchFamily="34" charset="0"/>
                <a:ea typeface="Segoe UI" panose="020B0502040204020203" pitchFamily="34" charset="-122"/>
                <a:cs typeface="Segoe UI" panose="020B0502040204020203" pitchFamily="34" charset="-120"/>
              </a:rPr>
              <a:t>97.85%</a:t>
            </a:r>
            <a:endParaRPr lang="en-US" sz="2000" dirty="0"/>
          </a:p>
        </p:txBody>
      </p:sp>
      <p:sp>
        <p:nvSpPr>
          <p:cNvPr id="12" name="Text 10"/>
          <p:cNvSpPr/>
          <p:nvPr/>
        </p:nvSpPr>
        <p:spPr>
          <a:xfrm>
            <a:off x="822960" y="3538728"/>
            <a:ext cx="3291840" cy="274320"/>
          </a:xfrm>
          <a:prstGeom prst="rect">
            <a:avLst/>
          </a:prstGeom>
          <a:noFill/>
        </p:spPr>
        <p:txBody>
          <a:bodyPr wrap="square" rtlCol="0" anchor="ctr"/>
          <a:lstStyle/>
          <a:p>
            <a:pPr marL="0" indent="0">
              <a:buNone/>
            </a:pPr>
            <a:r>
              <a:rPr lang="en-US" sz="1000" dirty="0">
                <a:solidFill>
                  <a:srgbClr val="56607A"/>
                </a:solidFill>
                <a:latin typeface="Calibri" panose="020F0502020204030204" pitchFamily="34" charset="0"/>
                <a:ea typeface="Calibri" panose="020F0502020204030204" pitchFamily="34" charset="-122"/>
                <a:cs typeface="Calibri" panose="020F0502020204030204" pitchFamily="34" charset="-120"/>
              </a:rPr>
              <a:t>Accuracy</a:t>
            </a:r>
            <a:endParaRPr lang="en-US" sz="1000" dirty="0"/>
          </a:p>
        </p:txBody>
      </p:sp>
      <p:sp>
        <p:nvSpPr>
          <p:cNvPr id="13" name="Shape 11"/>
          <p:cNvSpPr/>
          <p:nvPr/>
        </p:nvSpPr>
        <p:spPr>
          <a:xfrm>
            <a:off x="548640" y="4050792"/>
            <a:ext cx="6309360" cy="841248"/>
          </a:xfrm>
          <a:prstGeom prst="roundRect">
            <a:avLst>
              <a:gd name="adj" fmla="val 9783"/>
            </a:avLst>
          </a:prstGeom>
          <a:solidFill>
            <a:srgbClr val="0A1E4A"/>
          </a:solidFill>
          <a:ln w="19050">
            <a:solidFill>
              <a:srgbClr val="17A566"/>
            </a:solidFill>
            <a:prstDash val="solid"/>
          </a:ln>
          <a:effectLst>
            <a:outerShdw blurRad="101600" dist="25400" dir="5400000" algn="bl" rotWithShape="0">
              <a:srgbClr val="3A4A7A">
                <a:alpha val="16000"/>
              </a:srgbClr>
            </a:outerShdw>
          </a:effectLst>
        </p:spPr>
      </p:sp>
      <p:sp>
        <p:nvSpPr>
          <p:cNvPr id="14" name="Text 12"/>
          <p:cNvSpPr/>
          <p:nvPr/>
        </p:nvSpPr>
        <p:spPr>
          <a:xfrm>
            <a:off x="822960" y="4142232"/>
            <a:ext cx="3291840" cy="365760"/>
          </a:xfrm>
          <a:prstGeom prst="rect">
            <a:avLst/>
          </a:prstGeom>
          <a:noFill/>
        </p:spPr>
        <p:txBody>
          <a:bodyPr wrap="square" rtlCol="0" anchor="ctr"/>
          <a:lstStyle/>
          <a:p>
            <a:pPr marL="0" indent="0">
              <a:buNone/>
            </a:pPr>
            <a:r>
              <a:rPr lang="en-US" sz="1450" b="1" dirty="0">
                <a:solidFill>
                  <a:srgbClr val="FFFFFF"/>
                </a:solidFill>
                <a:latin typeface="Segoe UI" panose="020B0502040204020203" pitchFamily="34" charset="0"/>
                <a:ea typeface="Segoe UI" panose="020B0502040204020203" pitchFamily="34" charset="-122"/>
                <a:cs typeface="Segoe UI" panose="020B0502040204020203" pitchFamily="34" charset="-120"/>
              </a:rPr>
              <a:t>Random Forest</a:t>
            </a:r>
            <a:endParaRPr lang="en-US" sz="1450" dirty="0"/>
          </a:p>
        </p:txBody>
      </p:sp>
      <p:sp>
        <p:nvSpPr>
          <p:cNvPr id="15" name="Text 13"/>
          <p:cNvSpPr/>
          <p:nvPr/>
        </p:nvSpPr>
        <p:spPr>
          <a:xfrm>
            <a:off x="4114800" y="4050792"/>
            <a:ext cx="1463040" cy="841248"/>
          </a:xfrm>
          <a:prstGeom prst="rect">
            <a:avLst/>
          </a:prstGeom>
          <a:noFill/>
        </p:spPr>
        <p:txBody>
          <a:bodyPr wrap="square" rtlCol="0" anchor="ctr"/>
          <a:lstStyle/>
          <a:p>
            <a:pPr marL="0" indent="0" algn="r">
              <a:buNone/>
            </a:pPr>
            <a:r>
              <a:rPr lang="en-US" sz="2000" b="1" dirty="0">
                <a:solidFill>
                  <a:srgbClr val="22D3EE"/>
                </a:solidFill>
                <a:latin typeface="Segoe UI" panose="020B0502040204020203" pitchFamily="34" charset="0"/>
                <a:ea typeface="Segoe UI" panose="020B0502040204020203" pitchFamily="34" charset="-122"/>
                <a:cs typeface="Segoe UI" panose="020B0502040204020203" pitchFamily="34" charset="-120"/>
              </a:rPr>
              <a:t>98.40%</a:t>
            </a:r>
            <a:endParaRPr lang="en-US" sz="2000" dirty="0"/>
          </a:p>
        </p:txBody>
      </p:sp>
      <p:sp>
        <p:nvSpPr>
          <p:cNvPr id="16" name="Shape 14"/>
          <p:cNvSpPr/>
          <p:nvPr/>
        </p:nvSpPr>
        <p:spPr>
          <a:xfrm>
            <a:off x="4526280" y="4270248"/>
            <a:ext cx="1737360" cy="402336"/>
          </a:xfrm>
          <a:prstGeom prst="roundRect">
            <a:avLst>
              <a:gd name="adj" fmla="val 50000"/>
            </a:avLst>
          </a:prstGeom>
          <a:solidFill>
            <a:srgbClr val="17A566"/>
          </a:solidFill>
        </p:spPr>
      </p:sp>
      <p:sp>
        <p:nvSpPr>
          <p:cNvPr id="17" name="Text 15"/>
          <p:cNvSpPr/>
          <p:nvPr/>
        </p:nvSpPr>
        <p:spPr>
          <a:xfrm>
            <a:off x="4526280" y="4270248"/>
            <a:ext cx="1737360" cy="402336"/>
          </a:xfrm>
          <a:prstGeom prst="rect">
            <a:avLst/>
          </a:prstGeom>
          <a:noFill/>
        </p:spPr>
        <p:txBody>
          <a:bodyPr wrap="square"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 SELECTED</a:t>
            </a:r>
            <a:endParaRPr lang="en-US" sz="1050" dirty="0"/>
          </a:p>
        </p:txBody>
      </p:sp>
      <p:sp>
        <p:nvSpPr>
          <p:cNvPr id="18" name="Shape 16"/>
          <p:cNvSpPr/>
          <p:nvPr/>
        </p:nvSpPr>
        <p:spPr>
          <a:xfrm>
            <a:off x="548640" y="5001768"/>
            <a:ext cx="6309360" cy="841248"/>
          </a:xfrm>
          <a:prstGeom prst="roundRect">
            <a:avLst>
              <a:gd name="adj" fmla="val 9783"/>
            </a:avLst>
          </a:prstGeom>
          <a:solidFill>
            <a:srgbClr val="FFFFFF"/>
          </a:solidFill>
          <a:effectLst>
            <a:outerShdw blurRad="101600" dist="25400" dir="5400000" algn="bl" rotWithShape="0">
              <a:srgbClr val="3A4A7A">
                <a:alpha val="16000"/>
              </a:srgbClr>
            </a:outerShdw>
          </a:effectLst>
        </p:spPr>
      </p:sp>
      <p:sp>
        <p:nvSpPr>
          <p:cNvPr id="19" name="Text 17"/>
          <p:cNvSpPr/>
          <p:nvPr/>
        </p:nvSpPr>
        <p:spPr>
          <a:xfrm>
            <a:off x="822960" y="5093208"/>
            <a:ext cx="3291840" cy="365760"/>
          </a:xfrm>
          <a:prstGeom prst="rect">
            <a:avLst/>
          </a:prstGeom>
          <a:noFill/>
        </p:spPr>
        <p:txBody>
          <a:bodyPr wrap="square" rtlCol="0" anchor="ctr"/>
          <a:lstStyle/>
          <a:p>
            <a:pPr marL="0" indent="0">
              <a:buNone/>
            </a:pPr>
            <a:r>
              <a:rPr lang="en-US" sz="1450" b="1" dirty="0">
                <a:solidFill>
                  <a:srgbClr val="0F1B33"/>
                </a:solidFill>
                <a:latin typeface="Segoe UI" panose="020B0502040204020203" pitchFamily="34" charset="0"/>
                <a:ea typeface="Segoe UI" panose="020B0502040204020203" pitchFamily="34" charset="-122"/>
                <a:cs typeface="Segoe UI" panose="020B0502040204020203" pitchFamily="34" charset="-120"/>
              </a:rPr>
              <a:t>SVM</a:t>
            </a:r>
            <a:endParaRPr lang="en-US" sz="1450" dirty="0"/>
          </a:p>
        </p:txBody>
      </p:sp>
      <p:sp>
        <p:nvSpPr>
          <p:cNvPr id="20" name="Text 18"/>
          <p:cNvSpPr/>
          <p:nvPr/>
        </p:nvSpPr>
        <p:spPr>
          <a:xfrm>
            <a:off x="4114800" y="5001768"/>
            <a:ext cx="1463040" cy="841248"/>
          </a:xfrm>
          <a:prstGeom prst="rect">
            <a:avLst/>
          </a:prstGeom>
          <a:noFill/>
        </p:spPr>
        <p:txBody>
          <a:bodyPr wrap="square" rtlCol="0" anchor="ctr"/>
          <a:lstStyle/>
          <a:p>
            <a:pPr marL="0" indent="0" algn="r">
              <a:buNone/>
            </a:pPr>
            <a:r>
              <a:rPr lang="en-US" sz="2000" b="1" dirty="0">
                <a:solidFill>
                  <a:srgbClr val="1657E0"/>
                </a:solidFill>
                <a:latin typeface="Segoe UI" panose="020B0502040204020203" pitchFamily="34" charset="0"/>
                <a:ea typeface="Segoe UI" panose="020B0502040204020203" pitchFamily="34" charset="-122"/>
                <a:cs typeface="Segoe UI" panose="020B0502040204020203" pitchFamily="34" charset="-120"/>
              </a:rPr>
              <a:t>97.70%</a:t>
            </a:r>
            <a:endParaRPr lang="en-US" sz="2000" dirty="0"/>
          </a:p>
        </p:txBody>
      </p:sp>
      <p:sp>
        <p:nvSpPr>
          <p:cNvPr id="21" name="Text 19"/>
          <p:cNvSpPr/>
          <p:nvPr/>
        </p:nvSpPr>
        <p:spPr>
          <a:xfrm>
            <a:off x="822960" y="5440680"/>
            <a:ext cx="3291840" cy="274320"/>
          </a:xfrm>
          <a:prstGeom prst="rect">
            <a:avLst/>
          </a:prstGeom>
          <a:noFill/>
        </p:spPr>
        <p:txBody>
          <a:bodyPr wrap="square" rtlCol="0" anchor="ctr"/>
          <a:lstStyle/>
          <a:p>
            <a:pPr marL="0" indent="0">
              <a:buNone/>
            </a:pPr>
            <a:r>
              <a:rPr lang="en-US" sz="1000" dirty="0">
                <a:solidFill>
                  <a:srgbClr val="56607A"/>
                </a:solidFill>
                <a:latin typeface="Calibri" panose="020F0502020204030204" pitchFamily="34" charset="0"/>
                <a:ea typeface="Calibri" panose="020F0502020204030204" pitchFamily="34" charset="-122"/>
                <a:cs typeface="Calibri" panose="020F0502020204030204" pitchFamily="34" charset="-120"/>
              </a:rPr>
              <a:t>Accuracy</a:t>
            </a:r>
            <a:endParaRPr lang="en-US" sz="1000" dirty="0"/>
          </a:p>
        </p:txBody>
      </p:sp>
      <p:pic>
        <p:nvPicPr>
          <p:cNvPr id="24" name="Image 0" descr="/home/claude/proj2/cropped/feat_importance_chart.png"/>
          <p:cNvPicPr>
            <a:picLocks noChangeAspect="1"/>
          </p:cNvPicPr>
          <p:nvPr/>
        </p:nvPicPr>
        <p:blipFill>
          <a:blip r:embed="rId1"/>
          <a:srcRect l="12293" t="1430" r="26522" b="7131"/>
          <a:stretch>
            <a:fillRect/>
          </a:stretch>
        </p:blipFill>
        <p:spPr>
          <a:xfrm>
            <a:off x="7487285" y="2838450"/>
            <a:ext cx="4704715" cy="3793490"/>
          </a:xfrm>
          <a:prstGeom prst="rect">
            <a:avLst/>
          </a:prstGeom>
        </p:spPr>
      </p:pic>
      <p:pic>
        <p:nvPicPr>
          <p:cNvPr id="28" name="Picture 27" descr="Screenshot (84)"/>
          <p:cNvPicPr>
            <a:picLocks noChangeAspect="1"/>
          </p:cNvPicPr>
          <p:nvPr/>
        </p:nvPicPr>
        <p:blipFill>
          <a:blip r:embed="rId2"/>
          <a:srcRect l="11570" t="12660" r="39501" b="17368"/>
          <a:stretch>
            <a:fillRect/>
          </a:stretch>
        </p:blipFill>
        <p:spPr>
          <a:xfrm>
            <a:off x="8170545" y="640715"/>
            <a:ext cx="3811270" cy="219773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8229600" cy="310896"/>
          </a:xfrm>
          <a:prstGeom prst="rect">
            <a:avLst/>
          </a:prstGeom>
          <a:noFill/>
        </p:spPr>
        <p:txBody>
          <a:bodyPr wrap="square" rtlCol="0" anchor="ctr"/>
          <a:lstStyle/>
          <a:p>
            <a:pPr marL="0" indent="0">
              <a:buNone/>
            </a:pPr>
            <a:r>
              <a:rPr lang="en-US" sz="1200" b="1" kern="0" spc="200" dirty="0">
                <a:solidFill>
                  <a:srgbClr val="1657E0"/>
                </a:solidFill>
                <a:latin typeface="Times New Roman" panose="02020603050405020304" charset="0"/>
                <a:ea typeface="Calibri" panose="020F0502020204030204" pitchFamily="34" charset="-122"/>
                <a:cs typeface="Times New Roman" panose="02020603050405020304" charset="0"/>
              </a:rPr>
              <a:t>RESULTS</a:t>
            </a:r>
            <a:endParaRPr lang="en-US" sz="1200" dirty="0">
              <a:latin typeface="Times New Roman" panose="02020603050405020304" charset="0"/>
              <a:cs typeface="Times New Roman" panose="02020603050405020304" charset="0"/>
            </a:endParaRPr>
          </a:p>
        </p:txBody>
      </p:sp>
      <p:sp>
        <p:nvSpPr>
          <p:cNvPr id="3" name="Text 1"/>
          <p:cNvSpPr/>
          <p:nvPr/>
        </p:nvSpPr>
        <p:spPr>
          <a:xfrm>
            <a:off x="530352" y="640080"/>
            <a:ext cx="11155680" cy="868680"/>
          </a:xfrm>
          <a:prstGeom prst="rect">
            <a:avLst/>
          </a:prstGeom>
          <a:noFill/>
        </p:spPr>
        <p:txBody>
          <a:bodyPr wrap="square" rtlCol="0" anchor="ctr"/>
          <a:lstStyle/>
          <a:p>
            <a:pPr marL="0" indent="0">
              <a:buNone/>
            </a:pPr>
            <a:r>
              <a:rPr lang="en-US" sz="3000" b="1" dirty="0">
                <a:solidFill>
                  <a:srgbClr val="0F1B33"/>
                </a:solidFill>
                <a:latin typeface="Times New Roman" panose="02020603050405020304" charset="0"/>
                <a:ea typeface="Segoe UI" panose="020B0502040204020203" pitchFamily="34" charset="-122"/>
                <a:cs typeface="Times New Roman" panose="02020603050405020304" charset="0"/>
              </a:rPr>
              <a:t>Random Forest Delivers the Strongest Performance</a:t>
            </a:r>
            <a:endParaRPr lang="en-US" sz="3000" dirty="0">
              <a:latin typeface="Times New Roman" panose="02020603050405020304" charset="0"/>
              <a:cs typeface="Times New Roman" panose="02020603050405020304" charset="0"/>
            </a:endParaRPr>
          </a:p>
        </p:txBody>
      </p:sp>
      <p:sp>
        <p:nvSpPr>
          <p:cNvPr id="4" name="Shape 2"/>
          <p:cNvSpPr/>
          <p:nvPr/>
        </p:nvSpPr>
        <p:spPr>
          <a:xfrm>
            <a:off x="548640" y="1508760"/>
            <a:ext cx="3137535" cy="3282315"/>
          </a:xfrm>
          <a:prstGeom prst="roundRect">
            <a:avLst>
              <a:gd name="adj" fmla="val 3273"/>
            </a:avLst>
          </a:prstGeom>
          <a:solidFill>
            <a:srgbClr val="FFFFFF"/>
          </a:solidFill>
          <a:effectLst>
            <a:outerShdw blurRad="101600" dist="25400" dir="5400000" algn="bl" rotWithShape="0">
              <a:srgbClr val="3A4A7A">
                <a:alpha val="16000"/>
              </a:srgbClr>
            </a:outerShdw>
          </a:effectLst>
        </p:spPr>
      </p:sp>
      <p:sp>
        <p:nvSpPr>
          <p:cNvPr id="5" name="Text 3"/>
          <p:cNvSpPr/>
          <p:nvPr/>
        </p:nvSpPr>
        <p:spPr>
          <a:xfrm>
            <a:off x="777240" y="1618615"/>
            <a:ext cx="2920365" cy="290830"/>
          </a:xfrm>
          <a:prstGeom prst="rect">
            <a:avLst/>
          </a:prstGeom>
          <a:noFill/>
        </p:spPr>
        <p:txBody>
          <a:bodyPr wrap="square" rtlCol="0" anchor="ctr"/>
          <a:lstStyle/>
          <a:p>
            <a:pPr marL="0" indent="0">
              <a:buNone/>
            </a:pPr>
            <a:r>
              <a:rPr lang="en-US" sz="1400" b="1" dirty="0">
                <a:solidFill>
                  <a:srgbClr val="0F1B33"/>
                </a:solidFill>
                <a:latin typeface="Times New Roman" panose="02020603050405020304" charset="0"/>
                <a:ea typeface="Segoe UI" panose="020B0502040204020203" pitchFamily="34" charset="-122"/>
                <a:cs typeface="Times New Roman" panose="02020603050405020304" charset="0"/>
              </a:rPr>
              <a:t>    Model Accuracy Comparison</a:t>
            </a:r>
            <a:endParaRPr lang="en-US" sz="1400" dirty="0">
              <a:latin typeface="Times New Roman" panose="02020603050405020304" charset="0"/>
              <a:cs typeface="Times New Roman" panose="02020603050405020304" charset="0"/>
            </a:endParaRPr>
          </a:p>
        </p:txBody>
      </p:sp>
      <p:pic>
        <p:nvPicPr>
          <p:cNvPr id="6" name="Image 0" descr="/home/claude/proj2/cropped/model_comparison.png"/>
          <p:cNvPicPr>
            <a:picLocks noChangeAspect="1"/>
          </p:cNvPicPr>
          <p:nvPr/>
        </p:nvPicPr>
        <p:blipFill>
          <a:blip r:embed="rId1"/>
          <a:srcRect l="2108" t="2877" r="59942" b="13922"/>
          <a:stretch>
            <a:fillRect/>
          </a:stretch>
        </p:blipFill>
        <p:spPr>
          <a:xfrm>
            <a:off x="570230" y="1931670"/>
            <a:ext cx="3103880" cy="2664460"/>
          </a:xfrm>
          <a:prstGeom prst="rect">
            <a:avLst/>
          </a:prstGeom>
        </p:spPr>
      </p:pic>
      <p:sp>
        <p:nvSpPr>
          <p:cNvPr id="7" name="Shape 4"/>
          <p:cNvSpPr/>
          <p:nvPr/>
        </p:nvSpPr>
        <p:spPr>
          <a:xfrm>
            <a:off x="3887470" y="1502410"/>
            <a:ext cx="3236595" cy="3291840"/>
          </a:xfrm>
          <a:prstGeom prst="roundRect">
            <a:avLst>
              <a:gd name="adj" fmla="val 3273"/>
            </a:avLst>
          </a:prstGeom>
          <a:solidFill>
            <a:srgbClr val="FFFFFF"/>
          </a:solidFill>
          <a:effectLst>
            <a:outerShdw blurRad="101600" dist="25400" dir="5400000" algn="bl" rotWithShape="0">
              <a:srgbClr val="3A4A7A">
                <a:alpha val="16000"/>
              </a:srgbClr>
            </a:outerShdw>
          </a:effectLst>
        </p:spPr>
      </p:sp>
      <p:sp>
        <p:nvSpPr>
          <p:cNvPr id="8" name="Text 5"/>
          <p:cNvSpPr/>
          <p:nvPr/>
        </p:nvSpPr>
        <p:spPr>
          <a:xfrm>
            <a:off x="3893185" y="1638935"/>
            <a:ext cx="3576955" cy="272415"/>
          </a:xfrm>
          <a:prstGeom prst="rect">
            <a:avLst/>
          </a:prstGeom>
          <a:noFill/>
        </p:spPr>
        <p:txBody>
          <a:bodyPr wrap="square" rtlCol="0" anchor="ctr"/>
          <a:lstStyle/>
          <a:p>
            <a:pPr marL="0" indent="0">
              <a:buNone/>
            </a:pPr>
            <a:r>
              <a:rPr lang="en-US" sz="1400" b="1" dirty="0">
                <a:solidFill>
                  <a:srgbClr val="0F1B33"/>
                </a:solidFill>
                <a:latin typeface="Times New Roman" panose="02020603050405020304" charset="0"/>
                <a:ea typeface="Segoe UI" panose="020B0502040204020203" pitchFamily="34" charset="-122"/>
                <a:cs typeface="Times New Roman" panose="02020603050405020304" charset="0"/>
              </a:rPr>
              <a:t>Confusion Matrix — Random Forest</a:t>
            </a:r>
            <a:endParaRPr lang="en-US" sz="1400" dirty="0">
              <a:latin typeface="Times New Roman" panose="02020603050405020304" charset="0"/>
              <a:cs typeface="Times New Roman" panose="02020603050405020304" charset="0"/>
            </a:endParaRPr>
          </a:p>
        </p:txBody>
      </p:sp>
      <p:pic>
        <p:nvPicPr>
          <p:cNvPr id="9" name="Image 1" descr="/home/claude/proj2/cropped/confusion_matrix.png"/>
          <p:cNvPicPr>
            <a:picLocks noChangeAspect="1"/>
          </p:cNvPicPr>
          <p:nvPr/>
        </p:nvPicPr>
        <p:blipFill>
          <a:blip r:embed="rId2"/>
          <a:srcRect l="7481" t="5136" r="45847" b="6783"/>
          <a:stretch>
            <a:fillRect/>
          </a:stretch>
        </p:blipFill>
        <p:spPr>
          <a:xfrm>
            <a:off x="3884930" y="1859280"/>
            <a:ext cx="3228340" cy="2917825"/>
          </a:xfrm>
          <a:prstGeom prst="rect">
            <a:avLst/>
          </a:prstGeom>
        </p:spPr>
      </p:pic>
      <p:sp>
        <p:nvSpPr>
          <p:cNvPr id="10" name="Shape 6"/>
          <p:cNvSpPr/>
          <p:nvPr/>
        </p:nvSpPr>
        <p:spPr>
          <a:xfrm>
            <a:off x="530225" y="5193665"/>
            <a:ext cx="11109960" cy="1537970"/>
          </a:xfrm>
          <a:prstGeom prst="roundRect">
            <a:avLst>
              <a:gd name="adj" fmla="val 4186"/>
            </a:avLst>
          </a:prstGeom>
          <a:solidFill>
            <a:srgbClr val="0A1E4A"/>
          </a:solidFill>
          <a:effectLst>
            <a:outerShdw blurRad="101600" dist="25400" dir="5400000" algn="bl" rotWithShape="0">
              <a:srgbClr val="3A4A7A">
                <a:alpha val="16000"/>
              </a:srgbClr>
            </a:outerShdw>
          </a:effectLst>
        </p:spPr>
      </p:sp>
      <p:sp>
        <p:nvSpPr>
          <p:cNvPr id="11" name="Text 7"/>
          <p:cNvSpPr/>
          <p:nvPr/>
        </p:nvSpPr>
        <p:spPr>
          <a:xfrm>
            <a:off x="822960" y="5273675"/>
            <a:ext cx="4572000" cy="281305"/>
          </a:xfrm>
          <a:prstGeom prst="rect">
            <a:avLst/>
          </a:prstGeom>
          <a:noFill/>
        </p:spPr>
        <p:txBody>
          <a:bodyPr wrap="square" rtlCol="0" anchor="ctr"/>
          <a:lstStyle/>
          <a:p>
            <a:pPr marL="0" indent="0">
              <a:buNone/>
            </a:pPr>
            <a:r>
              <a:rPr lang="en-US" sz="1200" b="1" kern="0" spc="150" dirty="0">
                <a:solidFill>
                  <a:srgbClr val="22D3EE"/>
                </a:solidFill>
                <a:latin typeface="Times New Roman" panose="02020603050405020304" charset="0"/>
                <a:ea typeface="Calibri" panose="020F0502020204030204" pitchFamily="34" charset="-122"/>
                <a:cs typeface="Times New Roman" panose="02020603050405020304" charset="0"/>
              </a:rPr>
              <a:t>KEY FINDINGS</a:t>
            </a:r>
            <a:endParaRPr lang="en-US" sz="1200" dirty="0">
              <a:latin typeface="Times New Roman" panose="02020603050405020304" charset="0"/>
              <a:cs typeface="Times New Roman" panose="02020603050405020304" charset="0"/>
            </a:endParaRPr>
          </a:p>
        </p:txBody>
      </p:sp>
      <p:sp>
        <p:nvSpPr>
          <p:cNvPr id="12" name="Text 8"/>
          <p:cNvSpPr/>
          <p:nvPr/>
        </p:nvSpPr>
        <p:spPr>
          <a:xfrm>
            <a:off x="868680" y="5558790"/>
            <a:ext cx="5212080" cy="1002030"/>
          </a:xfrm>
          <a:prstGeom prst="rect">
            <a:avLst/>
          </a:prstGeom>
          <a:noFill/>
        </p:spPr>
        <p:txBody>
          <a:bodyPr wrap="square" rtlCol="0" anchor="ctr"/>
          <a:lstStyle/>
          <a:p>
            <a:pPr marL="177800" indent="-177800">
              <a:lnSpc>
                <a:spcPts val="1500"/>
              </a:lnSpc>
              <a:spcAft>
                <a:spcPts val="800"/>
              </a:spcAft>
              <a:buSzPct val="100000"/>
              <a:buChar char="•"/>
            </a:pPr>
            <a:r>
              <a:rPr lang="en-US" sz="1100" dirty="0">
                <a:solidFill>
                  <a:srgbClr val="D9E2FF"/>
                </a:solidFill>
                <a:latin typeface="Times New Roman" panose="02020603050405020304" charset="0"/>
                <a:ea typeface="Calibri" panose="020F0502020204030204" pitchFamily="34" charset="-122"/>
                <a:cs typeface="Times New Roman" panose="02020603050405020304" charset="0"/>
              </a:rPr>
              <a:t>Random Forest achieved the highest accuracy at 98.40% among all models tested.</a:t>
            </a:r>
            <a:endParaRPr lang="en-US" sz="1100" dirty="0">
              <a:latin typeface="Times New Roman" panose="02020603050405020304" charset="0"/>
              <a:cs typeface="Times New Roman" panose="02020603050405020304" charset="0"/>
            </a:endParaRPr>
          </a:p>
          <a:p>
            <a:pPr marL="177800" indent="-177800">
              <a:lnSpc>
                <a:spcPts val="1500"/>
              </a:lnSpc>
              <a:spcAft>
                <a:spcPts val="800"/>
              </a:spcAft>
              <a:buSzPct val="100000"/>
              <a:buChar char="•"/>
            </a:pPr>
            <a:r>
              <a:rPr lang="en-US" sz="1100" dirty="0">
                <a:solidFill>
                  <a:srgbClr val="D9E2FF"/>
                </a:solidFill>
                <a:latin typeface="Times New Roman" panose="02020603050405020304" charset="0"/>
                <a:ea typeface="Calibri" panose="020F0502020204030204" pitchFamily="34" charset="-122"/>
                <a:cs typeface="Times New Roman" panose="02020603050405020304" charset="0"/>
              </a:rPr>
              <a:t>Only 7 false alarms and 25 missed failures out of ~2,000 test cases.</a:t>
            </a:r>
            <a:endParaRPr lang="en-US" sz="1100" dirty="0">
              <a:latin typeface="Times New Roman" panose="02020603050405020304" charset="0"/>
              <a:cs typeface="Times New Roman" panose="02020603050405020304" charset="0"/>
            </a:endParaRPr>
          </a:p>
          <a:p>
            <a:pPr marL="177800" indent="-177800">
              <a:lnSpc>
                <a:spcPts val="1500"/>
              </a:lnSpc>
              <a:spcAft>
                <a:spcPts val="800"/>
              </a:spcAft>
              <a:buSzPct val="100000"/>
              <a:buChar char="•"/>
            </a:pPr>
            <a:r>
              <a:rPr lang="en-US" sz="1100" dirty="0">
                <a:solidFill>
                  <a:srgbClr val="D9E2FF"/>
                </a:solidFill>
                <a:latin typeface="Times New Roman" panose="02020603050405020304" charset="0"/>
                <a:ea typeface="Calibri" panose="020F0502020204030204" pitchFamily="34" charset="-122"/>
                <a:cs typeface="Times New Roman" panose="02020603050405020304" charset="0"/>
              </a:rPr>
              <a:t>Torque and Rotational Speed emerged as the strongest failure predictors.</a:t>
            </a:r>
            <a:endParaRPr lang="en-US" sz="1100" dirty="0">
              <a:latin typeface="Times New Roman" panose="02020603050405020304" charset="0"/>
              <a:cs typeface="Times New Roman" panose="02020603050405020304" charset="0"/>
            </a:endParaRPr>
          </a:p>
        </p:txBody>
      </p:sp>
      <p:sp>
        <p:nvSpPr>
          <p:cNvPr id="13" name="Text 9"/>
          <p:cNvSpPr/>
          <p:nvPr/>
        </p:nvSpPr>
        <p:spPr>
          <a:xfrm>
            <a:off x="6263640" y="5554345"/>
            <a:ext cx="5212080" cy="1006475"/>
          </a:xfrm>
          <a:prstGeom prst="rect">
            <a:avLst/>
          </a:prstGeom>
          <a:noFill/>
        </p:spPr>
        <p:txBody>
          <a:bodyPr wrap="square" rtlCol="0" anchor="ctr"/>
          <a:lstStyle/>
          <a:p>
            <a:pPr marL="177800" indent="-177800">
              <a:lnSpc>
                <a:spcPts val="1500"/>
              </a:lnSpc>
              <a:spcAft>
                <a:spcPts val="800"/>
              </a:spcAft>
              <a:buSzPct val="100000"/>
              <a:buChar char="•"/>
            </a:pPr>
            <a:r>
              <a:rPr lang="en-US" sz="1100" dirty="0">
                <a:solidFill>
                  <a:srgbClr val="D9E2FF"/>
                </a:solidFill>
                <a:latin typeface="Times New Roman" panose="02020603050405020304" charset="0"/>
                <a:ea typeface="Calibri" panose="020F0502020204030204" pitchFamily="34" charset="-122"/>
                <a:cs typeface="Times New Roman" panose="02020603050405020304" charset="0"/>
              </a:rPr>
              <a:t>Model maintains high recall on the rare failure class despite class imbalance.</a:t>
            </a:r>
            <a:endParaRPr lang="en-US" sz="1100" dirty="0">
              <a:latin typeface="Times New Roman" panose="02020603050405020304" charset="0"/>
              <a:cs typeface="Times New Roman" panose="02020603050405020304" charset="0"/>
            </a:endParaRPr>
          </a:p>
          <a:p>
            <a:pPr marL="177800" indent="-177800">
              <a:lnSpc>
                <a:spcPts val="1500"/>
              </a:lnSpc>
              <a:spcAft>
                <a:spcPts val="800"/>
              </a:spcAft>
              <a:buSzPct val="100000"/>
              <a:buChar char="•"/>
            </a:pPr>
            <a:r>
              <a:rPr lang="en-US" sz="1100" dirty="0">
                <a:solidFill>
                  <a:srgbClr val="D9E2FF"/>
                </a:solidFill>
                <a:latin typeface="Times New Roman" panose="02020603050405020304" charset="0"/>
                <a:ea typeface="Calibri" panose="020F0502020204030204" pitchFamily="34" charset="-122"/>
                <a:cs typeface="Times New Roman" panose="02020603050405020304" charset="0"/>
              </a:rPr>
              <a:t>Consistent performance across all five failure modes (TWF, HDF, PWF, OSF, RNF).</a:t>
            </a:r>
            <a:endParaRPr lang="en-US" sz="1100" dirty="0">
              <a:latin typeface="Times New Roman" panose="02020603050405020304" charset="0"/>
              <a:cs typeface="Times New Roman" panose="02020603050405020304" charset="0"/>
            </a:endParaRPr>
          </a:p>
          <a:p>
            <a:pPr marL="177800" indent="-177800">
              <a:lnSpc>
                <a:spcPts val="1500"/>
              </a:lnSpc>
              <a:spcAft>
                <a:spcPts val="800"/>
              </a:spcAft>
              <a:buSzPct val="100000"/>
              <a:buChar char="•"/>
            </a:pPr>
            <a:r>
              <a:rPr lang="en-US" sz="1100" dirty="0">
                <a:solidFill>
                  <a:srgbClr val="D9E2FF"/>
                </a:solidFill>
                <a:latin typeface="Times New Roman" panose="02020603050405020304" charset="0"/>
                <a:ea typeface="Calibri" panose="020F0502020204030204" pitchFamily="34" charset="-122"/>
                <a:cs typeface="Times New Roman" panose="02020603050405020304" charset="0"/>
              </a:rPr>
              <a:t>Selected as the production model for real-time health scoring.</a:t>
            </a:r>
            <a:endParaRPr lang="en-US" sz="1100" dirty="0">
              <a:latin typeface="Times New Roman" panose="02020603050405020304" charset="0"/>
              <a:cs typeface="Times New Roman" panose="02020603050405020304" charset="0"/>
            </a:endParaRPr>
          </a:p>
        </p:txBody>
      </p:sp>
      <p:pic>
        <p:nvPicPr>
          <p:cNvPr id="16" name="Picture 15" descr="Screenshot (76)"/>
          <p:cNvPicPr>
            <a:picLocks noChangeAspect="1"/>
          </p:cNvPicPr>
          <p:nvPr/>
        </p:nvPicPr>
        <p:blipFill>
          <a:blip r:embed="rId3"/>
          <a:srcRect l="16392" t="32350" r="45391" b="16259"/>
          <a:stretch>
            <a:fillRect/>
          </a:stretch>
        </p:blipFill>
        <p:spPr>
          <a:xfrm>
            <a:off x="7391400" y="1502410"/>
            <a:ext cx="4504690" cy="35102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8229600" cy="310896"/>
          </a:xfrm>
          <a:prstGeom prst="rect">
            <a:avLst/>
          </a:prstGeom>
          <a:noFill/>
        </p:spPr>
        <p:txBody>
          <a:bodyPr wrap="square" rtlCol="0" anchor="ctr"/>
          <a:lstStyle/>
          <a:p>
            <a:pPr marL="0" indent="0">
              <a:buNone/>
            </a:pPr>
            <a:r>
              <a:rPr lang="en-US" sz="1200" b="1" kern="0" spc="200" dirty="0">
                <a:solidFill>
                  <a:srgbClr val="1657E0"/>
                </a:solidFill>
                <a:latin typeface="Times New Roman" panose="02020603050405020304" charset="0"/>
                <a:ea typeface="Calibri" panose="020F0502020204030204" pitchFamily="34" charset="-122"/>
                <a:cs typeface="Times New Roman" panose="02020603050405020304" charset="0"/>
              </a:rPr>
              <a:t>SAMPLE PREDICTIONS</a:t>
            </a:r>
            <a:endParaRPr lang="en-US" sz="1200" dirty="0">
              <a:latin typeface="Times New Roman" panose="02020603050405020304" charset="0"/>
              <a:cs typeface="Times New Roman" panose="02020603050405020304" charset="0"/>
            </a:endParaRPr>
          </a:p>
        </p:txBody>
      </p:sp>
      <p:sp>
        <p:nvSpPr>
          <p:cNvPr id="3" name="Text 1"/>
          <p:cNvSpPr/>
          <p:nvPr/>
        </p:nvSpPr>
        <p:spPr>
          <a:xfrm>
            <a:off x="530352" y="640080"/>
            <a:ext cx="11155680" cy="868680"/>
          </a:xfrm>
          <a:prstGeom prst="rect">
            <a:avLst/>
          </a:prstGeom>
          <a:noFill/>
        </p:spPr>
        <p:txBody>
          <a:bodyPr wrap="square" rtlCol="0" anchor="ctr"/>
          <a:lstStyle/>
          <a:p>
            <a:pPr marL="0" indent="0">
              <a:buNone/>
            </a:pPr>
            <a:r>
              <a:rPr lang="en-US" sz="3000" b="1" dirty="0">
                <a:solidFill>
                  <a:srgbClr val="0F1B33"/>
                </a:solidFill>
                <a:latin typeface="Times New Roman" panose="02020603050405020304" charset="0"/>
                <a:ea typeface="Segoe UI" panose="020B0502040204020203" pitchFamily="34" charset="-122"/>
                <a:cs typeface="Times New Roman" panose="02020603050405020304" charset="0"/>
              </a:rPr>
              <a:t>From Raw Sensor Data to Actionable Health Insights</a:t>
            </a:r>
            <a:endParaRPr lang="en-US" sz="3000" dirty="0">
              <a:latin typeface="Times New Roman" panose="02020603050405020304" charset="0"/>
              <a:cs typeface="Times New Roman" panose="02020603050405020304" charset="0"/>
            </a:endParaRPr>
          </a:p>
        </p:txBody>
      </p:sp>
      <p:sp>
        <p:nvSpPr>
          <p:cNvPr id="4" name="Text 2"/>
          <p:cNvSpPr/>
          <p:nvPr/>
        </p:nvSpPr>
        <p:spPr>
          <a:xfrm>
            <a:off x="548640" y="1417320"/>
            <a:ext cx="11064240" cy="457200"/>
          </a:xfrm>
          <a:prstGeom prst="rect">
            <a:avLst/>
          </a:prstGeom>
          <a:noFill/>
        </p:spPr>
        <p:txBody>
          <a:bodyPr wrap="square" rtlCol="0" anchor="ctr"/>
          <a:lstStyle/>
          <a:p>
            <a:pPr marL="0" indent="0">
              <a:buNone/>
            </a:pPr>
            <a:r>
              <a:rPr lang="en-US" sz="1600" dirty="0">
                <a:solidFill>
                  <a:srgbClr val="56607A"/>
                </a:solidFill>
                <a:latin typeface="Times New Roman" panose="02020603050405020304" charset="0"/>
                <a:ea typeface="Calibri" panose="020F0502020204030204" pitchFamily="34" charset="-122"/>
                <a:cs typeface="Times New Roman" panose="02020603050405020304" charset="0"/>
              </a:rPr>
              <a:t>Two live examples showing how the model turns sensor readings into a health score, failure probability, and a recommended action.</a:t>
            </a:r>
            <a:endParaRPr lang="en-US" sz="1600" dirty="0">
              <a:latin typeface="Times New Roman" panose="02020603050405020304" charset="0"/>
              <a:cs typeface="Times New Roman" panose="02020603050405020304" charset="0"/>
            </a:endParaRPr>
          </a:p>
        </p:txBody>
      </p:sp>
      <p:sp>
        <p:nvSpPr>
          <p:cNvPr id="5" name="Shape 3"/>
          <p:cNvSpPr/>
          <p:nvPr/>
        </p:nvSpPr>
        <p:spPr>
          <a:xfrm>
            <a:off x="548640" y="2103120"/>
            <a:ext cx="5394960" cy="4206240"/>
          </a:xfrm>
          <a:prstGeom prst="roundRect">
            <a:avLst>
              <a:gd name="adj" fmla="val 1957"/>
            </a:avLst>
          </a:prstGeom>
          <a:solidFill>
            <a:srgbClr val="FFFFFF"/>
          </a:solidFill>
          <a:ln w="19050">
            <a:solidFill>
              <a:srgbClr val="17A566"/>
            </a:solidFill>
            <a:prstDash val="solid"/>
          </a:ln>
          <a:effectLst>
            <a:outerShdw blurRad="101600" dist="25400" dir="5400000" algn="bl" rotWithShape="0">
              <a:srgbClr val="3A4A7A">
                <a:alpha val="16000"/>
              </a:srgbClr>
            </a:outerShdw>
          </a:effectLst>
        </p:spPr>
      </p:sp>
      <p:sp>
        <p:nvSpPr>
          <p:cNvPr id="6" name="Shape 4"/>
          <p:cNvSpPr/>
          <p:nvPr/>
        </p:nvSpPr>
        <p:spPr>
          <a:xfrm>
            <a:off x="841248" y="2286000"/>
            <a:ext cx="2377440" cy="365760"/>
          </a:xfrm>
          <a:prstGeom prst="roundRect">
            <a:avLst>
              <a:gd name="adj" fmla="val 50000"/>
            </a:avLst>
          </a:prstGeom>
          <a:solidFill>
            <a:srgbClr val="17A566"/>
          </a:solidFill>
        </p:spPr>
      </p:sp>
      <p:sp>
        <p:nvSpPr>
          <p:cNvPr id="7" name="Text 5"/>
          <p:cNvSpPr/>
          <p:nvPr/>
        </p:nvSpPr>
        <p:spPr>
          <a:xfrm>
            <a:off x="841248" y="2286000"/>
            <a:ext cx="2377440" cy="365760"/>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NORMAL OPERATION</a:t>
            </a:r>
            <a:endParaRPr lang="en-US" sz="1100" dirty="0"/>
          </a:p>
        </p:txBody>
      </p:sp>
      <p:sp>
        <p:nvSpPr>
          <p:cNvPr id="8" name="Text 6"/>
          <p:cNvSpPr/>
          <p:nvPr/>
        </p:nvSpPr>
        <p:spPr>
          <a:xfrm>
            <a:off x="841248" y="2743200"/>
            <a:ext cx="4754880" cy="347472"/>
          </a:xfrm>
          <a:prstGeom prst="rect">
            <a:avLst/>
          </a:prstGeom>
          <a:noFill/>
        </p:spPr>
        <p:txBody>
          <a:bodyPr wrap="square" rtlCol="0" anchor="ctr"/>
          <a:lstStyle/>
          <a:p>
            <a:pPr marL="0" indent="0">
              <a:buNone/>
            </a:pPr>
            <a:r>
              <a:rPr lang="en-US" sz="1600" b="1" dirty="0">
                <a:solidFill>
                  <a:srgbClr val="0F1B33"/>
                </a:solidFill>
                <a:latin typeface="Segoe UI" panose="020B0502040204020203" pitchFamily="34" charset="0"/>
                <a:ea typeface="Segoe UI" panose="020B0502040204020203" pitchFamily="34" charset="-122"/>
                <a:cs typeface="Segoe UI" panose="020B0502040204020203" pitchFamily="34" charset="-120"/>
              </a:rPr>
              <a:t>Machine #A-104 — Healthy</a:t>
            </a:r>
            <a:endParaRPr lang="en-US" sz="1600" dirty="0"/>
          </a:p>
        </p:txBody>
      </p:sp>
      <p:sp>
        <p:nvSpPr>
          <p:cNvPr id="9" name="Text 7"/>
          <p:cNvSpPr/>
          <p:nvPr/>
        </p:nvSpPr>
        <p:spPr>
          <a:xfrm>
            <a:off x="841248" y="3182112"/>
            <a:ext cx="2743200" cy="274320"/>
          </a:xfrm>
          <a:prstGeom prst="rect">
            <a:avLst/>
          </a:prstGeom>
          <a:noFill/>
        </p:spPr>
        <p:txBody>
          <a:bodyPr wrap="square" rtlCol="0" anchor="ctr"/>
          <a:lstStyle/>
          <a:p>
            <a:pPr marL="0" indent="0">
              <a:buNone/>
            </a:pPr>
            <a:r>
              <a:rPr lang="en-US" sz="1050" b="1" dirty="0">
                <a:solidFill>
                  <a:srgbClr val="56607A"/>
                </a:solidFill>
                <a:latin typeface="Calibri" panose="020F0502020204030204" pitchFamily="34" charset="0"/>
                <a:ea typeface="Calibri" panose="020F0502020204030204" pitchFamily="34" charset="-122"/>
                <a:cs typeface="Calibri" panose="020F0502020204030204" pitchFamily="34" charset="-120"/>
              </a:rPr>
              <a:t>Machine Health Score</a:t>
            </a:r>
            <a:endParaRPr lang="en-US" sz="1050" dirty="0"/>
          </a:p>
        </p:txBody>
      </p:sp>
      <p:sp>
        <p:nvSpPr>
          <p:cNvPr id="10" name="Text 8"/>
          <p:cNvSpPr/>
          <p:nvPr/>
        </p:nvSpPr>
        <p:spPr>
          <a:xfrm>
            <a:off x="4480560" y="3108960"/>
            <a:ext cx="1188720" cy="384048"/>
          </a:xfrm>
          <a:prstGeom prst="rect">
            <a:avLst/>
          </a:prstGeom>
          <a:noFill/>
        </p:spPr>
        <p:txBody>
          <a:bodyPr wrap="square" rtlCol="0" anchor="ctr"/>
          <a:lstStyle/>
          <a:p>
            <a:pPr marL="0" indent="0" algn="r">
              <a:buNone/>
            </a:pPr>
            <a:r>
              <a:rPr lang="en-US" sz="1700" b="1" dirty="0">
                <a:solidFill>
                  <a:srgbClr val="17A566"/>
                </a:solidFill>
                <a:latin typeface="Segoe UI" panose="020B0502040204020203" pitchFamily="34" charset="0"/>
                <a:ea typeface="Segoe UI" panose="020B0502040204020203" pitchFamily="34" charset="-122"/>
                <a:cs typeface="Segoe UI" panose="020B0502040204020203" pitchFamily="34" charset="-120"/>
              </a:rPr>
              <a:t>92%</a:t>
            </a:r>
            <a:endParaRPr lang="en-US" sz="1700" dirty="0"/>
          </a:p>
        </p:txBody>
      </p:sp>
      <p:sp>
        <p:nvSpPr>
          <p:cNvPr id="11" name="Shape 9"/>
          <p:cNvSpPr/>
          <p:nvPr/>
        </p:nvSpPr>
        <p:spPr>
          <a:xfrm>
            <a:off x="841248" y="3520440"/>
            <a:ext cx="4800600" cy="237744"/>
          </a:xfrm>
          <a:prstGeom prst="roundRect">
            <a:avLst>
              <a:gd name="adj" fmla="val 50000"/>
            </a:avLst>
          </a:prstGeom>
          <a:solidFill>
            <a:srgbClr val="E4E9F7"/>
          </a:solidFill>
        </p:spPr>
      </p:sp>
      <p:sp>
        <p:nvSpPr>
          <p:cNvPr id="12" name="Shape 10"/>
          <p:cNvSpPr/>
          <p:nvPr/>
        </p:nvSpPr>
        <p:spPr>
          <a:xfrm>
            <a:off x="841248" y="3520440"/>
            <a:ext cx="4416552" cy="237744"/>
          </a:xfrm>
          <a:prstGeom prst="roundRect">
            <a:avLst>
              <a:gd name="adj" fmla="val 50000"/>
            </a:avLst>
          </a:prstGeom>
          <a:solidFill>
            <a:srgbClr val="17A566"/>
          </a:solidFill>
        </p:spPr>
      </p:sp>
      <p:sp>
        <p:nvSpPr>
          <p:cNvPr id="13" name="Text 11"/>
          <p:cNvSpPr/>
          <p:nvPr/>
        </p:nvSpPr>
        <p:spPr>
          <a:xfrm>
            <a:off x="841248" y="3886200"/>
            <a:ext cx="2743200" cy="274320"/>
          </a:xfrm>
          <a:prstGeom prst="rect">
            <a:avLst/>
          </a:prstGeom>
          <a:noFill/>
        </p:spPr>
        <p:txBody>
          <a:bodyPr wrap="square" rtlCol="0" anchor="ctr"/>
          <a:lstStyle/>
          <a:p>
            <a:pPr marL="0" indent="0">
              <a:buNone/>
            </a:pPr>
            <a:r>
              <a:rPr lang="en-US" sz="1050" b="1" dirty="0">
                <a:solidFill>
                  <a:srgbClr val="56607A"/>
                </a:solidFill>
                <a:latin typeface="Calibri" panose="020F0502020204030204" pitchFamily="34" charset="0"/>
                <a:ea typeface="Calibri" panose="020F0502020204030204" pitchFamily="34" charset="-122"/>
                <a:cs typeface="Calibri" panose="020F0502020204030204" pitchFamily="34" charset="-120"/>
              </a:rPr>
              <a:t>Failure Probability</a:t>
            </a:r>
            <a:endParaRPr lang="en-US" sz="1050" dirty="0"/>
          </a:p>
        </p:txBody>
      </p:sp>
      <p:sp>
        <p:nvSpPr>
          <p:cNvPr id="14" name="Text 12"/>
          <p:cNvSpPr/>
          <p:nvPr/>
        </p:nvSpPr>
        <p:spPr>
          <a:xfrm>
            <a:off x="4480560" y="3813048"/>
            <a:ext cx="1188720" cy="384048"/>
          </a:xfrm>
          <a:prstGeom prst="rect">
            <a:avLst/>
          </a:prstGeom>
          <a:noFill/>
        </p:spPr>
        <p:txBody>
          <a:bodyPr wrap="square" rtlCol="0" anchor="ctr"/>
          <a:lstStyle/>
          <a:p>
            <a:pPr marL="0" indent="0" algn="r">
              <a:buNone/>
            </a:pPr>
            <a:r>
              <a:rPr lang="en-US" sz="1700" b="1" dirty="0">
                <a:solidFill>
                  <a:srgbClr val="17A566"/>
                </a:solidFill>
                <a:latin typeface="Segoe UI" panose="020B0502040204020203" pitchFamily="34" charset="0"/>
                <a:ea typeface="Segoe UI" panose="020B0502040204020203" pitchFamily="34" charset="-122"/>
                <a:cs typeface="Segoe UI" panose="020B0502040204020203" pitchFamily="34" charset="-120"/>
              </a:rPr>
              <a:t>4%</a:t>
            </a:r>
            <a:endParaRPr lang="en-US" sz="1700" dirty="0"/>
          </a:p>
        </p:txBody>
      </p:sp>
      <p:sp>
        <p:nvSpPr>
          <p:cNvPr id="15" name="Shape 13"/>
          <p:cNvSpPr/>
          <p:nvPr/>
        </p:nvSpPr>
        <p:spPr>
          <a:xfrm>
            <a:off x="841248" y="4224528"/>
            <a:ext cx="4800600" cy="237744"/>
          </a:xfrm>
          <a:prstGeom prst="roundRect">
            <a:avLst>
              <a:gd name="adj" fmla="val 50000"/>
            </a:avLst>
          </a:prstGeom>
          <a:solidFill>
            <a:srgbClr val="E4E9F7"/>
          </a:solidFill>
        </p:spPr>
      </p:sp>
      <p:sp>
        <p:nvSpPr>
          <p:cNvPr id="16" name="Shape 14"/>
          <p:cNvSpPr/>
          <p:nvPr/>
        </p:nvSpPr>
        <p:spPr>
          <a:xfrm>
            <a:off x="841248" y="4224528"/>
            <a:ext cx="237744" cy="237744"/>
          </a:xfrm>
          <a:prstGeom prst="roundRect">
            <a:avLst>
              <a:gd name="adj" fmla="val 50000"/>
            </a:avLst>
          </a:prstGeom>
          <a:solidFill>
            <a:srgbClr val="17A566"/>
          </a:solidFill>
        </p:spPr>
      </p:sp>
      <p:sp>
        <p:nvSpPr>
          <p:cNvPr id="17" name="Shape 15"/>
          <p:cNvSpPr/>
          <p:nvPr/>
        </p:nvSpPr>
        <p:spPr>
          <a:xfrm>
            <a:off x="841248" y="4709160"/>
            <a:ext cx="4800600" cy="0"/>
          </a:xfrm>
          <a:prstGeom prst="line">
            <a:avLst/>
          </a:prstGeom>
          <a:noFill/>
          <a:ln w="12700">
            <a:solidFill>
              <a:srgbClr val="E4E9F7"/>
            </a:solidFill>
            <a:prstDash val="solid"/>
          </a:ln>
        </p:spPr>
      </p:sp>
      <p:sp>
        <p:nvSpPr>
          <p:cNvPr id="18" name="Text 16"/>
          <p:cNvSpPr/>
          <p:nvPr/>
        </p:nvSpPr>
        <p:spPr>
          <a:xfrm>
            <a:off x="841248" y="4800600"/>
            <a:ext cx="4572000" cy="219456"/>
          </a:xfrm>
          <a:prstGeom prst="rect">
            <a:avLst/>
          </a:prstGeom>
          <a:noFill/>
        </p:spPr>
        <p:txBody>
          <a:bodyPr wrap="square" rtlCol="0" anchor="ctr"/>
          <a:lstStyle/>
          <a:p>
            <a:pPr marL="0" indent="0">
              <a:buNone/>
            </a:pPr>
            <a:r>
              <a:rPr lang="en-US" sz="900" b="1" kern="0" spc="100" dirty="0">
                <a:solidFill>
                  <a:srgbClr val="56607A"/>
                </a:solidFill>
                <a:latin typeface="Calibri" panose="020F0502020204030204" pitchFamily="34" charset="0"/>
                <a:ea typeface="Calibri" panose="020F0502020204030204" pitchFamily="34" charset="-122"/>
                <a:cs typeface="Calibri" panose="020F0502020204030204" pitchFamily="34" charset="-120"/>
              </a:rPr>
              <a:t>KEY SENSOR SIGNALS</a:t>
            </a:r>
            <a:endParaRPr lang="en-US" sz="900" dirty="0"/>
          </a:p>
        </p:txBody>
      </p:sp>
      <p:sp>
        <p:nvSpPr>
          <p:cNvPr id="19" name="Text 17"/>
          <p:cNvSpPr/>
          <p:nvPr/>
        </p:nvSpPr>
        <p:spPr>
          <a:xfrm>
            <a:off x="841248" y="5029200"/>
            <a:ext cx="4800600" cy="292608"/>
          </a:xfrm>
          <a:prstGeom prst="rect">
            <a:avLst/>
          </a:prstGeom>
          <a:noFill/>
        </p:spPr>
        <p:txBody>
          <a:bodyPr wrap="square" rtlCol="0" anchor="ctr"/>
          <a:lstStyle/>
          <a:p>
            <a:pPr marL="0" indent="0">
              <a:buNone/>
            </a:pPr>
            <a:r>
              <a:rPr lang="en-US" sz="970" dirty="0">
                <a:solidFill>
                  <a:srgbClr val="0F1B33"/>
                </a:solidFill>
                <a:latin typeface="Calibri" panose="020F0502020204030204" pitchFamily="34" charset="0"/>
                <a:ea typeface="Calibri" panose="020F0502020204030204" pitchFamily="34" charset="-122"/>
                <a:cs typeface="Calibri" panose="020F0502020204030204" pitchFamily="34" charset="-120"/>
              </a:rPr>
              <a:t>Torque 42 Nm · Rotational Speed 1,510 rpm · Tool Wear 38 min</a:t>
            </a:r>
            <a:endParaRPr lang="en-US" sz="970" dirty="0"/>
          </a:p>
        </p:txBody>
      </p:sp>
      <p:sp>
        <p:nvSpPr>
          <p:cNvPr id="20" name="Text 18"/>
          <p:cNvSpPr/>
          <p:nvPr/>
        </p:nvSpPr>
        <p:spPr>
          <a:xfrm>
            <a:off x="841248" y="5376672"/>
            <a:ext cx="4572000" cy="201168"/>
          </a:xfrm>
          <a:prstGeom prst="rect">
            <a:avLst/>
          </a:prstGeom>
          <a:noFill/>
        </p:spPr>
        <p:txBody>
          <a:bodyPr wrap="square" rtlCol="0" anchor="ctr"/>
          <a:lstStyle/>
          <a:p>
            <a:pPr marL="0" indent="0">
              <a:buNone/>
            </a:pPr>
            <a:r>
              <a:rPr lang="en-US" sz="900" b="1" kern="0" spc="100" dirty="0">
                <a:solidFill>
                  <a:srgbClr val="17A566"/>
                </a:solidFill>
                <a:latin typeface="Calibri" panose="020F0502020204030204" pitchFamily="34" charset="0"/>
                <a:ea typeface="Calibri" panose="020F0502020204030204" pitchFamily="34" charset="-122"/>
                <a:cs typeface="Calibri" panose="020F0502020204030204" pitchFamily="34" charset="-120"/>
              </a:rPr>
              <a:t>RECOMMENDED ACTION</a:t>
            </a:r>
            <a:endParaRPr lang="en-US" sz="900" dirty="0"/>
          </a:p>
        </p:txBody>
      </p:sp>
      <p:sp>
        <p:nvSpPr>
          <p:cNvPr id="21" name="Text 19"/>
          <p:cNvSpPr/>
          <p:nvPr/>
        </p:nvSpPr>
        <p:spPr>
          <a:xfrm>
            <a:off x="841248" y="5577840"/>
            <a:ext cx="4846320" cy="621792"/>
          </a:xfrm>
          <a:prstGeom prst="rect">
            <a:avLst/>
          </a:prstGeom>
          <a:noFill/>
        </p:spPr>
        <p:txBody>
          <a:bodyPr wrap="square" rtlCol="0" anchor="ctr"/>
          <a:lstStyle/>
          <a:p>
            <a:pPr marL="0" indent="0">
              <a:lnSpc>
                <a:spcPts val="1200"/>
              </a:lnSpc>
              <a:buNone/>
            </a:pPr>
            <a:r>
              <a:rPr lang="en-US" sz="980" i="1" dirty="0">
                <a:solidFill>
                  <a:srgbClr val="0F1B33"/>
                </a:solidFill>
                <a:latin typeface="Calibri" panose="020F0502020204030204" pitchFamily="34" charset="0"/>
                <a:ea typeface="Calibri" panose="020F0502020204030204" pitchFamily="34" charset="-122"/>
                <a:cs typeface="Calibri" panose="020F0502020204030204" pitchFamily="34" charset="-120"/>
              </a:rPr>
              <a:t>Continue standard monitoring schedule — no action needed at this time.</a:t>
            </a:r>
            <a:endParaRPr lang="en-US" sz="980" dirty="0"/>
          </a:p>
        </p:txBody>
      </p:sp>
      <p:sp>
        <p:nvSpPr>
          <p:cNvPr id="22" name="Shape 20"/>
          <p:cNvSpPr/>
          <p:nvPr/>
        </p:nvSpPr>
        <p:spPr>
          <a:xfrm>
            <a:off x="6245352" y="2103120"/>
            <a:ext cx="5394960" cy="4206240"/>
          </a:xfrm>
          <a:prstGeom prst="roundRect">
            <a:avLst>
              <a:gd name="adj" fmla="val 1957"/>
            </a:avLst>
          </a:prstGeom>
          <a:solidFill>
            <a:srgbClr val="FFFFFF"/>
          </a:solidFill>
          <a:ln w="19050">
            <a:solidFill>
              <a:srgbClr val="DC3545"/>
            </a:solidFill>
            <a:prstDash val="solid"/>
          </a:ln>
          <a:effectLst>
            <a:outerShdw blurRad="101600" dist="25400" dir="5400000" algn="bl" rotWithShape="0">
              <a:srgbClr val="3A4A7A">
                <a:alpha val="16000"/>
              </a:srgbClr>
            </a:outerShdw>
          </a:effectLst>
        </p:spPr>
      </p:sp>
      <p:sp>
        <p:nvSpPr>
          <p:cNvPr id="23" name="Shape 21"/>
          <p:cNvSpPr/>
          <p:nvPr/>
        </p:nvSpPr>
        <p:spPr>
          <a:xfrm>
            <a:off x="6537960" y="2286000"/>
            <a:ext cx="2377440" cy="365760"/>
          </a:xfrm>
          <a:prstGeom prst="roundRect">
            <a:avLst>
              <a:gd name="adj" fmla="val 50000"/>
            </a:avLst>
          </a:prstGeom>
          <a:solidFill>
            <a:srgbClr val="DC3545"/>
          </a:solidFill>
        </p:spPr>
      </p:sp>
      <p:sp>
        <p:nvSpPr>
          <p:cNvPr id="24" name="Text 22"/>
          <p:cNvSpPr/>
          <p:nvPr/>
        </p:nvSpPr>
        <p:spPr>
          <a:xfrm>
            <a:off x="6537960" y="2286000"/>
            <a:ext cx="2377440" cy="365760"/>
          </a:xfrm>
          <a:prstGeom prst="rect">
            <a:avLst/>
          </a:prstGeom>
          <a:noFill/>
        </p:spPr>
        <p:txBody>
          <a:bodyPr wrap="square"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CRITICAL — ATTENTION NEEDED</a:t>
            </a:r>
            <a:endParaRPr lang="en-US" sz="1100" dirty="0"/>
          </a:p>
        </p:txBody>
      </p:sp>
      <p:sp>
        <p:nvSpPr>
          <p:cNvPr id="25" name="Text 23"/>
          <p:cNvSpPr/>
          <p:nvPr/>
        </p:nvSpPr>
        <p:spPr>
          <a:xfrm>
            <a:off x="6537960" y="2743200"/>
            <a:ext cx="4754880" cy="347472"/>
          </a:xfrm>
          <a:prstGeom prst="rect">
            <a:avLst/>
          </a:prstGeom>
          <a:noFill/>
        </p:spPr>
        <p:txBody>
          <a:bodyPr wrap="square" rtlCol="0" anchor="ctr"/>
          <a:lstStyle/>
          <a:p>
            <a:pPr marL="0" indent="0">
              <a:buNone/>
            </a:pPr>
            <a:r>
              <a:rPr lang="en-US" sz="1600" b="1" dirty="0">
                <a:solidFill>
                  <a:srgbClr val="0F1B33"/>
                </a:solidFill>
                <a:latin typeface="Segoe UI" panose="020B0502040204020203" pitchFamily="34" charset="0"/>
                <a:ea typeface="Segoe UI" panose="020B0502040204020203" pitchFamily="34" charset="-122"/>
                <a:cs typeface="Segoe UI" panose="020B0502040204020203" pitchFamily="34" charset="-120"/>
              </a:rPr>
              <a:t>Machine #C-217 — High Risk</a:t>
            </a:r>
            <a:endParaRPr lang="en-US" sz="1600" dirty="0"/>
          </a:p>
        </p:txBody>
      </p:sp>
      <p:sp>
        <p:nvSpPr>
          <p:cNvPr id="26" name="Text 24"/>
          <p:cNvSpPr/>
          <p:nvPr/>
        </p:nvSpPr>
        <p:spPr>
          <a:xfrm>
            <a:off x="6537960" y="3182112"/>
            <a:ext cx="2743200" cy="274320"/>
          </a:xfrm>
          <a:prstGeom prst="rect">
            <a:avLst/>
          </a:prstGeom>
          <a:noFill/>
        </p:spPr>
        <p:txBody>
          <a:bodyPr wrap="square" rtlCol="0" anchor="ctr"/>
          <a:lstStyle/>
          <a:p>
            <a:pPr marL="0" indent="0">
              <a:buNone/>
            </a:pPr>
            <a:r>
              <a:rPr lang="en-US" sz="1050" b="1" dirty="0">
                <a:solidFill>
                  <a:srgbClr val="56607A"/>
                </a:solidFill>
                <a:latin typeface="Calibri" panose="020F0502020204030204" pitchFamily="34" charset="0"/>
                <a:ea typeface="Calibri" panose="020F0502020204030204" pitchFamily="34" charset="-122"/>
                <a:cs typeface="Calibri" panose="020F0502020204030204" pitchFamily="34" charset="-120"/>
              </a:rPr>
              <a:t>Machine Health Score</a:t>
            </a:r>
            <a:endParaRPr lang="en-US" sz="1050" dirty="0"/>
          </a:p>
        </p:txBody>
      </p:sp>
      <p:sp>
        <p:nvSpPr>
          <p:cNvPr id="27" name="Text 25"/>
          <p:cNvSpPr/>
          <p:nvPr/>
        </p:nvSpPr>
        <p:spPr>
          <a:xfrm>
            <a:off x="10177272" y="3108960"/>
            <a:ext cx="1188720" cy="384048"/>
          </a:xfrm>
          <a:prstGeom prst="rect">
            <a:avLst/>
          </a:prstGeom>
          <a:noFill/>
        </p:spPr>
        <p:txBody>
          <a:bodyPr wrap="square" rtlCol="0" anchor="ctr"/>
          <a:lstStyle/>
          <a:p>
            <a:pPr marL="0" indent="0" algn="r">
              <a:buNone/>
            </a:pPr>
            <a:r>
              <a:rPr lang="en-US" sz="1700" b="1" dirty="0">
                <a:solidFill>
                  <a:srgbClr val="DC3545"/>
                </a:solidFill>
                <a:latin typeface="Segoe UI" panose="020B0502040204020203" pitchFamily="34" charset="0"/>
                <a:ea typeface="Segoe UI" panose="020B0502040204020203" pitchFamily="34" charset="-122"/>
                <a:cs typeface="Segoe UI" panose="020B0502040204020203" pitchFamily="34" charset="-120"/>
              </a:rPr>
              <a:t>27%</a:t>
            </a:r>
            <a:endParaRPr lang="en-US" sz="1700" dirty="0"/>
          </a:p>
        </p:txBody>
      </p:sp>
      <p:sp>
        <p:nvSpPr>
          <p:cNvPr id="28" name="Shape 26"/>
          <p:cNvSpPr/>
          <p:nvPr/>
        </p:nvSpPr>
        <p:spPr>
          <a:xfrm>
            <a:off x="6537960" y="3520440"/>
            <a:ext cx="4800600" cy="237744"/>
          </a:xfrm>
          <a:prstGeom prst="roundRect">
            <a:avLst>
              <a:gd name="adj" fmla="val 50000"/>
            </a:avLst>
          </a:prstGeom>
          <a:solidFill>
            <a:srgbClr val="E4E9F7"/>
          </a:solidFill>
        </p:spPr>
      </p:sp>
      <p:sp>
        <p:nvSpPr>
          <p:cNvPr id="29" name="Shape 27"/>
          <p:cNvSpPr/>
          <p:nvPr/>
        </p:nvSpPr>
        <p:spPr>
          <a:xfrm>
            <a:off x="6537960" y="3520440"/>
            <a:ext cx="1296162" cy="237744"/>
          </a:xfrm>
          <a:prstGeom prst="roundRect">
            <a:avLst>
              <a:gd name="adj" fmla="val 50000"/>
            </a:avLst>
          </a:prstGeom>
          <a:solidFill>
            <a:srgbClr val="DC3545"/>
          </a:solidFill>
        </p:spPr>
      </p:sp>
      <p:sp>
        <p:nvSpPr>
          <p:cNvPr id="30" name="Text 28"/>
          <p:cNvSpPr/>
          <p:nvPr/>
        </p:nvSpPr>
        <p:spPr>
          <a:xfrm>
            <a:off x="6537960" y="3886200"/>
            <a:ext cx="2743200" cy="274320"/>
          </a:xfrm>
          <a:prstGeom prst="rect">
            <a:avLst/>
          </a:prstGeom>
          <a:noFill/>
        </p:spPr>
        <p:txBody>
          <a:bodyPr wrap="square" rtlCol="0" anchor="ctr"/>
          <a:lstStyle/>
          <a:p>
            <a:pPr marL="0" indent="0">
              <a:buNone/>
            </a:pPr>
            <a:r>
              <a:rPr lang="en-US" sz="1050" b="1" dirty="0">
                <a:solidFill>
                  <a:srgbClr val="56607A"/>
                </a:solidFill>
                <a:latin typeface="Calibri" panose="020F0502020204030204" pitchFamily="34" charset="0"/>
                <a:ea typeface="Calibri" panose="020F0502020204030204" pitchFamily="34" charset="-122"/>
                <a:cs typeface="Calibri" panose="020F0502020204030204" pitchFamily="34" charset="-120"/>
              </a:rPr>
              <a:t>Failure Probability</a:t>
            </a:r>
            <a:endParaRPr lang="en-US" sz="1050" dirty="0"/>
          </a:p>
        </p:txBody>
      </p:sp>
      <p:sp>
        <p:nvSpPr>
          <p:cNvPr id="31" name="Text 29"/>
          <p:cNvSpPr/>
          <p:nvPr/>
        </p:nvSpPr>
        <p:spPr>
          <a:xfrm>
            <a:off x="10177272" y="3813048"/>
            <a:ext cx="1188720" cy="384048"/>
          </a:xfrm>
          <a:prstGeom prst="rect">
            <a:avLst/>
          </a:prstGeom>
          <a:noFill/>
        </p:spPr>
        <p:txBody>
          <a:bodyPr wrap="square" rtlCol="0" anchor="ctr"/>
          <a:lstStyle/>
          <a:p>
            <a:pPr marL="0" indent="0" algn="r">
              <a:buNone/>
            </a:pPr>
            <a:r>
              <a:rPr lang="en-US" sz="1700" b="1" dirty="0">
                <a:solidFill>
                  <a:srgbClr val="DC3545"/>
                </a:solidFill>
                <a:latin typeface="Segoe UI" panose="020B0502040204020203" pitchFamily="34" charset="0"/>
                <a:ea typeface="Segoe UI" panose="020B0502040204020203" pitchFamily="34" charset="-122"/>
                <a:cs typeface="Segoe UI" panose="020B0502040204020203" pitchFamily="34" charset="-120"/>
              </a:rPr>
              <a:t>86%</a:t>
            </a:r>
            <a:endParaRPr lang="en-US" sz="1700" dirty="0"/>
          </a:p>
        </p:txBody>
      </p:sp>
      <p:sp>
        <p:nvSpPr>
          <p:cNvPr id="32" name="Shape 30"/>
          <p:cNvSpPr/>
          <p:nvPr/>
        </p:nvSpPr>
        <p:spPr>
          <a:xfrm>
            <a:off x="6537960" y="4224528"/>
            <a:ext cx="4800600" cy="237744"/>
          </a:xfrm>
          <a:prstGeom prst="roundRect">
            <a:avLst>
              <a:gd name="adj" fmla="val 50000"/>
            </a:avLst>
          </a:prstGeom>
          <a:solidFill>
            <a:srgbClr val="E4E9F7"/>
          </a:solidFill>
        </p:spPr>
      </p:sp>
      <p:sp>
        <p:nvSpPr>
          <p:cNvPr id="33" name="Shape 31"/>
          <p:cNvSpPr/>
          <p:nvPr/>
        </p:nvSpPr>
        <p:spPr>
          <a:xfrm>
            <a:off x="6537960" y="4224528"/>
            <a:ext cx="4128516" cy="237744"/>
          </a:xfrm>
          <a:prstGeom prst="roundRect">
            <a:avLst>
              <a:gd name="adj" fmla="val 50000"/>
            </a:avLst>
          </a:prstGeom>
          <a:solidFill>
            <a:srgbClr val="DC3545"/>
          </a:solidFill>
        </p:spPr>
      </p:sp>
      <p:sp>
        <p:nvSpPr>
          <p:cNvPr id="34" name="Shape 32"/>
          <p:cNvSpPr/>
          <p:nvPr/>
        </p:nvSpPr>
        <p:spPr>
          <a:xfrm>
            <a:off x="6537960" y="4709160"/>
            <a:ext cx="4800600" cy="0"/>
          </a:xfrm>
          <a:prstGeom prst="line">
            <a:avLst/>
          </a:prstGeom>
          <a:noFill/>
          <a:ln w="12700">
            <a:solidFill>
              <a:srgbClr val="E4E9F7"/>
            </a:solidFill>
            <a:prstDash val="solid"/>
          </a:ln>
        </p:spPr>
      </p:sp>
      <p:sp>
        <p:nvSpPr>
          <p:cNvPr id="35" name="Text 33"/>
          <p:cNvSpPr/>
          <p:nvPr/>
        </p:nvSpPr>
        <p:spPr>
          <a:xfrm>
            <a:off x="6537960" y="4800600"/>
            <a:ext cx="4572000" cy="219456"/>
          </a:xfrm>
          <a:prstGeom prst="rect">
            <a:avLst/>
          </a:prstGeom>
          <a:noFill/>
        </p:spPr>
        <p:txBody>
          <a:bodyPr wrap="square" rtlCol="0" anchor="ctr"/>
          <a:lstStyle/>
          <a:p>
            <a:pPr marL="0" indent="0">
              <a:buNone/>
            </a:pPr>
            <a:r>
              <a:rPr lang="en-US" sz="900" b="1" kern="0" spc="100" dirty="0">
                <a:solidFill>
                  <a:srgbClr val="56607A"/>
                </a:solidFill>
                <a:latin typeface="Calibri" panose="020F0502020204030204" pitchFamily="34" charset="0"/>
                <a:ea typeface="Calibri" panose="020F0502020204030204" pitchFamily="34" charset="-122"/>
                <a:cs typeface="Calibri" panose="020F0502020204030204" pitchFamily="34" charset="-120"/>
              </a:rPr>
              <a:t>KEY SENSOR SIGNALS</a:t>
            </a:r>
            <a:endParaRPr lang="en-US" sz="900" dirty="0"/>
          </a:p>
        </p:txBody>
      </p:sp>
      <p:sp>
        <p:nvSpPr>
          <p:cNvPr id="36" name="Text 34"/>
          <p:cNvSpPr/>
          <p:nvPr/>
        </p:nvSpPr>
        <p:spPr>
          <a:xfrm>
            <a:off x="6537960" y="5029200"/>
            <a:ext cx="4800600" cy="292608"/>
          </a:xfrm>
          <a:prstGeom prst="rect">
            <a:avLst/>
          </a:prstGeom>
          <a:noFill/>
        </p:spPr>
        <p:txBody>
          <a:bodyPr wrap="square" rtlCol="0" anchor="ctr"/>
          <a:lstStyle/>
          <a:p>
            <a:pPr marL="0" indent="0">
              <a:buNone/>
            </a:pPr>
            <a:r>
              <a:rPr lang="en-US" sz="970" dirty="0">
                <a:solidFill>
                  <a:srgbClr val="0F1B33"/>
                </a:solidFill>
                <a:latin typeface="Calibri" panose="020F0502020204030204" pitchFamily="34" charset="0"/>
                <a:ea typeface="Calibri" panose="020F0502020204030204" pitchFamily="34" charset="-122"/>
                <a:cs typeface="Calibri" panose="020F0502020204030204" pitchFamily="34" charset="-120"/>
              </a:rPr>
              <a:t>Torque 61 Nm · Rotational Speed 2,340 rpm · Tool Wear 214 min</a:t>
            </a:r>
            <a:endParaRPr lang="en-US" sz="970" dirty="0"/>
          </a:p>
        </p:txBody>
      </p:sp>
      <p:sp>
        <p:nvSpPr>
          <p:cNvPr id="37" name="Text 35"/>
          <p:cNvSpPr/>
          <p:nvPr/>
        </p:nvSpPr>
        <p:spPr>
          <a:xfrm>
            <a:off x="6537960" y="5376672"/>
            <a:ext cx="4572000" cy="201168"/>
          </a:xfrm>
          <a:prstGeom prst="rect">
            <a:avLst/>
          </a:prstGeom>
          <a:noFill/>
        </p:spPr>
        <p:txBody>
          <a:bodyPr wrap="square" rtlCol="0" anchor="ctr"/>
          <a:lstStyle/>
          <a:p>
            <a:pPr marL="0" indent="0">
              <a:buNone/>
            </a:pPr>
            <a:r>
              <a:rPr lang="en-US" sz="900" b="1" kern="0" spc="100" dirty="0">
                <a:solidFill>
                  <a:srgbClr val="DC3545"/>
                </a:solidFill>
                <a:latin typeface="Calibri" panose="020F0502020204030204" pitchFamily="34" charset="0"/>
                <a:ea typeface="Calibri" panose="020F0502020204030204" pitchFamily="34" charset="-122"/>
                <a:cs typeface="Calibri" panose="020F0502020204030204" pitchFamily="34" charset="-120"/>
              </a:rPr>
              <a:t>RECOMMENDED ACTION</a:t>
            </a:r>
            <a:endParaRPr lang="en-US" sz="900" dirty="0"/>
          </a:p>
        </p:txBody>
      </p:sp>
      <p:sp>
        <p:nvSpPr>
          <p:cNvPr id="38" name="Text 36"/>
          <p:cNvSpPr/>
          <p:nvPr/>
        </p:nvSpPr>
        <p:spPr>
          <a:xfrm>
            <a:off x="6537960" y="5577840"/>
            <a:ext cx="4846320" cy="621792"/>
          </a:xfrm>
          <a:prstGeom prst="rect">
            <a:avLst/>
          </a:prstGeom>
          <a:noFill/>
        </p:spPr>
        <p:txBody>
          <a:bodyPr wrap="square" rtlCol="0" anchor="ctr"/>
          <a:lstStyle/>
          <a:p>
            <a:pPr marL="0" indent="0">
              <a:lnSpc>
                <a:spcPts val="1200"/>
              </a:lnSpc>
              <a:buNone/>
            </a:pPr>
            <a:r>
              <a:rPr lang="en-US" sz="980" i="1" dirty="0">
                <a:solidFill>
                  <a:srgbClr val="0F1B33"/>
                </a:solidFill>
                <a:latin typeface="Calibri" panose="020F0502020204030204" pitchFamily="34" charset="0"/>
                <a:ea typeface="Calibri" panose="020F0502020204030204" pitchFamily="34" charset="-122"/>
                <a:cs typeface="Calibri" panose="020F0502020204030204" pitchFamily="34" charset="-120"/>
              </a:rPr>
              <a:t>Self-healing action: reduce load, inspect tool insert, and schedule immediate maintenance.</a:t>
            </a:r>
            <a:endParaRPr lang="en-US" sz="98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8229600" cy="310896"/>
          </a:xfrm>
          <a:prstGeom prst="rect">
            <a:avLst/>
          </a:prstGeom>
          <a:noFill/>
        </p:spPr>
        <p:txBody>
          <a:bodyPr wrap="square" rtlCol="0" anchor="ctr"/>
          <a:lstStyle/>
          <a:p>
            <a:pPr marL="0" indent="0">
              <a:buNone/>
            </a:pPr>
            <a:r>
              <a:rPr lang="en-US" sz="1200" b="1" kern="0" spc="200" dirty="0">
                <a:solidFill>
                  <a:srgbClr val="1657E0"/>
                </a:solidFill>
                <a:latin typeface="Times New Roman" panose="02020603050405020304" charset="0"/>
                <a:ea typeface="Calibri" panose="020F0502020204030204" pitchFamily="34" charset="-122"/>
                <a:cs typeface="Times New Roman" panose="02020603050405020304" charset="0"/>
              </a:rPr>
              <a:t>PROJECT PROGRESS</a:t>
            </a:r>
            <a:endParaRPr lang="en-US" sz="1200" dirty="0">
              <a:latin typeface="Times New Roman" panose="02020603050405020304" charset="0"/>
              <a:cs typeface="Times New Roman" panose="02020603050405020304" charset="0"/>
            </a:endParaRPr>
          </a:p>
        </p:txBody>
      </p:sp>
      <p:sp>
        <p:nvSpPr>
          <p:cNvPr id="3" name="Text 1"/>
          <p:cNvSpPr/>
          <p:nvPr/>
        </p:nvSpPr>
        <p:spPr>
          <a:xfrm>
            <a:off x="530352" y="640080"/>
            <a:ext cx="11155680" cy="868680"/>
          </a:xfrm>
          <a:prstGeom prst="rect">
            <a:avLst/>
          </a:prstGeom>
          <a:noFill/>
        </p:spPr>
        <p:txBody>
          <a:bodyPr wrap="square" rtlCol="0" anchor="ctr"/>
          <a:lstStyle/>
          <a:p>
            <a:pPr marL="0" indent="0">
              <a:buNone/>
            </a:pPr>
            <a:r>
              <a:rPr lang="en-US" sz="3000" b="1" dirty="0">
                <a:solidFill>
                  <a:srgbClr val="0F1B33"/>
                </a:solidFill>
                <a:latin typeface="Times New Roman" panose="02020603050405020304" charset="0"/>
                <a:ea typeface="Segoe UI" panose="020B0502040204020203" pitchFamily="34" charset="-122"/>
                <a:cs typeface="Times New Roman" panose="02020603050405020304" charset="0"/>
              </a:rPr>
              <a:t>85% Complete — On Track for Final Delivery</a:t>
            </a:r>
            <a:endParaRPr lang="en-US" sz="3000" dirty="0">
              <a:latin typeface="Times New Roman" panose="02020603050405020304" charset="0"/>
              <a:cs typeface="Times New Roman" panose="02020603050405020304" charset="0"/>
            </a:endParaRPr>
          </a:p>
        </p:txBody>
      </p:sp>
      <p:sp>
        <p:nvSpPr>
          <p:cNvPr id="4" name="Shape 2"/>
          <p:cNvSpPr/>
          <p:nvPr/>
        </p:nvSpPr>
        <p:spPr>
          <a:xfrm>
            <a:off x="548640" y="1554480"/>
            <a:ext cx="11064240" cy="1051560"/>
          </a:xfrm>
          <a:prstGeom prst="roundRect">
            <a:avLst>
              <a:gd name="adj" fmla="val 7826"/>
            </a:avLst>
          </a:prstGeom>
          <a:solidFill>
            <a:srgbClr val="FFFFFF"/>
          </a:solidFill>
          <a:effectLst>
            <a:outerShdw blurRad="101600" dist="25400" dir="5400000" algn="bl" rotWithShape="0">
              <a:srgbClr val="3A4A7A">
                <a:alpha val="16000"/>
              </a:srgbClr>
            </a:outerShdw>
          </a:effectLst>
        </p:spPr>
      </p:sp>
      <p:sp>
        <p:nvSpPr>
          <p:cNvPr id="5" name="Text 3"/>
          <p:cNvSpPr/>
          <p:nvPr/>
        </p:nvSpPr>
        <p:spPr>
          <a:xfrm>
            <a:off x="822960" y="1673352"/>
            <a:ext cx="3657600" cy="274320"/>
          </a:xfrm>
          <a:prstGeom prst="rect">
            <a:avLst/>
          </a:prstGeom>
          <a:noFill/>
        </p:spPr>
        <p:txBody>
          <a:bodyPr wrap="square" rtlCol="0" anchor="ctr"/>
          <a:lstStyle/>
          <a:p>
            <a:pPr marL="0" indent="0">
              <a:buNone/>
            </a:pPr>
            <a:r>
              <a:rPr lang="en-US" sz="1600" b="1" kern="0" spc="100" dirty="0">
                <a:solidFill>
                  <a:srgbClr val="56607A"/>
                </a:solidFill>
                <a:latin typeface="Times New Roman" panose="02020603050405020304" charset="0"/>
                <a:ea typeface="Calibri" panose="020F0502020204030204" pitchFamily="34" charset="-122"/>
                <a:cs typeface="Times New Roman" panose="02020603050405020304" charset="0"/>
              </a:rPr>
              <a:t>OVERALL PROGRESS</a:t>
            </a:r>
            <a:endParaRPr lang="en-US" sz="1600" dirty="0">
              <a:latin typeface="Times New Roman" panose="02020603050405020304" charset="0"/>
              <a:cs typeface="Times New Roman" panose="02020603050405020304" charset="0"/>
            </a:endParaRPr>
          </a:p>
        </p:txBody>
      </p:sp>
      <p:sp>
        <p:nvSpPr>
          <p:cNvPr id="6" name="Text 4"/>
          <p:cNvSpPr/>
          <p:nvPr/>
        </p:nvSpPr>
        <p:spPr>
          <a:xfrm>
            <a:off x="9692640" y="1600200"/>
            <a:ext cx="1463040" cy="502920"/>
          </a:xfrm>
          <a:prstGeom prst="rect">
            <a:avLst/>
          </a:prstGeom>
          <a:noFill/>
        </p:spPr>
        <p:txBody>
          <a:bodyPr wrap="square" rtlCol="0" anchor="ctr"/>
          <a:lstStyle/>
          <a:p>
            <a:pPr marL="0" indent="0" algn="r">
              <a:buNone/>
            </a:pPr>
            <a:r>
              <a:rPr lang="en-US" sz="2600" b="1" dirty="0">
                <a:solidFill>
                  <a:srgbClr val="17A566"/>
                </a:solidFill>
                <a:latin typeface="Segoe UI" panose="020B0502040204020203" pitchFamily="34" charset="0"/>
                <a:ea typeface="Segoe UI" panose="020B0502040204020203" pitchFamily="34" charset="-122"/>
                <a:cs typeface="Segoe UI" panose="020B0502040204020203" pitchFamily="34" charset="-120"/>
              </a:rPr>
              <a:t>85%</a:t>
            </a:r>
            <a:endParaRPr lang="en-US" sz="2600" dirty="0"/>
          </a:p>
        </p:txBody>
      </p:sp>
      <p:sp>
        <p:nvSpPr>
          <p:cNvPr id="7" name="Shape 5"/>
          <p:cNvSpPr/>
          <p:nvPr/>
        </p:nvSpPr>
        <p:spPr>
          <a:xfrm>
            <a:off x="822960" y="2121408"/>
            <a:ext cx="10332720" cy="310896"/>
          </a:xfrm>
          <a:prstGeom prst="roundRect">
            <a:avLst>
              <a:gd name="adj" fmla="val 50000"/>
            </a:avLst>
          </a:prstGeom>
          <a:solidFill>
            <a:srgbClr val="E4E9F7"/>
          </a:solidFill>
        </p:spPr>
      </p:sp>
      <p:sp>
        <p:nvSpPr>
          <p:cNvPr id="8" name="Shape 6"/>
          <p:cNvSpPr/>
          <p:nvPr/>
        </p:nvSpPr>
        <p:spPr>
          <a:xfrm>
            <a:off x="822960" y="2121408"/>
            <a:ext cx="8782812" cy="310896"/>
          </a:xfrm>
          <a:prstGeom prst="roundRect">
            <a:avLst>
              <a:gd name="adj" fmla="val 50000"/>
            </a:avLst>
          </a:prstGeom>
          <a:solidFill>
            <a:srgbClr val="17A566"/>
          </a:solidFill>
        </p:spPr>
      </p:sp>
      <p:sp>
        <p:nvSpPr>
          <p:cNvPr id="9" name="Shape 7"/>
          <p:cNvSpPr/>
          <p:nvPr/>
        </p:nvSpPr>
        <p:spPr>
          <a:xfrm>
            <a:off x="548640" y="2880360"/>
            <a:ext cx="5394960" cy="3291840"/>
          </a:xfrm>
          <a:prstGeom prst="roundRect">
            <a:avLst>
              <a:gd name="adj" fmla="val 2500"/>
            </a:avLst>
          </a:prstGeom>
          <a:solidFill>
            <a:srgbClr val="FFFFFF"/>
          </a:solidFill>
          <a:effectLst>
            <a:outerShdw blurRad="101600" dist="25400" dir="5400000" algn="bl" rotWithShape="0">
              <a:srgbClr val="3A4A7A">
                <a:alpha val="16000"/>
              </a:srgbClr>
            </a:outerShdw>
          </a:effectLst>
        </p:spPr>
      </p:sp>
      <p:sp>
        <p:nvSpPr>
          <p:cNvPr id="10" name="Text 8"/>
          <p:cNvSpPr/>
          <p:nvPr/>
        </p:nvSpPr>
        <p:spPr>
          <a:xfrm>
            <a:off x="822960" y="3017520"/>
            <a:ext cx="4572000" cy="292608"/>
          </a:xfrm>
          <a:prstGeom prst="rect">
            <a:avLst/>
          </a:prstGeom>
          <a:noFill/>
        </p:spPr>
        <p:txBody>
          <a:bodyPr wrap="square" rtlCol="0" anchor="ctr"/>
          <a:lstStyle/>
          <a:p>
            <a:pPr marL="0" indent="0">
              <a:buNone/>
            </a:pPr>
            <a:r>
              <a:rPr lang="en-US" sz="1600" b="1" dirty="0">
                <a:solidFill>
                  <a:srgbClr val="17A566"/>
                </a:solidFill>
                <a:latin typeface="Times New Roman" panose="02020603050405020304" charset="0"/>
                <a:ea typeface="Segoe UI" panose="020B0502040204020203" pitchFamily="34" charset="-122"/>
                <a:cs typeface="Times New Roman" panose="02020603050405020304" charset="0"/>
              </a:rPr>
              <a:t>✓  COMPLETED</a:t>
            </a:r>
            <a:endParaRPr lang="en-US" sz="1600" dirty="0">
              <a:latin typeface="Times New Roman" panose="02020603050405020304" charset="0"/>
              <a:cs typeface="Times New Roman" panose="02020603050405020304" charset="0"/>
            </a:endParaRPr>
          </a:p>
        </p:txBody>
      </p:sp>
      <p:sp>
        <p:nvSpPr>
          <p:cNvPr id="11" name="Text 9"/>
          <p:cNvSpPr/>
          <p:nvPr/>
        </p:nvSpPr>
        <p:spPr>
          <a:xfrm>
            <a:off x="868680" y="3429000"/>
            <a:ext cx="4846320" cy="2606040"/>
          </a:xfrm>
          <a:prstGeom prst="rect">
            <a:avLst/>
          </a:prstGeom>
          <a:noFill/>
        </p:spPr>
        <p:txBody>
          <a:bodyPr wrap="square" rtlCol="0" anchor="ctr"/>
          <a:lstStyle/>
          <a:p>
            <a:pPr marL="177800" indent="-177800">
              <a:lnSpc>
                <a:spcPts val="1500"/>
              </a:lnSpc>
              <a:spcAft>
                <a:spcPts val="1000"/>
              </a:spcAft>
              <a:buSzPct val="100000"/>
              <a:buChar char="•"/>
            </a:pPr>
            <a:r>
              <a:rPr lang="en-US" sz="1400" dirty="0">
                <a:solidFill>
                  <a:srgbClr val="56607A"/>
                </a:solidFill>
                <a:latin typeface="Times New Roman" panose="02020603050405020304" charset="0"/>
                <a:ea typeface="Calibri" panose="020F0502020204030204" pitchFamily="34" charset="-122"/>
                <a:cs typeface="Times New Roman" panose="02020603050405020304" charset="0"/>
              </a:rPr>
              <a:t>Data collection &amp; preprocessing pipeline</a:t>
            </a:r>
            <a:endParaRPr lang="en-US" sz="1400" dirty="0">
              <a:latin typeface="Times New Roman" panose="02020603050405020304" charset="0"/>
              <a:cs typeface="Times New Roman" panose="02020603050405020304" charset="0"/>
            </a:endParaRPr>
          </a:p>
          <a:p>
            <a:pPr marL="177800" indent="-177800">
              <a:lnSpc>
                <a:spcPts val="1500"/>
              </a:lnSpc>
              <a:spcAft>
                <a:spcPts val="1000"/>
              </a:spcAft>
              <a:buSzPct val="100000"/>
              <a:buChar char="•"/>
            </a:pPr>
            <a:r>
              <a:rPr lang="en-US" sz="1400" dirty="0">
                <a:solidFill>
                  <a:srgbClr val="56607A"/>
                </a:solidFill>
                <a:latin typeface="Times New Roman" panose="02020603050405020304" charset="0"/>
                <a:ea typeface="Calibri" panose="020F0502020204030204" pitchFamily="34" charset="-122"/>
                <a:cs typeface="Times New Roman" panose="02020603050405020304" charset="0"/>
              </a:rPr>
              <a:t>Exploratory Data Analysis (EDA) &amp; correlation study</a:t>
            </a:r>
            <a:endParaRPr lang="en-US" sz="1400" dirty="0">
              <a:latin typeface="Times New Roman" panose="02020603050405020304" charset="0"/>
              <a:cs typeface="Times New Roman" panose="02020603050405020304" charset="0"/>
            </a:endParaRPr>
          </a:p>
          <a:p>
            <a:pPr marL="177800" indent="-177800">
              <a:lnSpc>
                <a:spcPts val="1500"/>
              </a:lnSpc>
              <a:spcAft>
                <a:spcPts val="1000"/>
              </a:spcAft>
              <a:buSzPct val="100000"/>
              <a:buChar char="•"/>
            </a:pPr>
            <a:r>
              <a:rPr lang="en-US" sz="1400" dirty="0">
                <a:solidFill>
                  <a:srgbClr val="56607A"/>
                </a:solidFill>
                <a:latin typeface="Times New Roman" panose="02020603050405020304" charset="0"/>
                <a:ea typeface="Calibri" panose="020F0502020204030204" pitchFamily="34" charset="-122"/>
                <a:cs typeface="Times New Roman" panose="02020603050405020304" charset="0"/>
              </a:rPr>
              <a:t>Model training &amp; evaluation (4 algorithms compared)</a:t>
            </a:r>
            <a:endParaRPr lang="en-US" sz="1400" dirty="0">
              <a:latin typeface="Times New Roman" panose="02020603050405020304" charset="0"/>
              <a:cs typeface="Times New Roman" panose="02020603050405020304" charset="0"/>
            </a:endParaRPr>
          </a:p>
          <a:p>
            <a:pPr marL="177800" indent="-177800">
              <a:lnSpc>
                <a:spcPts val="1500"/>
              </a:lnSpc>
              <a:spcAft>
                <a:spcPts val="1000"/>
              </a:spcAft>
              <a:buSzPct val="100000"/>
              <a:buChar char="•"/>
            </a:pPr>
            <a:r>
              <a:rPr lang="en-US" sz="1400" dirty="0">
                <a:solidFill>
                  <a:srgbClr val="56607A"/>
                </a:solidFill>
                <a:latin typeface="Times New Roman" panose="02020603050405020304" charset="0"/>
                <a:ea typeface="Calibri" panose="020F0502020204030204" pitchFamily="34" charset="-122"/>
                <a:cs typeface="Times New Roman" panose="02020603050405020304" charset="0"/>
              </a:rPr>
              <a:t>Random Forest selected as production model</a:t>
            </a:r>
            <a:endParaRPr lang="en-US" sz="1400" dirty="0">
              <a:latin typeface="Times New Roman" panose="02020603050405020304" charset="0"/>
              <a:cs typeface="Times New Roman" panose="02020603050405020304" charset="0"/>
            </a:endParaRPr>
          </a:p>
          <a:p>
            <a:pPr marL="177800" indent="-177800">
              <a:lnSpc>
                <a:spcPts val="1500"/>
              </a:lnSpc>
              <a:spcAft>
                <a:spcPts val="1000"/>
              </a:spcAft>
              <a:buSzPct val="100000"/>
              <a:buChar char="•"/>
            </a:pPr>
            <a:r>
              <a:rPr lang="en-US" sz="1400" dirty="0">
                <a:solidFill>
                  <a:srgbClr val="56607A"/>
                </a:solidFill>
                <a:latin typeface="Times New Roman" panose="02020603050405020304" charset="0"/>
                <a:ea typeface="Calibri" panose="020F0502020204030204" pitchFamily="34" charset="-122"/>
                <a:cs typeface="Times New Roman" panose="02020603050405020304" charset="0"/>
              </a:rPr>
              <a:t>Sample prediction &amp; health scoring module</a:t>
            </a:r>
            <a:endParaRPr lang="en-US" sz="1400" dirty="0">
              <a:latin typeface="Times New Roman" panose="02020603050405020304" charset="0"/>
              <a:cs typeface="Times New Roman" panose="02020603050405020304" charset="0"/>
            </a:endParaRPr>
          </a:p>
        </p:txBody>
      </p:sp>
      <p:sp>
        <p:nvSpPr>
          <p:cNvPr id="12" name="Shape 10"/>
          <p:cNvSpPr/>
          <p:nvPr/>
        </p:nvSpPr>
        <p:spPr>
          <a:xfrm>
            <a:off x="6217920" y="2880360"/>
            <a:ext cx="5394960" cy="3291840"/>
          </a:xfrm>
          <a:prstGeom prst="roundRect">
            <a:avLst>
              <a:gd name="adj" fmla="val 2500"/>
            </a:avLst>
          </a:prstGeom>
          <a:solidFill>
            <a:srgbClr val="FFFFFF"/>
          </a:solidFill>
          <a:ln w="19050">
            <a:solidFill>
              <a:srgbClr val="F59E0B"/>
            </a:solidFill>
            <a:prstDash val="solid"/>
          </a:ln>
          <a:effectLst>
            <a:outerShdw blurRad="101600" dist="25400" dir="5400000" algn="bl" rotWithShape="0">
              <a:srgbClr val="3A4A7A">
                <a:alpha val="16000"/>
              </a:srgbClr>
            </a:outerShdw>
          </a:effectLst>
        </p:spPr>
      </p:sp>
      <p:sp>
        <p:nvSpPr>
          <p:cNvPr id="13" name="Text 11"/>
          <p:cNvSpPr/>
          <p:nvPr/>
        </p:nvSpPr>
        <p:spPr>
          <a:xfrm>
            <a:off x="6492240" y="3017520"/>
            <a:ext cx="4572000" cy="292608"/>
          </a:xfrm>
          <a:prstGeom prst="rect">
            <a:avLst/>
          </a:prstGeom>
          <a:noFill/>
        </p:spPr>
        <p:txBody>
          <a:bodyPr wrap="square" rtlCol="0" anchor="ctr"/>
          <a:lstStyle/>
          <a:p>
            <a:pPr marL="0" indent="0">
              <a:buNone/>
            </a:pPr>
            <a:r>
              <a:rPr lang="en-US" sz="1600" b="1" dirty="0">
                <a:solidFill>
                  <a:srgbClr val="F59E0B"/>
                </a:solidFill>
                <a:latin typeface="Times New Roman" panose="02020603050405020304" charset="0"/>
                <a:ea typeface="Segoe UI" panose="020B0502040204020203" pitchFamily="34" charset="-122"/>
                <a:cs typeface="Times New Roman" panose="02020603050405020304" charset="0"/>
              </a:rPr>
              <a:t>◷  REMAINING</a:t>
            </a:r>
            <a:endParaRPr lang="en-US" sz="1600" dirty="0">
              <a:latin typeface="Times New Roman" panose="02020603050405020304" charset="0"/>
              <a:cs typeface="Times New Roman" panose="02020603050405020304" charset="0"/>
            </a:endParaRPr>
          </a:p>
        </p:txBody>
      </p:sp>
      <p:sp>
        <p:nvSpPr>
          <p:cNvPr id="14" name="Text 12"/>
          <p:cNvSpPr/>
          <p:nvPr/>
        </p:nvSpPr>
        <p:spPr>
          <a:xfrm>
            <a:off x="6537960" y="3429000"/>
            <a:ext cx="4846320" cy="2606040"/>
          </a:xfrm>
          <a:prstGeom prst="rect">
            <a:avLst/>
          </a:prstGeom>
          <a:noFill/>
        </p:spPr>
        <p:txBody>
          <a:bodyPr wrap="square" rtlCol="0" anchor="ctr"/>
          <a:lstStyle/>
          <a:p>
            <a:pPr marL="177800" indent="-177800">
              <a:lnSpc>
                <a:spcPts val="1500"/>
              </a:lnSpc>
              <a:spcAft>
                <a:spcPts val="1000"/>
              </a:spcAft>
              <a:buSzPct val="100000"/>
              <a:buChar char="•"/>
            </a:pPr>
            <a:r>
              <a:rPr lang="en-US" sz="1400" dirty="0">
                <a:solidFill>
                  <a:srgbClr val="56607A"/>
                </a:solidFill>
                <a:latin typeface="Times New Roman" panose="02020603050405020304" charset="0"/>
                <a:ea typeface="Calibri" panose="020F0502020204030204" pitchFamily="34" charset="-122"/>
                <a:cs typeface="Times New Roman" panose="02020603050405020304" charset="0"/>
              </a:rPr>
              <a:t>Streamlit dashboard development &amp; UI polish</a:t>
            </a:r>
            <a:endParaRPr lang="en-US" sz="1400" dirty="0">
              <a:latin typeface="Times New Roman" panose="02020603050405020304" charset="0"/>
              <a:cs typeface="Times New Roman" panose="02020603050405020304" charset="0"/>
            </a:endParaRPr>
          </a:p>
          <a:p>
            <a:pPr marL="177800" indent="-177800">
              <a:lnSpc>
                <a:spcPts val="1500"/>
              </a:lnSpc>
              <a:spcAft>
                <a:spcPts val="1000"/>
              </a:spcAft>
              <a:buSzPct val="100000"/>
              <a:buChar char="•"/>
            </a:pPr>
            <a:r>
              <a:rPr lang="en-US" sz="1400" dirty="0">
                <a:solidFill>
                  <a:srgbClr val="56607A"/>
                </a:solidFill>
                <a:latin typeface="Times New Roman" panose="02020603050405020304" charset="0"/>
                <a:ea typeface="Calibri" panose="020F0502020204030204" pitchFamily="34" charset="-122"/>
                <a:cs typeface="Times New Roman" panose="02020603050405020304" charset="0"/>
              </a:rPr>
              <a:t>Self-healing recommendation engine refinement</a:t>
            </a:r>
            <a:endParaRPr lang="en-US" sz="1400" dirty="0">
              <a:latin typeface="Times New Roman" panose="02020603050405020304" charset="0"/>
              <a:cs typeface="Times New Roman" panose="02020603050405020304" charset="0"/>
            </a:endParaRPr>
          </a:p>
          <a:p>
            <a:pPr marL="177800" indent="-177800">
              <a:lnSpc>
                <a:spcPts val="1500"/>
              </a:lnSpc>
              <a:spcAft>
                <a:spcPts val="1000"/>
              </a:spcAft>
              <a:buSzPct val="100000"/>
              <a:buChar char="•"/>
            </a:pPr>
            <a:r>
              <a:rPr lang="en-US" sz="1400" dirty="0">
                <a:solidFill>
                  <a:srgbClr val="56607A"/>
                </a:solidFill>
                <a:latin typeface="Times New Roman" panose="02020603050405020304" charset="0"/>
                <a:ea typeface="Calibri" panose="020F0502020204030204" pitchFamily="34" charset="-122"/>
                <a:cs typeface="Times New Roman" panose="02020603050405020304" charset="0"/>
              </a:rPr>
              <a:t>Real-time IoT sensor integration testing</a:t>
            </a:r>
            <a:endParaRPr lang="en-US" sz="1400" dirty="0">
              <a:latin typeface="Times New Roman" panose="02020603050405020304" charset="0"/>
              <a:cs typeface="Times New Roman" panose="02020603050405020304" charset="0"/>
            </a:endParaRPr>
          </a:p>
          <a:p>
            <a:pPr marL="177800" indent="-177800">
              <a:lnSpc>
                <a:spcPts val="1500"/>
              </a:lnSpc>
              <a:spcAft>
                <a:spcPts val="1000"/>
              </a:spcAft>
              <a:buSzPct val="100000"/>
              <a:buChar char="•"/>
            </a:pPr>
            <a:r>
              <a:rPr lang="en-US" sz="1400" dirty="0">
                <a:solidFill>
                  <a:srgbClr val="56607A"/>
                </a:solidFill>
                <a:latin typeface="Times New Roman" panose="02020603050405020304" charset="0"/>
                <a:ea typeface="Calibri" panose="020F0502020204030204" pitchFamily="34" charset="-122"/>
                <a:cs typeface="Times New Roman" panose="02020603050405020304" charset="0"/>
              </a:rPr>
              <a:t>Final documentation &amp; deployment</a:t>
            </a:r>
            <a:endParaRPr lang="en-US" sz="1400" dirty="0">
              <a:latin typeface="Times New Roman" panose="02020603050405020304" charset="0"/>
              <a:cs typeface="Times New Roman" panose="020206030504050203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8229600" cy="310896"/>
          </a:xfrm>
          <a:prstGeom prst="rect">
            <a:avLst/>
          </a:prstGeom>
          <a:noFill/>
        </p:spPr>
        <p:txBody>
          <a:bodyPr wrap="square" rtlCol="0" anchor="ctr"/>
          <a:lstStyle/>
          <a:p>
            <a:pPr marL="0" indent="0">
              <a:buNone/>
            </a:pPr>
            <a:r>
              <a:rPr lang="en-US" sz="1200" b="1" kern="0" spc="200" dirty="0">
                <a:solidFill>
                  <a:srgbClr val="1657E0"/>
                </a:solidFill>
                <a:latin typeface="Times New Roman" panose="02020603050405020304" charset="0"/>
                <a:ea typeface="Calibri" panose="020F0502020204030204" pitchFamily="34" charset="-122"/>
                <a:cs typeface="Times New Roman" panose="02020603050405020304" charset="0"/>
              </a:rPr>
              <a:t>FUTURE SCOPE</a:t>
            </a:r>
            <a:endParaRPr lang="en-US" sz="1200" dirty="0">
              <a:latin typeface="Times New Roman" panose="02020603050405020304" charset="0"/>
              <a:cs typeface="Times New Roman" panose="02020603050405020304" charset="0"/>
            </a:endParaRPr>
          </a:p>
        </p:txBody>
      </p:sp>
      <p:sp>
        <p:nvSpPr>
          <p:cNvPr id="3" name="Text 1"/>
          <p:cNvSpPr/>
          <p:nvPr/>
        </p:nvSpPr>
        <p:spPr>
          <a:xfrm>
            <a:off x="530352" y="640080"/>
            <a:ext cx="11155680" cy="868680"/>
          </a:xfrm>
          <a:prstGeom prst="rect">
            <a:avLst/>
          </a:prstGeom>
          <a:noFill/>
        </p:spPr>
        <p:txBody>
          <a:bodyPr wrap="square" rtlCol="0" anchor="ctr"/>
          <a:lstStyle/>
          <a:p>
            <a:pPr marL="0" indent="0">
              <a:buNone/>
            </a:pPr>
            <a:r>
              <a:rPr lang="en-US" sz="3000" b="1" dirty="0">
                <a:solidFill>
                  <a:srgbClr val="0F1B33"/>
                </a:solidFill>
                <a:latin typeface="Times New Roman" panose="02020603050405020304" charset="0"/>
                <a:ea typeface="Segoe UI" panose="020B0502040204020203" pitchFamily="34" charset="-122"/>
                <a:cs typeface="Times New Roman" panose="02020603050405020304" charset="0"/>
              </a:rPr>
              <a:t>Scaling Toward a Fully Autonomous Maintenance System</a:t>
            </a:r>
            <a:endParaRPr lang="en-US" sz="3000" dirty="0">
              <a:latin typeface="Times New Roman" panose="02020603050405020304" charset="0"/>
              <a:cs typeface="Times New Roman" panose="02020603050405020304" charset="0"/>
            </a:endParaRPr>
          </a:p>
        </p:txBody>
      </p:sp>
      <p:sp>
        <p:nvSpPr>
          <p:cNvPr id="4" name="Text 2"/>
          <p:cNvSpPr/>
          <p:nvPr/>
        </p:nvSpPr>
        <p:spPr>
          <a:xfrm>
            <a:off x="548640" y="1417320"/>
            <a:ext cx="11064240" cy="457200"/>
          </a:xfrm>
          <a:prstGeom prst="rect">
            <a:avLst/>
          </a:prstGeom>
          <a:noFill/>
        </p:spPr>
        <p:txBody>
          <a:bodyPr wrap="square" rtlCol="0" anchor="ctr"/>
          <a:lstStyle/>
          <a:p>
            <a:pPr marL="0" indent="0">
              <a:buNone/>
            </a:pPr>
            <a:r>
              <a:rPr lang="en-US" sz="1600" dirty="0">
                <a:solidFill>
                  <a:srgbClr val="56607A"/>
                </a:solidFill>
                <a:latin typeface="Times New Roman" panose="02020603050405020304" charset="0"/>
                <a:ea typeface="Calibri" panose="020F0502020204030204" pitchFamily="34" charset="-122"/>
                <a:cs typeface="Times New Roman" panose="02020603050405020304" charset="0"/>
              </a:rPr>
              <a:t>The current model is the foundation for a production-grade, always-on predictive maintenance platform.</a:t>
            </a:r>
            <a:endParaRPr lang="en-US" sz="1600" dirty="0">
              <a:latin typeface="Times New Roman" panose="02020603050405020304" charset="0"/>
              <a:cs typeface="Times New Roman" panose="02020603050405020304" charset="0"/>
            </a:endParaRPr>
          </a:p>
        </p:txBody>
      </p:sp>
      <p:sp>
        <p:nvSpPr>
          <p:cNvPr id="5" name="Shape 3"/>
          <p:cNvSpPr/>
          <p:nvPr/>
        </p:nvSpPr>
        <p:spPr>
          <a:xfrm>
            <a:off x="548640" y="2148840"/>
            <a:ext cx="5394960" cy="1847088"/>
          </a:xfrm>
          <a:prstGeom prst="roundRect">
            <a:avLst>
              <a:gd name="adj" fmla="val 4455"/>
            </a:avLst>
          </a:prstGeom>
          <a:solidFill>
            <a:srgbClr val="FFFFFF"/>
          </a:solidFill>
          <a:effectLst>
            <a:outerShdw blurRad="101600" dist="25400" dir="5400000" algn="bl" rotWithShape="0">
              <a:srgbClr val="3A4A7A">
                <a:alpha val="16000"/>
              </a:srgbClr>
            </a:outerShdw>
          </a:effectLst>
        </p:spPr>
      </p:sp>
      <p:sp>
        <p:nvSpPr>
          <p:cNvPr id="6" name="Shape 4"/>
          <p:cNvSpPr/>
          <p:nvPr/>
        </p:nvSpPr>
        <p:spPr>
          <a:xfrm>
            <a:off x="804672" y="2404872"/>
            <a:ext cx="502920" cy="502920"/>
          </a:xfrm>
          <a:prstGeom prst="ellipse">
            <a:avLst/>
          </a:prstGeom>
          <a:solidFill>
            <a:srgbClr val="1657E0"/>
          </a:solidFill>
        </p:spPr>
      </p:sp>
      <p:sp>
        <p:nvSpPr>
          <p:cNvPr id="7" name="Text 5"/>
          <p:cNvSpPr/>
          <p:nvPr/>
        </p:nvSpPr>
        <p:spPr>
          <a:xfrm>
            <a:off x="804672" y="2404872"/>
            <a:ext cx="502920" cy="502920"/>
          </a:xfrm>
          <a:prstGeom prst="rect">
            <a:avLst/>
          </a:prstGeom>
          <a:noFill/>
        </p:spPr>
        <p:txBody>
          <a:bodyPr wrap="square" rtlCol="0" anchor="ctr"/>
          <a:lstStyle/>
          <a:p>
            <a:pPr marL="0" indent="0" algn="ctr">
              <a:buNone/>
            </a:pPr>
            <a:r>
              <a:rPr lang="en-US" sz="17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700" dirty="0"/>
          </a:p>
        </p:txBody>
      </p:sp>
      <p:sp>
        <p:nvSpPr>
          <p:cNvPr id="8" name="Text 6"/>
          <p:cNvSpPr/>
          <p:nvPr/>
        </p:nvSpPr>
        <p:spPr>
          <a:xfrm>
            <a:off x="1463040" y="2350008"/>
            <a:ext cx="4251960" cy="457200"/>
          </a:xfrm>
          <a:prstGeom prst="rect">
            <a:avLst/>
          </a:prstGeom>
          <a:noFill/>
        </p:spPr>
        <p:txBody>
          <a:bodyPr wrap="square" rtlCol="0" anchor="ctr"/>
          <a:lstStyle/>
          <a:p>
            <a:pPr marL="0" indent="0">
              <a:buNone/>
            </a:pPr>
            <a:r>
              <a:rPr lang="en-US" sz="1600" b="1" dirty="0">
                <a:solidFill>
                  <a:srgbClr val="0F1B33"/>
                </a:solidFill>
                <a:latin typeface="Times New Roman" panose="02020603050405020304" charset="0"/>
                <a:ea typeface="Segoe UI" panose="020B0502040204020203" pitchFamily="34" charset="-122"/>
                <a:cs typeface="Times New Roman" panose="02020603050405020304" charset="0"/>
              </a:rPr>
              <a:t>Streamlit Dashboard</a:t>
            </a:r>
            <a:endParaRPr lang="en-US" sz="1600" dirty="0">
              <a:latin typeface="Times New Roman" panose="02020603050405020304" charset="0"/>
              <a:cs typeface="Times New Roman" panose="02020603050405020304" charset="0"/>
            </a:endParaRPr>
          </a:p>
        </p:txBody>
      </p:sp>
      <p:sp>
        <p:nvSpPr>
          <p:cNvPr id="9" name="Text 7"/>
          <p:cNvSpPr/>
          <p:nvPr/>
        </p:nvSpPr>
        <p:spPr>
          <a:xfrm>
            <a:off x="822960" y="2971800"/>
            <a:ext cx="4846320" cy="886968"/>
          </a:xfrm>
          <a:prstGeom prst="rect">
            <a:avLst/>
          </a:prstGeom>
          <a:noFill/>
        </p:spPr>
        <p:txBody>
          <a:bodyPr wrap="square" rtlCol="0" anchor="ctr"/>
          <a:lstStyle/>
          <a:p>
            <a:pPr marL="0" indent="0">
              <a:lnSpc>
                <a:spcPts val="1500"/>
              </a:lnSpc>
              <a:buNone/>
            </a:pPr>
            <a:r>
              <a:rPr lang="en-US" sz="1400" dirty="0">
                <a:solidFill>
                  <a:srgbClr val="56607A"/>
                </a:solidFill>
                <a:latin typeface="Times New Roman" panose="02020603050405020304" charset="0"/>
                <a:ea typeface="Calibri" panose="020F0502020204030204" pitchFamily="34" charset="-122"/>
                <a:cs typeface="Times New Roman" panose="02020603050405020304" charset="0"/>
              </a:rPr>
              <a:t>An interactive web app for live machine health monitoring, accessible to plant operators and managers.</a:t>
            </a:r>
            <a:endParaRPr lang="en-US" sz="1400" dirty="0">
              <a:latin typeface="Times New Roman" panose="02020603050405020304" charset="0"/>
              <a:cs typeface="Times New Roman" panose="02020603050405020304" charset="0"/>
            </a:endParaRPr>
          </a:p>
        </p:txBody>
      </p:sp>
      <p:sp>
        <p:nvSpPr>
          <p:cNvPr id="10" name="Shape 8"/>
          <p:cNvSpPr/>
          <p:nvPr/>
        </p:nvSpPr>
        <p:spPr>
          <a:xfrm>
            <a:off x="6217920" y="2148840"/>
            <a:ext cx="5394960" cy="1847088"/>
          </a:xfrm>
          <a:prstGeom prst="roundRect">
            <a:avLst>
              <a:gd name="adj" fmla="val 4455"/>
            </a:avLst>
          </a:prstGeom>
          <a:solidFill>
            <a:srgbClr val="FFFFFF"/>
          </a:solidFill>
          <a:effectLst>
            <a:outerShdw blurRad="101600" dist="25400" dir="5400000" algn="bl" rotWithShape="0">
              <a:srgbClr val="3A4A7A">
                <a:alpha val="16000"/>
              </a:srgbClr>
            </a:outerShdw>
          </a:effectLst>
        </p:spPr>
      </p:sp>
      <p:sp>
        <p:nvSpPr>
          <p:cNvPr id="11" name="Shape 9"/>
          <p:cNvSpPr/>
          <p:nvPr/>
        </p:nvSpPr>
        <p:spPr>
          <a:xfrm>
            <a:off x="6473952" y="2404872"/>
            <a:ext cx="502920" cy="502920"/>
          </a:xfrm>
          <a:prstGeom prst="ellipse">
            <a:avLst/>
          </a:prstGeom>
          <a:solidFill>
            <a:srgbClr val="2B6CF0"/>
          </a:solidFill>
        </p:spPr>
      </p:sp>
      <p:sp>
        <p:nvSpPr>
          <p:cNvPr id="12" name="Text 10"/>
          <p:cNvSpPr/>
          <p:nvPr/>
        </p:nvSpPr>
        <p:spPr>
          <a:xfrm>
            <a:off x="6473952" y="2404872"/>
            <a:ext cx="502920" cy="502920"/>
          </a:xfrm>
          <a:prstGeom prst="rect">
            <a:avLst/>
          </a:prstGeom>
          <a:noFill/>
        </p:spPr>
        <p:txBody>
          <a:bodyPr wrap="square" rtlCol="0" anchor="ctr"/>
          <a:lstStyle/>
          <a:p>
            <a:pPr marL="0" indent="0" algn="ctr">
              <a:buNone/>
            </a:pPr>
            <a:r>
              <a:rPr lang="en-US" sz="17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700" dirty="0"/>
          </a:p>
        </p:txBody>
      </p:sp>
      <p:sp>
        <p:nvSpPr>
          <p:cNvPr id="13" name="Text 11"/>
          <p:cNvSpPr/>
          <p:nvPr/>
        </p:nvSpPr>
        <p:spPr>
          <a:xfrm>
            <a:off x="7132320" y="2350008"/>
            <a:ext cx="4251960" cy="457200"/>
          </a:xfrm>
          <a:prstGeom prst="rect">
            <a:avLst/>
          </a:prstGeom>
          <a:noFill/>
        </p:spPr>
        <p:txBody>
          <a:bodyPr wrap="square" rtlCol="0" anchor="ctr"/>
          <a:lstStyle/>
          <a:p>
            <a:pPr marL="0" indent="0">
              <a:buNone/>
            </a:pPr>
            <a:r>
              <a:rPr lang="en-US" sz="1600" b="1" dirty="0">
                <a:solidFill>
                  <a:srgbClr val="0F1B33"/>
                </a:solidFill>
                <a:latin typeface="Times New Roman" panose="02020603050405020304" charset="0"/>
                <a:ea typeface="Segoe UI" panose="020B0502040204020203" pitchFamily="34" charset="-122"/>
                <a:cs typeface="Times New Roman" panose="02020603050405020304" charset="0"/>
              </a:rPr>
              <a:t>IoT Integration</a:t>
            </a:r>
            <a:endParaRPr lang="en-US" sz="1600" dirty="0">
              <a:latin typeface="Times New Roman" panose="02020603050405020304" charset="0"/>
              <a:cs typeface="Times New Roman" panose="02020603050405020304" charset="0"/>
            </a:endParaRPr>
          </a:p>
        </p:txBody>
      </p:sp>
      <p:sp>
        <p:nvSpPr>
          <p:cNvPr id="14" name="Text 12"/>
          <p:cNvSpPr/>
          <p:nvPr/>
        </p:nvSpPr>
        <p:spPr>
          <a:xfrm>
            <a:off x="6492240" y="2971800"/>
            <a:ext cx="4846320" cy="886968"/>
          </a:xfrm>
          <a:prstGeom prst="rect">
            <a:avLst/>
          </a:prstGeom>
          <a:noFill/>
        </p:spPr>
        <p:txBody>
          <a:bodyPr wrap="square" rtlCol="0" anchor="ctr"/>
          <a:lstStyle/>
          <a:p>
            <a:pPr marL="0" indent="0">
              <a:lnSpc>
                <a:spcPts val="1500"/>
              </a:lnSpc>
              <a:buNone/>
            </a:pPr>
            <a:r>
              <a:rPr lang="en-US" sz="1400" dirty="0">
                <a:solidFill>
                  <a:srgbClr val="56607A"/>
                </a:solidFill>
                <a:latin typeface="Times New Roman" panose="02020603050405020304" charset="0"/>
                <a:ea typeface="Calibri" panose="020F0502020204030204" pitchFamily="34" charset="-122"/>
                <a:cs typeface="Times New Roman" panose="02020603050405020304" charset="0"/>
              </a:rPr>
              <a:t>Stream real sensor data directly from edge devices and PLCs for true real-time predictions.</a:t>
            </a:r>
            <a:endParaRPr lang="en-US" sz="1400" dirty="0">
              <a:latin typeface="Times New Roman" panose="02020603050405020304" charset="0"/>
              <a:cs typeface="Times New Roman" panose="02020603050405020304" charset="0"/>
            </a:endParaRPr>
          </a:p>
        </p:txBody>
      </p:sp>
      <p:sp>
        <p:nvSpPr>
          <p:cNvPr id="15" name="Shape 13"/>
          <p:cNvSpPr/>
          <p:nvPr/>
        </p:nvSpPr>
        <p:spPr>
          <a:xfrm>
            <a:off x="548640" y="4233672"/>
            <a:ext cx="5394960" cy="1847088"/>
          </a:xfrm>
          <a:prstGeom prst="roundRect">
            <a:avLst>
              <a:gd name="adj" fmla="val 4455"/>
            </a:avLst>
          </a:prstGeom>
          <a:solidFill>
            <a:srgbClr val="FFFFFF"/>
          </a:solidFill>
          <a:effectLst>
            <a:outerShdw blurRad="101600" dist="25400" dir="5400000" algn="bl" rotWithShape="0">
              <a:srgbClr val="3A4A7A">
                <a:alpha val="16000"/>
              </a:srgbClr>
            </a:outerShdw>
          </a:effectLst>
        </p:spPr>
      </p:sp>
      <p:sp>
        <p:nvSpPr>
          <p:cNvPr id="16" name="Shape 14"/>
          <p:cNvSpPr/>
          <p:nvPr/>
        </p:nvSpPr>
        <p:spPr>
          <a:xfrm>
            <a:off x="804672" y="4489704"/>
            <a:ext cx="502920" cy="502920"/>
          </a:xfrm>
          <a:prstGeom prst="ellipse">
            <a:avLst/>
          </a:prstGeom>
          <a:solidFill>
            <a:srgbClr val="3D5AFE"/>
          </a:solidFill>
        </p:spPr>
      </p:sp>
      <p:sp>
        <p:nvSpPr>
          <p:cNvPr id="17" name="Text 15"/>
          <p:cNvSpPr/>
          <p:nvPr/>
        </p:nvSpPr>
        <p:spPr>
          <a:xfrm>
            <a:off x="804672" y="4489704"/>
            <a:ext cx="502920" cy="502920"/>
          </a:xfrm>
          <a:prstGeom prst="rect">
            <a:avLst/>
          </a:prstGeom>
          <a:noFill/>
        </p:spPr>
        <p:txBody>
          <a:bodyPr wrap="square" rtlCol="0" anchor="ctr"/>
          <a:lstStyle/>
          <a:p>
            <a:pPr marL="0" indent="0" algn="ctr">
              <a:buNone/>
            </a:pPr>
            <a:r>
              <a:rPr lang="en-US" sz="17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700" dirty="0"/>
          </a:p>
        </p:txBody>
      </p:sp>
      <p:sp>
        <p:nvSpPr>
          <p:cNvPr id="18" name="Text 16"/>
          <p:cNvSpPr/>
          <p:nvPr/>
        </p:nvSpPr>
        <p:spPr>
          <a:xfrm>
            <a:off x="1463040" y="4434840"/>
            <a:ext cx="4251960" cy="457200"/>
          </a:xfrm>
          <a:prstGeom prst="rect">
            <a:avLst/>
          </a:prstGeom>
          <a:noFill/>
        </p:spPr>
        <p:txBody>
          <a:bodyPr wrap="square" rtlCol="0" anchor="ctr"/>
          <a:lstStyle/>
          <a:p>
            <a:pPr marL="0" indent="0">
              <a:buNone/>
            </a:pPr>
            <a:r>
              <a:rPr lang="en-US" sz="1600" b="1" dirty="0">
                <a:solidFill>
                  <a:srgbClr val="0F1B33"/>
                </a:solidFill>
                <a:latin typeface="Times New Roman" panose="02020603050405020304" charset="0"/>
                <a:ea typeface="Segoe UI" panose="020B0502040204020203" pitchFamily="34" charset="-122"/>
                <a:cs typeface="Times New Roman" panose="02020603050405020304" charset="0"/>
              </a:rPr>
              <a:t>Cloud Deployment</a:t>
            </a:r>
            <a:endParaRPr lang="en-US" sz="1600" dirty="0">
              <a:latin typeface="Times New Roman" panose="02020603050405020304" charset="0"/>
              <a:cs typeface="Times New Roman" panose="02020603050405020304" charset="0"/>
            </a:endParaRPr>
          </a:p>
        </p:txBody>
      </p:sp>
      <p:sp>
        <p:nvSpPr>
          <p:cNvPr id="19" name="Text 17"/>
          <p:cNvSpPr/>
          <p:nvPr/>
        </p:nvSpPr>
        <p:spPr>
          <a:xfrm>
            <a:off x="822960" y="5056632"/>
            <a:ext cx="4846320" cy="886968"/>
          </a:xfrm>
          <a:prstGeom prst="rect">
            <a:avLst/>
          </a:prstGeom>
          <a:noFill/>
        </p:spPr>
        <p:txBody>
          <a:bodyPr wrap="square" rtlCol="0" anchor="ctr"/>
          <a:lstStyle/>
          <a:p>
            <a:pPr marL="0" indent="0">
              <a:lnSpc>
                <a:spcPts val="1500"/>
              </a:lnSpc>
              <a:buNone/>
            </a:pPr>
            <a:r>
              <a:rPr lang="en-US" sz="1400" dirty="0">
                <a:solidFill>
                  <a:srgbClr val="56607A"/>
                </a:solidFill>
                <a:latin typeface="Times New Roman" panose="02020603050405020304" charset="0"/>
                <a:ea typeface="Calibri" panose="020F0502020204030204" pitchFamily="34" charset="-122"/>
                <a:cs typeface="Times New Roman" panose="02020603050405020304" charset="0"/>
              </a:rPr>
              <a:t>Host the model on scalable cloud infrastructure (AWS / Azure) to support multiple plants.</a:t>
            </a:r>
            <a:endParaRPr lang="en-US" sz="1400" dirty="0">
              <a:latin typeface="Times New Roman" panose="02020603050405020304" charset="0"/>
              <a:cs typeface="Times New Roman" panose="02020603050405020304" charset="0"/>
            </a:endParaRPr>
          </a:p>
        </p:txBody>
      </p:sp>
      <p:sp>
        <p:nvSpPr>
          <p:cNvPr id="20" name="Shape 18"/>
          <p:cNvSpPr/>
          <p:nvPr/>
        </p:nvSpPr>
        <p:spPr>
          <a:xfrm>
            <a:off x="6217920" y="4233672"/>
            <a:ext cx="5394960" cy="1847088"/>
          </a:xfrm>
          <a:prstGeom prst="roundRect">
            <a:avLst>
              <a:gd name="adj" fmla="val 4455"/>
            </a:avLst>
          </a:prstGeom>
          <a:solidFill>
            <a:srgbClr val="FFFFFF"/>
          </a:solidFill>
          <a:effectLst>
            <a:outerShdw blurRad="101600" dist="25400" dir="5400000" algn="bl" rotWithShape="0">
              <a:srgbClr val="3A4A7A">
                <a:alpha val="16000"/>
              </a:srgbClr>
            </a:outerShdw>
          </a:effectLst>
        </p:spPr>
      </p:sp>
      <p:sp>
        <p:nvSpPr>
          <p:cNvPr id="21" name="Shape 19"/>
          <p:cNvSpPr/>
          <p:nvPr/>
        </p:nvSpPr>
        <p:spPr>
          <a:xfrm>
            <a:off x="6473952" y="4489704"/>
            <a:ext cx="502920" cy="502920"/>
          </a:xfrm>
          <a:prstGeom prst="ellipse">
            <a:avLst/>
          </a:prstGeom>
          <a:solidFill>
            <a:srgbClr val="0D3B8C"/>
          </a:solidFill>
        </p:spPr>
      </p:sp>
      <p:sp>
        <p:nvSpPr>
          <p:cNvPr id="22" name="Text 20"/>
          <p:cNvSpPr/>
          <p:nvPr/>
        </p:nvSpPr>
        <p:spPr>
          <a:xfrm>
            <a:off x="6473952" y="4489704"/>
            <a:ext cx="502920" cy="502920"/>
          </a:xfrm>
          <a:prstGeom prst="rect">
            <a:avLst/>
          </a:prstGeom>
          <a:noFill/>
        </p:spPr>
        <p:txBody>
          <a:bodyPr wrap="square" rtlCol="0" anchor="ctr"/>
          <a:lstStyle/>
          <a:p>
            <a:pPr marL="0" indent="0" algn="ctr">
              <a:buNone/>
            </a:pPr>
            <a:r>
              <a:rPr lang="en-US" sz="17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700" dirty="0"/>
          </a:p>
        </p:txBody>
      </p:sp>
      <p:sp>
        <p:nvSpPr>
          <p:cNvPr id="23" name="Text 21"/>
          <p:cNvSpPr/>
          <p:nvPr/>
        </p:nvSpPr>
        <p:spPr>
          <a:xfrm>
            <a:off x="7132320" y="4434840"/>
            <a:ext cx="4251960" cy="457200"/>
          </a:xfrm>
          <a:prstGeom prst="rect">
            <a:avLst/>
          </a:prstGeom>
          <a:noFill/>
        </p:spPr>
        <p:txBody>
          <a:bodyPr wrap="square" rtlCol="0" anchor="ctr"/>
          <a:lstStyle/>
          <a:p>
            <a:pPr marL="0" indent="0">
              <a:buNone/>
            </a:pPr>
            <a:r>
              <a:rPr lang="en-US" sz="1600" b="1" dirty="0">
                <a:solidFill>
                  <a:srgbClr val="0F1B33"/>
                </a:solidFill>
                <a:latin typeface="Times New Roman" panose="02020603050405020304" charset="0"/>
                <a:ea typeface="Segoe UI" panose="020B0502040204020203" pitchFamily="34" charset="-122"/>
                <a:cs typeface="Times New Roman" panose="02020603050405020304" charset="0"/>
              </a:rPr>
              <a:t>Real-Time Monitoring &amp; Alerts</a:t>
            </a:r>
            <a:endParaRPr lang="en-US" sz="1600" dirty="0">
              <a:latin typeface="Times New Roman" panose="02020603050405020304" charset="0"/>
              <a:cs typeface="Times New Roman" panose="02020603050405020304" charset="0"/>
            </a:endParaRPr>
          </a:p>
        </p:txBody>
      </p:sp>
      <p:sp>
        <p:nvSpPr>
          <p:cNvPr id="24" name="Text 22"/>
          <p:cNvSpPr/>
          <p:nvPr/>
        </p:nvSpPr>
        <p:spPr>
          <a:xfrm>
            <a:off x="6492240" y="5056632"/>
            <a:ext cx="4846320" cy="886968"/>
          </a:xfrm>
          <a:prstGeom prst="rect">
            <a:avLst/>
          </a:prstGeom>
          <a:noFill/>
        </p:spPr>
        <p:txBody>
          <a:bodyPr wrap="square" rtlCol="0" anchor="ctr"/>
          <a:lstStyle/>
          <a:p>
            <a:pPr marL="0" indent="0">
              <a:lnSpc>
                <a:spcPts val="1500"/>
              </a:lnSpc>
              <a:buNone/>
            </a:pPr>
            <a:r>
              <a:rPr lang="en-US" sz="1400" dirty="0">
                <a:solidFill>
                  <a:srgbClr val="56607A"/>
                </a:solidFill>
                <a:latin typeface="Times New Roman" panose="02020603050405020304" charset="0"/>
                <a:ea typeface="Calibri" panose="020F0502020204030204" pitchFamily="34" charset="-122"/>
                <a:cs typeface="Times New Roman" panose="02020603050405020304" charset="0"/>
              </a:rPr>
              <a:t>Push live anomaly alerts to maintenance teams via SMS / email the moment risk is detected.</a:t>
            </a:r>
            <a:endParaRPr lang="en-US" sz="1400" dirty="0">
              <a:latin typeface="Times New Roman" panose="02020603050405020304" charset="0"/>
              <a:cs typeface="Times New Roman" panose="020206030504050203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144000" y="-1920240"/>
            <a:ext cx="5669280" cy="5669280"/>
          </a:xfrm>
          <a:prstGeom prst="ellipse">
            <a:avLst/>
          </a:prstGeom>
          <a:solidFill>
            <a:srgbClr val="12296B"/>
          </a:solidFill>
        </p:spPr>
      </p:sp>
      <p:sp>
        <p:nvSpPr>
          <p:cNvPr id="3" name="Shape 1"/>
          <p:cNvSpPr/>
          <p:nvPr/>
        </p:nvSpPr>
        <p:spPr>
          <a:xfrm rot="720000">
            <a:off x="10607040" y="4297680"/>
            <a:ext cx="914400" cy="914400"/>
          </a:xfrm>
          <a:prstGeom prst="hexagon">
            <a:avLst/>
          </a:prstGeom>
          <a:solidFill>
            <a:srgbClr val="2B6CF0">
              <a:alpha val="35000"/>
            </a:srgbClr>
          </a:solidFill>
        </p:spPr>
      </p:sp>
      <p:sp>
        <p:nvSpPr>
          <p:cNvPr id="4" name="Text 2"/>
          <p:cNvSpPr/>
          <p:nvPr/>
        </p:nvSpPr>
        <p:spPr>
          <a:xfrm>
            <a:off x="548640" y="365760"/>
            <a:ext cx="8229600" cy="310896"/>
          </a:xfrm>
          <a:prstGeom prst="rect">
            <a:avLst/>
          </a:prstGeom>
          <a:noFill/>
        </p:spPr>
        <p:txBody>
          <a:bodyPr wrap="square" rtlCol="0" anchor="ctr"/>
          <a:lstStyle/>
          <a:p>
            <a:pPr marL="0" indent="0">
              <a:buNone/>
            </a:pPr>
            <a:r>
              <a:rPr lang="en-US" sz="1200" b="1" kern="0" spc="200" dirty="0">
                <a:solidFill>
                  <a:srgbClr val="22D3EE"/>
                </a:solidFill>
                <a:latin typeface="Times New Roman" panose="02020603050405020304" charset="0"/>
                <a:ea typeface="Calibri" panose="020F0502020204030204" pitchFamily="34" charset="-122"/>
                <a:cs typeface="Times New Roman" panose="02020603050405020304" charset="0"/>
              </a:rPr>
              <a:t>CONCLUSION</a:t>
            </a:r>
            <a:endParaRPr lang="en-US" sz="1200" dirty="0">
              <a:latin typeface="Times New Roman" panose="02020603050405020304" charset="0"/>
              <a:cs typeface="Times New Roman" panose="02020603050405020304" charset="0"/>
            </a:endParaRPr>
          </a:p>
        </p:txBody>
      </p:sp>
      <p:sp>
        <p:nvSpPr>
          <p:cNvPr id="5" name="Text 3"/>
          <p:cNvSpPr/>
          <p:nvPr/>
        </p:nvSpPr>
        <p:spPr>
          <a:xfrm>
            <a:off x="530352" y="640080"/>
            <a:ext cx="11155680" cy="868680"/>
          </a:xfrm>
          <a:prstGeom prst="rect">
            <a:avLst/>
          </a:prstGeom>
          <a:noFill/>
        </p:spPr>
        <p:txBody>
          <a:bodyPr wrap="square" rtlCol="0" anchor="ctr"/>
          <a:lstStyle/>
          <a:p>
            <a:pPr marL="0" indent="0">
              <a:buNone/>
            </a:pPr>
            <a:r>
              <a:rPr lang="en-US" sz="3000" b="1" dirty="0">
                <a:solidFill>
                  <a:srgbClr val="FFFFFF"/>
                </a:solidFill>
                <a:latin typeface="Times New Roman" panose="02020603050405020304" charset="0"/>
                <a:ea typeface="Segoe UI" panose="020B0502040204020203" pitchFamily="34" charset="-122"/>
                <a:cs typeface="Times New Roman" panose="02020603050405020304" charset="0"/>
              </a:rPr>
              <a:t>Toward Smarter, Self-Healing Manufacturing</a:t>
            </a:r>
            <a:endParaRPr lang="en-US" sz="3000" dirty="0">
              <a:latin typeface="Times New Roman" panose="02020603050405020304" charset="0"/>
              <a:cs typeface="Times New Roman" panose="02020603050405020304" charset="0"/>
            </a:endParaRPr>
          </a:p>
        </p:txBody>
      </p:sp>
      <p:sp>
        <p:nvSpPr>
          <p:cNvPr id="6" name="Text 4"/>
          <p:cNvSpPr/>
          <p:nvPr/>
        </p:nvSpPr>
        <p:spPr>
          <a:xfrm>
            <a:off x="548640" y="1463040"/>
            <a:ext cx="11064240" cy="777240"/>
          </a:xfrm>
          <a:prstGeom prst="rect">
            <a:avLst/>
          </a:prstGeom>
          <a:noFill/>
        </p:spPr>
        <p:txBody>
          <a:bodyPr wrap="square" rtlCol="0" anchor="ctr"/>
          <a:lstStyle/>
          <a:p>
            <a:pPr marL="0" indent="0">
              <a:lnSpc>
                <a:spcPts val="1800"/>
              </a:lnSpc>
              <a:buNone/>
            </a:pPr>
            <a:r>
              <a:rPr lang="en-US" sz="1600" dirty="0">
                <a:solidFill>
                  <a:srgbClr val="C9D6FF"/>
                </a:solidFill>
                <a:latin typeface="Times New Roman" panose="02020603050405020304" charset="0"/>
                <a:ea typeface="Calibri" panose="020F0502020204030204" pitchFamily="34" charset="-122"/>
                <a:cs typeface="Times New Roman" panose="02020603050405020304" charset="0"/>
              </a:rPr>
              <a:t>This project demonstrates that AI can move beyond simple failure prediction by combining accurate classification, continuous health scoring, and prescriptive self-healing guidance into a single intelligent system for smart manufacturing.</a:t>
            </a:r>
            <a:endParaRPr lang="en-US" sz="1600" dirty="0">
              <a:latin typeface="Times New Roman" panose="02020603050405020304" charset="0"/>
              <a:cs typeface="Times New Roman" panose="02020603050405020304" charset="0"/>
            </a:endParaRPr>
          </a:p>
        </p:txBody>
      </p:sp>
      <p:sp>
        <p:nvSpPr>
          <p:cNvPr id="7" name="Shape 5"/>
          <p:cNvSpPr/>
          <p:nvPr/>
        </p:nvSpPr>
        <p:spPr>
          <a:xfrm>
            <a:off x="548640" y="2423160"/>
            <a:ext cx="3538728" cy="2743200"/>
          </a:xfrm>
          <a:prstGeom prst="roundRect">
            <a:avLst>
              <a:gd name="adj" fmla="val 3000"/>
            </a:avLst>
          </a:prstGeom>
          <a:solidFill>
            <a:srgbClr val="12296B"/>
          </a:solidFill>
          <a:ln w="12700">
            <a:solidFill>
              <a:srgbClr val="2B6CF0"/>
            </a:solidFill>
            <a:prstDash val="solid"/>
          </a:ln>
          <a:effectLst>
            <a:outerShdw blurRad="101600" dist="25400" dir="5400000" algn="bl" rotWithShape="0">
              <a:srgbClr val="3A4A7A">
                <a:alpha val="16000"/>
              </a:srgbClr>
            </a:outerShdw>
          </a:effectLst>
        </p:spPr>
      </p:sp>
      <p:sp>
        <p:nvSpPr>
          <p:cNvPr id="8" name="Shape 6"/>
          <p:cNvSpPr/>
          <p:nvPr/>
        </p:nvSpPr>
        <p:spPr>
          <a:xfrm>
            <a:off x="804672" y="2679192"/>
            <a:ext cx="502920" cy="502920"/>
          </a:xfrm>
          <a:prstGeom prst="ellipse">
            <a:avLst/>
          </a:prstGeom>
          <a:solidFill>
            <a:srgbClr val="22D3EE"/>
          </a:solidFill>
        </p:spPr>
      </p:sp>
      <p:sp>
        <p:nvSpPr>
          <p:cNvPr id="9" name="Text 7"/>
          <p:cNvSpPr/>
          <p:nvPr/>
        </p:nvSpPr>
        <p:spPr>
          <a:xfrm>
            <a:off x="804672" y="2679192"/>
            <a:ext cx="502920" cy="502920"/>
          </a:xfrm>
          <a:prstGeom prst="rect">
            <a:avLst/>
          </a:prstGeom>
          <a:noFill/>
        </p:spPr>
        <p:txBody>
          <a:bodyPr wrap="square" rtlCol="0" anchor="ctr"/>
          <a:lstStyle/>
          <a:p>
            <a:pPr marL="0" indent="0" algn="ctr">
              <a:buNone/>
            </a:pPr>
            <a:r>
              <a:rPr lang="en-US" sz="1700" b="1" dirty="0">
                <a:solidFill>
                  <a:srgbClr val="0A1E4A"/>
                </a:solidFill>
                <a:latin typeface="Calibri" panose="020F0502020204030204" pitchFamily="34" charset="0"/>
                <a:ea typeface="Calibri" panose="020F0502020204030204" pitchFamily="34" charset="-122"/>
                <a:cs typeface="Calibri" panose="020F0502020204030204" pitchFamily="34" charset="-120"/>
              </a:rPr>
              <a:t>1</a:t>
            </a:r>
            <a:endParaRPr lang="en-US" sz="1700" dirty="0"/>
          </a:p>
        </p:txBody>
      </p:sp>
      <p:sp>
        <p:nvSpPr>
          <p:cNvPr id="10" name="Text 8"/>
          <p:cNvSpPr/>
          <p:nvPr/>
        </p:nvSpPr>
        <p:spPr>
          <a:xfrm>
            <a:off x="822960" y="3337560"/>
            <a:ext cx="2990088" cy="640080"/>
          </a:xfrm>
          <a:prstGeom prst="rect">
            <a:avLst/>
          </a:prstGeom>
          <a:noFill/>
        </p:spPr>
        <p:txBody>
          <a:bodyPr wrap="square" rtlCol="0" anchor="ctr"/>
          <a:lstStyle/>
          <a:p>
            <a:pPr marL="0" indent="0">
              <a:buNone/>
            </a:pPr>
            <a:r>
              <a:rPr lang="en-US" sz="1600" b="1" dirty="0">
                <a:solidFill>
                  <a:srgbClr val="FFFFFF"/>
                </a:solidFill>
                <a:latin typeface="Times New Roman" panose="02020603050405020304" charset="0"/>
                <a:ea typeface="Segoe UI" panose="020B0502040204020203" pitchFamily="34" charset="-122"/>
                <a:cs typeface="Times New Roman" panose="02020603050405020304" charset="0"/>
              </a:rPr>
              <a:t>Proven Predictive Power</a:t>
            </a:r>
            <a:endParaRPr lang="en-US" sz="1600" dirty="0">
              <a:latin typeface="Times New Roman" panose="02020603050405020304" charset="0"/>
              <a:cs typeface="Times New Roman" panose="02020603050405020304" charset="0"/>
            </a:endParaRPr>
          </a:p>
        </p:txBody>
      </p:sp>
      <p:sp>
        <p:nvSpPr>
          <p:cNvPr id="11" name="Text 9"/>
          <p:cNvSpPr/>
          <p:nvPr/>
        </p:nvSpPr>
        <p:spPr>
          <a:xfrm>
            <a:off x="822960" y="3977640"/>
            <a:ext cx="2990088" cy="1005840"/>
          </a:xfrm>
          <a:prstGeom prst="rect">
            <a:avLst/>
          </a:prstGeom>
          <a:noFill/>
        </p:spPr>
        <p:txBody>
          <a:bodyPr wrap="square" rtlCol="0" anchor="ctr"/>
          <a:lstStyle/>
          <a:p>
            <a:pPr marL="0" indent="0">
              <a:lnSpc>
                <a:spcPts val="1500"/>
              </a:lnSpc>
              <a:buNone/>
            </a:pPr>
            <a:r>
              <a:rPr lang="en-US" sz="1400" dirty="0">
                <a:solidFill>
                  <a:srgbClr val="C9D6FF"/>
                </a:solidFill>
                <a:latin typeface="Times New Roman" panose="02020603050405020304" charset="0"/>
                <a:ea typeface="Calibri" panose="020F0502020204030204" pitchFamily="34" charset="-122"/>
                <a:cs typeface="Times New Roman" panose="02020603050405020304" charset="0"/>
              </a:rPr>
              <a:t>Random Forest achieved 98.4% accuracy , reliably classifying failures from real sensor data.</a:t>
            </a:r>
            <a:endParaRPr lang="en-US" sz="1400" dirty="0">
              <a:latin typeface="Times New Roman" panose="02020603050405020304" charset="0"/>
              <a:cs typeface="Times New Roman" panose="02020603050405020304" charset="0"/>
            </a:endParaRPr>
          </a:p>
        </p:txBody>
      </p:sp>
      <p:sp>
        <p:nvSpPr>
          <p:cNvPr id="12" name="Shape 10"/>
          <p:cNvSpPr/>
          <p:nvPr/>
        </p:nvSpPr>
        <p:spPr>
          <a:xfrm>
            <a:off x="4306824" y="2423160"/>
            <a:ext cx="3538728" cy="2743200"/>
          </a:xfrm>
          <a:prstGeom prst="roundRect">
            <a:avLst>
              <a:gd name="adj" fmla="val 3000"/>
            </a:avLst>
          </a:prstGeom>
          <a:solidFill>
            <a:srgbClr val="12296B"/>
          </a:solidFill>
          <a:ln w="12700">
            <a:solidFill>
              <a:srgbClr val="2B6CF0"/>
            </a:solidFill>
            <a:prstDash val="solid"/>
          </a:ln>
          <a:effectLst>
            <a:outerShdw blurRad="101600" dist="25400" dir="5400000" algn="bl" rotWithShape="0">
              <a:srgbClr val="3A4A7A">
                <a:alpha val="16000"/>
              </a:srgbClr>
            </a:outerShdw>
          </a:effectLst>
        </p:spPr>
      </p:sp>
      <p:sp>
        <p:nvSpPr>
          <p:cNvPr id="13" name="Shape 11"/>
          <p:cNvSpPr/>
          <p:nvPr/>
        </p:nvSpPr>
        <p:spPr>
          <a:xfrm>
            <a:off x="4562856" y="2679192"/>
            <a:ext cx="502920" cy="502920"/>
          </a:xfrm>
          <a:prstGeom prst="ellipse">
            <a:avLst/>
          </a:prstGeom>
          <a:solidFill>
            <a:srgbClr val="22D3EE"/>
          </a:solidFill>
        </p:spPr>
      </p:sp>
      <p:sp>
        <p:nvSpPr>
          <p:cNvPr id="14" name="Text 12"/>
          <p:cNvSpPr/>
          <p:nvPr/>
        </p:nvSpPr>
        <p:spPr>
          <a:xfrm>
            <a:off x="4562856" y="2679192"/>
            <a:ext cx="502920" cy="502920"/>
          </a:xfrm>
          <a:prstGeom prst="rect">
            <a:avLst/>
          </a:prstGeom>
          <a:noFill/>
        </p:spPr>
        <p:txBody>
          <a:bodyPr wrap="square" rtlCol="0" anchor="ctr"/>
          <a:lstStyle/>
          <a:p>
            <a:pPr marL="0" indent="0" algn="ctr">
              <a:buNone/>
            </a:pPr>
            <a:r>
              <a:rPr lang="en-US" sz="1700" b="1" dirty="0">
                <a:solidFill>
                  <a:srgbClr val="0A1E4A"/>
                </a:solidFill>
                <a:latin typeface="Calibri" panose="020F0502020204030204" pitchFamily="34" charset="0"/>
                <a:ea typeface="Calibri" panose="020F0502020204030204" pitchFamily="34" charset="-122"/>
                <a:cs typeface="Calibri" panose="020F0502020204030204" pitchFamily="34" charset="-120"/>
              </a:rPr>
              <a:t>2</a:t>
            </a:r>
            <a:endParaRPr lang="en-US" sz="1700" dirty="0"/>
          </a:p>
        </p:txBody>
      </p:sp>
      <p:sp>
        <p:nvSpPr>
          <p:cNvPr id="15" name="Text 13"/>
          <p:cNvSpPr/>
          <p:nvPr/>
        </p:nvSpPr>
        <p:spPr>
          <a:xfrm>
            <a:off x="4581144" y="3337560"/>
            <a:ext cx="2990088" cy="640080"/>
          </a:xfrm>
          <a:prstGeom prst="rect">
            <a:avLst/>
          </a:prstGeom>
          <a:noFill/>
        </p:spPr>
        <p:txBody>
          <a:bodyPr wrap="square" rtlCol="0" anchor="ctr"/>
          <a:lstStyle/>
          <a:p>
            <a:pPr marL="0" indent="0">
              <a:buNone/>
            </a:pPr>
            <a:r>
              <a:rPr lang="en-US" sz="1600" b="1" dirty="0">
                <a:solidFill>
                  <a:srgbClr val="FFFFFF"/>
                </a:solidFill>
                <a:latin typeface="Times New Roman" panose="02020603050405020304" charset="0"/>
                <a:ea typeface="Segoe UI" panose="020B0502040204020203" pitchFamily="34" charset="-122"/>
                <a:cs typeface="Times New Roman" panose="02020603050405020304" charset="0"/>
              </a:rPr>
              <a:t>Actionable Health Insights</a:t>
            </a:r>
            <a:endParaRPr lang="en-US" sz="1600" dirty="0">
              <a:latin typeface="Times New Roman" panose="02020603050405020304" charset="0"/>
              <a:cs typeface="Times New Roman" panose="02020603050405020304" charset="0"/>
            </a:endParaRPr>
          </a:p>
        </p:txBody>
      </p:sp>
      <p:sp>
        <p:nvSpPr>
          <p:cNvPr id="16" name="Text 14"/>
          <p:cNvSpPr/>
          <p:nvPr/>
        </p:nvSpPr>
        <p:spPr>
          <a:xfrm>
            <a:off x="4581144" y="3977640"/>
            <a:ext cx="2990088" cy="1005840"/>
          </a:xfrm>
          <a:prstGeom prst="rect">
            <a:avLst/>
          </a:prstGeom>
          <a:noFill/>
        </p:spPr>
        <p:txBody>
          <a:bodyPr wrap="square" rtlCol="0" anchor="ctr"/>
          <a:lstStyle/>
          <a:p>
            <a:pPr marL="0" indent="0">
              <a:lnSpc>
                <a:spcPts val="1500"/>
              </a:lnSpc>
              <a:buNone/>
            </a:pPr>
            <a:r>
              <a:rPr lang="en-US" sz="1400" dirty="0">
                <a:solidFill>
                  <a:srgbClr val="C9D6FF"/>
                </a:solidFill>
                <a:latin typeface="Times New Roman" panose="02020603050405020304" charset="0"/>
                <a:ea typeface="Calibri" panose="020F0502020204030204" pitchFamily="34" charset="-122"/>
                <a:cs typeface="Times New Roman" panose="02020603050405020304" charset="0"/>
              </a:rPr>
              <a:t>Health scores, failure probability, and self-healing recommendations go beyond a simple Yes/No prediction.</a:t>
            </a:r>
            <a:endParaRPr lang="en-US" sz="1400" dirty="0">
              <a:latin typeface="Times New Roman" panose="02020603050405020304" charset="0"/>
              <a:cs typeface="Times New Roman" panose="02020603050405020304" charset="0"/>
            </a:endParaRPr>
          </a:p>
        </p:txBody>
      </p:sp>
      <p:sp>
        <p:nvSpPr>
          <p:cNvPr id="17" name="Shape 15"/>
          <p:cNvSpPr/>
          <p:nvPr/>
        </p:nvSpPr>
        <p:spPr>
          <a:xfrm>
            <a:off x="8065008" y="2423160"/>
            <a:ext cx="3538728" cy="2743200"/>
          </a:xfrm>
          <a:prstGeom prst="roundRect">
            <a:avLst>
              <a:gd name="adj" fmla="val 3000"/>
            </a:avLst>
          </a:prstGeom>
          <a:solidFill>
            <a:srgbClr val="12296B"/>
          </a:solidFill>
          <a:ln w="12700">
            <a:solidFill>
              <a:srgbClr val="2B6CF0"/>
            </a:solidFill>
            <a:prstDash val="solid"/>
          </a:ln>
          <a:effectLst>
            <a:outerShdw blurRad="101600" dist="25400" dir="5400000" algn="bl" rotWithShape="0">
              <a:srgbClr val="3A4A7A">
                <a:alpha val="16000"/>
              </a:srgbClr>
            </a:outerShdw>
          </a:effectLst>
        </p:spPr>
      </p:sp>
      <p:sp>
        <p:nvSpPr>
          <p:cNvPr id="18" name="Shape 16"/>
          <p:cNvSpPr/>
          <p:nvPr/>
        </p:nvSpPr>
        <p:spPr>
          <a:xfrm>
            <a:off x="8321040" y="2679192"/>
            <a:ext cx="502920" cy="502920"/>
          </a:xfrm>
          <a:prstGeom prst="ellipse">
            <a:avLst/>
          </a:prstGeom>
          <a:solidFill>
            <a:srgbClr val="22D3EE"/>
          </a:solidFill>
        </p:spPr>
      </p:sp>
      <p:sp>
        <p:nvSpPr>
          <p:cNvPr id="19" name="Text 17"/>
          <p:cNvSpPr/>
          <p:nvPr/>
        </p:nvSpPr>
        <p:spPr>
          <a:xfrm>
            <a:off x="8321040" y="2679192"/>
            <a:ext cx="502920" cy="502920"/>
          </a:xfrm>
          <a:prstGeom prst="rect">
            <a:avLst/>
          </a:prstGeom>
          <a:noFill/>
        </p:spPr>
        <p:txBody>
          <a:bodyPr wrap="square" rtlCol="0" anchor="ctr"/>
          <a:lstStyle/>
          <a:p>
            <a:pPr marL="0" indent="0" algn="ctr">
              <a:buNone/>
            </a:pPr>
            <a:r>
              <a:rPr lang="en-US" sz="1700" b="1" dirty="0">
                <a:solidFill>
                  <a:srgbClr val="0A1E4A"/>
                </a:solidFill>
                <a:latin typeface="Calibri" panose="020F0502020204030204" pitchFamily="34" charset="0"/>
                <a:ea typeface="Calibri" panose="020F0502020204030204" pitchFamily="34" charset="-122"/>
                <a:cs typeface="Calibri" panose="020F0502020204030204" pitchFamily="34" charset="-120"/>
              </a:rPr>
              <a:t>3</a:t>
            </a:r>
            <a:endParaRPr lang="en-US" sz="1700" dirty="0"/>
          </a:p>
        </p:txBody>
      </p:sp>
      <p:sp>
        <p:nvSpPr>
          <p:cNvPr id="20" name="Text 18"/>
          <p:cNvSpPr/>
          <p:nvPr/>
        </p:nvSpPr>
        <p:spPr>
          <a:xfrm>
            <a:off x="8339328" y="3337560"/>
            <a:ext cx="2990088" cy="640080"/>
          </a:xfrm>
          <a:prstGeom prst="rect">
            <a:avLst/>
          </a:prstGeom>
          <a:noFill/>
        </p:spPr>
        <p:txBody>
          <a:bodyPr wrap="square" rtlCol="0" anchor="ctr"/>
          <a:lstStyle/>
          <a:p>
            <a:pPr marL="0" indent="0">
              <a:buNone/>
            </a:pPr>
            <a:r>
              <a:rPr lang="en-US" sz="1600" b="1" dirty="0">
                <a:solidFill>
                  <a:srgbClr val="FFFFFF"/>
                </a:solidFill>
                <a:latin typeface="Times New Roman" panose="02020603050405020304" charset="0"/>
                <a:ea typeface="Segoe UI" panose="020B0502040204020203" pitchFamily="34" charset="-122"/>
                <a:cs typeface="Times New Roman" panose="02020603050405020304" charset="0"/>
              </a:rPr>
              <a:t>Foundation for Industry 4.0</a:t>
            </a:r>
            <a:endParaRPr lang="en-US" sz="1600" dirty="0">
              <a:latin typeface="Times New Roman" panose="02020603050405020304" charset="0"/>
              <a:cs typeface="Times New Roman" panose="02020603050405020304" charset="0"/>
            </a:endParaRPr>
          </a:p>
        </p:txBody>
      </p:sp>
      <p:sp>
        <p:nvSpPr>
          <p:cNvPr id="21" name="Text 19"/>
          <p:cNvSpPr/>
          <p:nvPr/>
        </p:nvSpPr>
        <p:spPr>
          <a:xfrm>
            <a:off x="8339328" y="3977640"/>
            <a:ext cx="2990088" cy="1005840"/>
          </a:xfrm>
          <a:prstGeom prst="rect">
            <a:avLst/>
          </a:prstGeom>
          <a:noFill/>
        </p:spPr>
        <p:txBody>
          <a:bodyPr wrap="square" rtlCol="0" anchor="ctr"/>
          <a:lstStyle/>
          <a:p>
            <a:pPr marL="0" indent="0">
              <a:lnSpc>
                <a:spcPts val="1500"/>
              </a:lnSpc>
              <a:buNone/>
            </a:pPr>
            <a:r>
              <a:rPr lang="en-US" sz="1400" dirty="0">
                <a:solidFill>
                  <a:srgbClr val="C9D6FF"/>
                </a:solidFill>
                <a:latin typeface="Times New Roman" panose="02020603050405020304" charset="0"/>
                <a:ea typeface="Calibri" panose="020F0502020204030204" pitchFamily="34" charset="-122"/>
                <a:cs typeface="Times New Roman" panose="02020603050405020304" charset="0"/>
              </a:rPr>
              <a:t>A scalable architecture, ready for IoT streaming and cloud deployment across multiple plants.</a:t>
            </a:r>
            <a:endParaRPr lang="en-US" sz="1400" dirty="0">
              <a:latin typeface="Times New Roman" panose="02020603050405020304" charset="0"/>
              <a:cs typeface="Times New Roman" panose="02020603050405020304" charset="0"/>
            </a:endParaRPr>
          </a:p>
        </p:txBody>
      </p:sp>
      <p:sp>
        <p:nvSpPr>
          <p:cNvPr id="22" name="Shape 20"/>
          <p:cNvSpPr/>
          <p:nvPr/>
        </p:nvSpPr>
        <p:spPr>
          <a:xfrm>
            <a:off x="4709160" y="5532120"/>
            <a:ext cx="2743200" cy="0"/>
          </a:xfrm>
          <a:prstGeom prst="line">
            <a:avLst/>
          </a:prstGeom>
          <a:noFill/>
          <a:ln w="19050">
            <a:solidFill>
              <a:srgbClr val="22D3EE"/>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13771</Words>
  <Application>WPS Presentation</Application>
  <PresentationFormat>On-screen Show (16:9)</PresentationFormat>
  <Paragraphs>614</Paragraphs>
  <Slides>20</Slides>
  <Notes>16</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20</vt:i4>
      </vt:variant>
    </vt:vector>
  </HeadingPairs>
  <TitlesOfParts>
    <vt:vector size="38" baseType="lpstr">
      <vt:lpstr>Arial</vt:lpstr>
      <vt:lpstr>SimSun</vt:lpstr>
      <vt:lpstr>Wingdings</vt:lpstr>
      <vt:lpstr>Calibri</vt:lpstr>
      <vt:lpstr>Calibri</vt:lpstr>
      <vt:lpstr>Calibri</vt:lpstr>
      <vt:lpstr>Century Schoolbook</vt:lpstr>
      <vt:lpstr>Century Schoolbook</vt:lpstr>
      <vt:lpstr>Century Schoolbook</vt:lpstr>
      <vt:lpstr>Calibri</vt:lpstr>
      <vt:lpstr>Century Schoolbook</vt:lpstr>
      <vt:lpstr>Microsoft YaHei</vt:lpstr>
      <vt:lpstr>Arial Unicode MS</vt:lpstr>
      <vt:lpstr>Segoe UI</vt:lpstr>
      <vt:lpstr>Segoe UI</vt:lpstr>
      <vt:lpstr>Segoe UI</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Aadya Patil</cp:lastModifiedBy>
  <cp:revision>5</cp:revision>
  <dcterms:created xsi:type="dcterms:W3CDTF">2026-07-10T12:08:00Z</dcterms:created>
  <dcterms:modified xsi:type="dcterms:W3CDTF">2026-07-24T07:50:52Z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1033-12.1.0.27458</vt:lpwstr>
  </property>
  <property fmtid="{D5CDD505-2E9C-101B-9397-08002B2CF9AE}" pid="3" name="ICV">
    <vt:lpwstr>201286445AC74A9F9CD8AAB2F3FE0ADB_13</vt:lpwstr>
  </property>
</Properties>
</file>