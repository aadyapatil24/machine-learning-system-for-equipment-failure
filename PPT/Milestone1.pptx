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9" r:id="rId5"/>
    <p:sldId id="260" r:id="rId6"/>
    <p:sldId id="262" r:id="rId7"/>
    <p:sldId id="263" r:id="rId8"/>
    <p:sldId id="265" r:id="rId9"/>
    <p:sldId id="266" r:id="rId10"/>
    <p:sldId id="274" r:id="rId11"/>
    <p:sldId id="268" r:id="rId12"/>
    <p:sldId id="269"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 Type="http://schemas.openxmlformats.org/officeDocument/2006/relationships/theme" Target="theme/theme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B45"/>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1F2564"/>
          </a:solidFill>
        </p:spPr>
      </p:sp>
      <p:sp>
        <p:nvSpPr>
          <p:cNvPr id="3" name="Shape 1"/>
          <p:cNvSpPr/>
          <p:nvPr/>
        </p:nvSpPr>
        <p:spPr>
          <a:xfrm>
            <a:off x="10424160" y="4206240"/>
            <a:ext cx="3657600" cy="3657600"/>
          </a:xfrm>
          <a:prstGeom prst="ellipse">
            <a:avLst/>
          </a:prstGeom>
          <a:solidFill>
            <a:srgbClr val="4B4FE0">
              <a:alpha val="22000"/>
            </a:srgbClr>
          </a:solidFill>
        </p:spPr>
      </p:sp>
      <p:sp>
        <p:nvSpPr>
          <p:cNvPr id="4" name="Shape 2"/>
          <p:cNvSpPr/>
          <p:nvPr/>
        </p:nvSpPr>
        <p:spPr>
          <a:xfrm>
            <a:off x="548640" y="640080"/>
            <a:ext cx="2743200" cy="384048"/>
          </a:xfrm>
          <a:prstGeom prst="roundRect">
            <a:avLst>
              <a:gd name="adj" fmla="val 19048"/>
            </a:avLst>
          </a:prstGeom>
          <a:solidFill>
            <a:srgbClr val="4B4FE0"/>
          </a:solidFill>
        </p:spPr>
      </p:sp>
      <p:sp>
        <p:nvSpPr>
          <p:cNvPr id="5" name="Text 3"/>
          <p:cNvSpPr/>
          <p:nvPr/>
        </p:nvSpPr>
        <p:spPr>
          <a:xfrm>
            <a:off x="548640" y="640080"/>
            <a:ext cx="4480560" cy="384048"/>
          </a:xfrm>
          <a:prstGeom prst="rect">
            <a:avLst/>
          </a:prstGeom>
          <a:noFill/>
        </p:spPr>
        <p:txBody>
          <a:bodyPr wrap="square" rtlCol="0" anchor="ctr"/>
          <a:lstStyle/>
          <a:p>
            <a:pPr marL="0" indent="0" algn="ctr">
              <a:buNone/>
            </a:pPr>
            <a:r>
              <a:rPr lang="en-US" sz="1050" b="1" kern="0" spc="100" dirty="0">
                <a:solidFill>
                  <a:srgbClr val="FFFFFF"/>
                </a:solidFill>
                <a:latin typeface="Times New Roman" panose="02020603050405020304" charset="0"/>
                <a:ea typeface="Calibri" panose="020F0502020204030204" pitchFamily="34" charset="-122"/>
                <a:cs typeface="Times New Roman" panose="02020603050405020304" charset="0"/>
              </a:rPr>
              <a:t>MACHINE LEARNING · INFOSYS SPRINGBOARD</a:t>
            </a:r>
            <a:endParaRPr lang="en-US" sz="1050" dirty="0">
              <a:latin typeface="Times New Roman" panose="02020603050405020304" charset="0"/>
              <a:cs typeface="Times New Roman" panose="02020603050405020304" charset="0"/>
            </a:endParaRPr>
          </a:p>
        </p:txBody>
      </p:sp>
      <p:sp>
        <p:nvSpPr>
          <p:cNvPr id="6" name="Text 4"/>
          <p:cNvSpPr/>
          <p:nvPr/>
        </p:nvSpPr>
        <p:spPr>
          <a:xfrm>
            <a:off x="530225" y="1762125"/>
            <a:ext cx="9875520" cy="2078355"/>
          </a:xfrm>
          <a:prstGeom prst="rect">
            <a:avLst/>
          </a:prstGeom>
          <a:noFill/>
        </p:spPr>
        <p:txBody>
          <a:bodyPr wrap="square" rtlCol="0" anchor="ctr"/>
          <a:lstStyle/>
          <a:p>
            <a:pPr marL="0" indent="0">
              <a:lnSpc>
                <a:spcPts val="4800"/>
              </a:lnSpc>
              <a:buNone/>
            </a:pPr>
            <a:r>
              <a:rPr lang="en-US" sz="5000" b="1" dirty="0">
                <a:solidFill>
                  <a:srgbClr val="FFFFFF"/>
                </a:solidFill>
                <a:latin typeface="Times New Roman" panose="02020603050405020304" charset="0"/>
                <a:ea typeface="Century Schoolbook" panose="02040604050505020304" pitchFamily="34" charset="-122"/>
                <a:cs typeface="Times New Roman" panose="02020603050405020304" charset="0"/>
              </a:rPr>
              <a:t>Smart Failure Detection</a:t>
            </a:r>
            <a:endParaRPr lang="en-US" sz="5000" dirty="0">
              <a:latin typeface="Times New Roman" panose="02020603050405020304" charset="0"/>
              <a:cs typeface="Times New Roman" panose="02020603050405020304" charset="0"/>
            </a:endParaRPr>
          </a:p>
          <a:p>
            <a:pPr marL="0" indent="0">
              <a:lnSpc>
                <a:spcPts val="4800"/>
              </a:lnSpc>
              <a:buNone/>
            </a:pPr>
            <a:r>
              <a:rPr lang="en-US" sz="5000" b="1" dirty="0">
                <a:solidFill>
                  <a:srgbClr val="FFFFFF"/>
                </a:solidFill>
                <a:latin typeface="Times New Roman" panose="02020603050405020304" charset="0"/>
                <a:ea typeface="Century Schoolbook" panose="02040604050505020304" pitchFamily="34" charset="-122"/>
                <a:cs typeface="Times New Roman" panose="02020603050405020304" charset="0"/>
              </a:rPr>
              <a:t>Using Machine Learning</a:t>
            </a:r>
            <a:endParaRPr lang="en-US" sz="5000" dirty="0">
              <a:latin typeface="Times New Roman" panose="02020603050405020304" charset="0"/>
              <a:cs typeface="Times New Roman" panose="02020603050405020304" charset="0"/>
            </a:endParaRPr>
          </a:p>
        </p:txBody>
      </p:sp>
      <p:sp>
        <p:nvSpPr>
          <p:cNvPr id="7" name="Text 5"/>
          <p:cNvSpPr/>
          <p:nvPr/>
        </p:nvSpPr>
        <p:spPr>
          <a:xfrm>
            <a:off x="548640" y="3703320"/>
            <a:ext cx="8961120" cy="457200"/>
          </a:xfrm>
          <a:prstGeom prst="rect">
            <a:avLst/>
          </a:prstGeom>
          <a:noFill/>
        </p:spPr>
        <p:txBody>
          <a:bodyPr wrap="square" rtlCol="0" anchor="ctr"/>
          <a:lstStyle/>
          <a:p>
            <a:pPr marL="0" indent="0">
              <a:buNone/>
            </a:pPr>
            <a:r>
              <a:rPr lang="en-US" sz="2000" i="1" dirty="0">
                <a:solidFill>
                  <a:srgbClr val="C7CBF5"/>
                </a:solidFill>
                <a:latin typeface="Times New Roman" panose="02020603050405020304" charset="0"/>
                <a:ea typeface="Calibri" panose="020F0502020204030204" pitchFamily="34" charset="-122"/>
                <a:cs typeface="Times New Roman" panose="02020603050405020304" charset="0"/>
              </a:rPr>
              <a:t>Predictive Maintenance &amp; Real-Time Anomaly Detection for Industrial Systems</a:t>
            </a:r>
            <a:endParaRPr lang="en-US" sz="2000" dirty="0">
              <a:latin typeface="Times New Roman" panose="02020603050405020304" charset="0"/>
              <a:cs typeface="Times New Roman" panose="02020603050405020304" charset="0"/>
            </a:endParaRPr>
          </a:p>
        </p:txBody>
      </p:sp>
      <p:sp>
        <p:nvSpPr>
          <p:cNvPr id="8" name="Shape 6"/>
          <p:cNvSpPr/>
          <p:nvPr/>
        </p:nvSpPr>
        <p:spPr>
          <a:xfrm>
            <a:off x="548640" y="4343400"/>
            <a:ext cx="2926080" cy="0"/>
          </a:xfrm>
          <a:prstGeom prst="line">
            <a:avLst/>
          </a:prstGeom>
          <a:noFill/>
          <a:ln w="25400">
            <a:solidFill>
              <a:srgbClr val="34D1BF"/>
            </a:solidFill>
            <a:prstDash val="solid"/>
          </a:ln>
        </p:spPr>
      </p:sp>
      <p:sp>
        <p:nvSpPr>
          <p:cNvPr id="9" name="Text 7"/>
          <p:cNvSpPr/>
          <p:nvPr/>
        </p:nvSpPr>
        <p:spPr>
          <a:xfrm>
            <a:off x="548640" y="4572000"/>
            <a:ext cx="7315200" cy="365760"/>
          </a:xfrm>
          <a:prstGeom prst="rect">
            <a:avLst/>
          </a:prstGeom>
          <a:noFill/>
        </p:spPr>
        <p:txBody>
          <a:bodyPr wrap="square" rtlCol="0" anchor="ctr"/>
          <a:lstStyle/>
          <a:p>
            <a:pPr marL="0" indent="0">
              <a:buNone/>
            </a:pPr>
            <a:r>
              <a:rPr lang="en-US" sz="1400" b="1" dirty="0">
                <a:solidFill>
                  <a:srgbClr val="FFFFFF"/>
                </a:solidFill>
                <a:latin typeface="Times New Roman" panose="02020603050405020304" charset="0"/>
                <a:ea typeface="Calibri" panose="020F0502020204030204" pitchFamily="34" charset="-122"/>
                <a:cs typeface="Times New Roman" panose="02020603050405020304" charset="0"/>
              </a:rPr>
              <a:t>Infosys Springboard Virtual Internship 7.0</a:t>
            </a:r>
            <a:endParaRPr lang="en-US" sz="1400" dirty="0">
              <a:latin typeface="Times New Roman" panose="02020603050405020304" charset="0"/>
              <a:cs typeface="Times New Roman" panose="02020603050405020304" charset="0"/>
            </a:endParaRPr>
          </a:p>
        </p:txBody>
      </p:sp>
      <p:sp>
        <p:nvSpPr>
          <p:cNvPr id="10" name="Text 8"/>
          <p:cNvSpPr/>
          <p:nvPr/>
        </p:nvSpPr>
        <p:spPr>
          <a:xfrm>
            <a:off x="548640" y="4937760"/>
            <a:ext cx="7315200" cy="320040"/>
          </a:xfrm>
          <a:prstGeom prst="rect">
            <a:avLst/>
          </a:prstGeom>
          <a:noFill/>
        </p:spPr>
        <p:txBody>
          <a:bodyPr wrap="square" rtlCol="0" anchor="ctr"/>
          <a:lstStyle/>
          <a:p>
            <a:pPr marL="0" indent="0">
              <a:buNone/>
            </a:pPr>
            <a:endParaRPr lang="en-US" sz="1200" dirty="0"/>
          </a:p>
        </p:txBody>
      </p:sp>
      <p:sp>
        <p:nvSpPr>
          <p:cNvPr id="11" name="Shape 9"/>
          <p:cNvSpPr/>
          <p:nvPr/>
        </p:nvSpPr>
        <p:spPr>
          <a:xfrm>
            <a:off x="548640" y="5623560"/>
            <a:ext cx="1628140" cy="594360"/>
          </a:xfrm>
          <a:prstGeom prst="roundRect">
            <a:avLst>
              <a:gd name="adj" fmla="val 10769"/>
            </a:avLst>
          </a:prstGeom>
          <a:solidFill>
            <a:srgbClr val="1F2564"/>
          </a:solidFill>
          <a:ln w="12700">
            <a:solidFill>
              <a:srgbClr val="4B4FE0"/>
            </a:solidFill>
            <a:prstDash val="solid"/>
          </a:ln>
        </p:spPr>
      </p:sp>
      <p:sp>
        <p:nvSpPr>
          <p:cNvPr id="12" name="Shape 10"/>
          <p:cNvSpPr/>
          <p:nvPr/>
        </p:nvSpPr>
        <p:spPr>
          <a:xfrm>
            <a:off x="667512" y="5742432"/>
            <a:ext cx="365760" cy="365760"/>
          </a:xfrm>
          <a:prstGeom prst="ellipse">
            <a:avLst/>
          </a:prstGeom>
          <a:solidFill>
            <a:srgbClr val="34D1BF"/>
          </a:solidFill>
        </p:spPr>
      </p:sp>
      <p:sp>
        <p:nvSpPr>
          <p:cNvPr id="13" name="Text 11"/>
          <p:cNvSpPr/>
          <p:nvPr/>
        </p:nvSpPr>
        <p:spPr>
          <a:xfrm>
            <a:off x="66751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4" name="Text 12"/>
          <p:cNvSpPr/>
          <p:nvPr/>
        </p:nvSpPr>
        <p:spPr>
          <a:xfrm>
            <a:off x="1097280" y="5623560"/>
            <a:ext cx="1874520" cy="594360"/>
          </a:xfrm>
          <a:prstGeom prst="rect">
            <a:avLst/>
          </a:prstGeom>
          <a:noFill/>
        </p:spPr>
        <p:txBody>
          <a:bodyPr wrap="square" rtlCol="0" anchor="ctr"/>
          <a:lstStyle/>
          <a:p>
            <a:pPr marL="0" indent="0">
              <a:buNone/>
            </a:pPr>
            <a:r>
              <a:rPr lang="en-US" sz="1100" dirty="0">
                <a:solidFill>
                  <a:schemeClr val="bg1"/>
                </a:solidFill>
              </a:rPr>
              <a:t>Aadya Patil</a:t>
            </a:r>
            <a:endParaRPr lang="en-US" sz="1100" dirty="0">
              <a:solidFill>
                <a:schemeClr val="bg1"/>
              </a:solidFill>
            </a:endParaRPr>
          </a:p>
        </p:txBody>
      </p:sp>
      <p:sp>
        <p:nvSpPr>
          <p:cNvPr id="15" name="Shape 13"/>
          <p:cNvSpPr/>
          <p:nvPr/>
        </p:nvSpPr>
        <p:spPr>
          <a:xfrm>
            <a:off x="2657475" y="5633720"/>
            <a:ext cx="1780540" cy="594360"/>
          </a:xfrm>
          <a:prstGeom prst="roundRect">
            <a:avLst>
              <a:gd name="adj" fmla="val 10769"/>
            </a:avLst>
          </a:prstGeom>
          <a:solidFill>
            <a:srgbClr val="1F2564"/>
          </a:solidFill>
          <a:ln w="12700">
            <a:solidFill>
              <a:srgbClr val="4B4FE0"/>
            </a:solidFill>
            <a:prstDash val="solid"/>
          </a:ln>
        </p:spPr>
      </p:sp>
      <p:sp>
        <p:nvSpPr>
          <p:cNvPr id="16" name="Shape 14"/>
          <p:cNvSpPr/>
          <p:nvPr/>
        </p:nvSpPr>
        <p:spPr>
          <a:xfrm>
            <a:off x="2724277" y="5742432"/>
            <a:ext cx="365760" cy="365760"/>
          </a:xfrm>
          <a:prstGeom prst="ellipse">
            <a:avLst/>
          </a:prstGeom>
          <a:solidFill>
            <a:srgbClr val="34D1BF"/>
          </a:solidFill>
        </p:spPr>
      </p:sp>
      <p:sp>
        <p:nvSpPr>
          <p:cNvPr id="17" name="Text 15"/>
          <p:cNvSpPr/>
          <p:nvPr/>
        </p:nvSpPr>
        <p:spPr>
          <a:xfrm>
            <a:off x="2724277"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8" name="Text 16"/>
          <p:cNvSpPr/>
          <p:nvPr/>
        </p:nvSpPr>
        <p:spPr>
          <a:xfrm>
            <a:off x="3183890" y="5623560"/>
            <a:ext cx="165862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Balasri Korasikha</a:t>
            </a:r>
            <a:endParaRPr lang="en-US" sz="1100" dirty="0"/>
          </a:p>
        </p:txBody>
      </p:sp>
      <p:sp>
        <p:nvSpPr>
          <p:cNvPr id="19" name="Shape 17"/>
          <p:cNvSpPr/>
          <p:nvPr/>
        </p:nvSpPr>
        <p:spPr>
          <a:xfrm>
            <a:off x="4882515" y="5623560"/>
            <a:ext cx="2028825" cy="594360"/>
          </a:xfrm>
          <a:prstGeom prst="roundRect">
            <a:avLst>
              <a:gd name="adj" fmla="val 10769"/>
            </a:avLst>
          </a:prstGeom>
          <a:solidFill>
            <a:srgbClr val="1F2564"/>
          </a:solidFill>
          <a:ln w="12700">
            <a:solidFill>
              <a:srgbClr val="4B4FE0"/>
            </a:solidFill>
            <a:prstDash val="solid"/>
          </a:ln>
        </p:spPr>
      </p:sp>
      <p:sp>
        <p:nvSpPr>
          <p:cNvPr id="20" name="Shape 18"/>
          <p:cNvSpPr/>
          <p:nvPr/>
        </p:nvSpPr>
        <p:spPr>
          <a:xfrm>
            <a:off x="4936617" y="5742432"/>
            <a:ext cx="365760" cy="365760"/>
          </a:xfrm>
          <a:prstGeom prst="ellipse">
            <a:avLst/>
          </a:prstGeom>
          <a:solidFill>
            <a:srgbClr val="34D1BF"/>
          </a:solidFill>
        </p:spPr>
      </p:sp>
      <p:sp>
        <p:nvSpPr>
          <p:cNvPr id="21" name="Text 19"/>
          <p:cNvSpPr/>
          <p:nvPr/>
        </p:nvSpPr>
        <p:spPr>
          <a:xfrm>
            <a:off x="4936490" y="5742305"/>
            <a:ext cx="34925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2" name="Text 20"/>
          <p:cNvSpPr/>
          <p:nvPr/>
        </p:nvSpPr>
        <p:spPr>
          <a:xfrm>
            <a:off x="5294630" y="5623560"/>
            <a:ext cx="181610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Bandaru Keerthi Pranathi</a:t>
            </a:r>
            <a:endParaRPr lang="en-US" sz="1100" dirty="0"/>
          </a:p>
        </p:txBody>
      </p:sp>
      <p:sp>
        <p:nvSpPr>
          <p:cNvPr id="23" name="Shape 21"/>
          <p:cNvSpPr/>
          <p:nvPr/>
        </p:nvSpPr>
        <p:spPr>
          <a:xfrm>
            <a:off x="7355205" y="5623560"/>
            <a:ext cx="1579880" cy="594360"/>
          </a:xfrm>
          <a:prstGeom prst="roundRect">
            <a:avLst>
              <a:gd name="adj" fmla="val 10769"/>
            </a:avLst>
          </a:prstGeom>
          <a:solidFill>
            <a:srgbClr val="1F2564"/>
          </a:solidFill>
          <a:ln w="12700">
            <a:solidFill>
              <a:srgbClr val="4B4FE0"/>
            </a:solidFill>
            <a:prstDash val="solid"/>
          </a:ln>
        </p:spPr>
      </p:sp>
      <p:sp>
        <p:nvSpPr>
          <p:cNvPr id="24" name="Shape 22"/>
          <p:cNvSpPr/>
          <p:nvPr/>
        </p:nvSpPr>
        <p:spPr>
          <a:xfrm>
            <a:off x="7498207" y="5742432"/>
            <a:ext cx="365760" cy="365760"/>
          </a:xfrm>
          <a:prstGeom prst="ellipse">
            <a:avLst/>
          </a:prstGeom>
          <a:solidFill>
            <a:srgbClr val="34D1BF"/>
          </a:solidFill>
        </p:spPr>
      </p:sp>
      <p:sp>
        <p:nvSpPr>
          <p:cNvPr id="25" name="Text 23"/>
          <p:cNvSpPr/>
          <p:nvPr/>
        </p:nvSpPr>
        <p:spPr>
          <a:xfrm>
            <a:off x="745058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  4</a:t>
            </a:r>
            <a:endParaRPr lang="en-US" sz="1400" dirty="0"/>
          </a:p>
        </p:txBody>
      </p:sp>
      <p:sp>
        <p:nvSpPr>
          <p:cNvPr id="26" name="Text 24"/>
          <p:cNvSpPr/>
          <p:nvPr/>
        </p:nvSpPr>
        <p:spPr>
          <a:xfrm>
            <a:off x="7864475" y="5623560"/>
            <a:ext cx="942340" cy="594360"/>
          </a:xfrm>
          <a:prstGeom prst="rect">
            <a:avLst/>
          </a:prstGeom>
          <a:noFill/>
        </p:spPr>
        <p:txBody>
          <a:bodyPr wrap="square" rtlCol="0" anchor="ctr"/>
          <a:lstStyle/>
          <a:p>
            <a:pPr marL="0" indent="0">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Chandini K</a:t>
            </a:r>
            <a:endParaRPr lang="en-US" sz="1100" dirty="0"/>
          </a:p>
        </p:txBody>
      </p:sp>
      <p:sp>
        <p:nvSpPr>
          <p:cNvPr id="28" name="Shape 21"/>
          <p:cNvSpPr/>
          <p:nvPr/>
        </p:nvSpPr>
        <p:spPr>
          <a:xfrm>
            <a:off x="9433560" y="5623560"/>
            <a:ext cx="1579880" cy="594360"/>
          </a:xfrm>
          <a:prstGeom prst="roundRect">
            <a:avLst>
              <a:gd name="adj" fmla="val 10769"/>
            </a:avLst>
          </a:prstGeom>
          <a:solidFill>
            <a:srgbClr val="1F2564"/>
          </a:solidFill>
          <a:ln w="12700">
            <a:solidFill>
              <a:srgbClr val="4B4FE0"/>
            </a:solidFill>
            <a:prstDash val="solid"/>
          </a:ln>
        </p:spPr>
        <p:txBody>
          <a:bodyPr/>
          <a:p>
            <a:pPr algn="l">
              <a:lnSpc>
                <a:spcPct val="130000"/>
              </a:lnSpc>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Vasavi Kolla</a:t>
            </a: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 </a:t>
            </a:r>
            <a:endParaRPr lang="en-US"/>
          </a:p>
        </p:txBody>
      </p:sp>
      <p:sp>
        <p:nvSpPr>
          <p:cNvPr id="29" name="Shape 22"/>
          <p:cNvSpPr/>
          <p:nvPr/>
        </p:nvSpPr>
        <p:spPr>
          <a:xfrm>
            <a:off x="9518142" y="5742432"/>
            <a:ext cx="365760" cy="365760"/>
          </a:xfrm>
          <a:prstGeom prst="ellipse">
            <a:avLst/>
          </a:prstGeom>
          <a:solidFill>
            <a:srgbClr val="34D1BF"/>
          </a:solidFill>
        </p:spPr>
      </p:sp>
      <p:sp>
        <p:nvSpPr>
          <p:cNvPr id="30" name="Text 23"/>
          <p:cNvSpPr/>
          <p:nvPr/>
        </p:nvSpPr>
        <p:spPr>
          <a:xfrm>
            <a:off x="9518142" y="5742432"/>
            <a:ext cx="365760" cy="365760"/>
          </a:xfrm>
          <a:prstGeom prst="rect">
            <a:avLst/>
          </a:prstGeom>
          <a:noFill/>
        </p:spPr>
        <p:txBody>
          <a:bodyPr wrap="square" rtlCol="0" anchor="ctr"/>
          <a:lstStyle/>
          <a:p>
            <a:pPr marL="0" indent="0" algn="ctr">
              <a:buNone/>
            </a:pPr>
            <a:r>
              <a:rPr lang="en-US" sz="1400" b="1" dirty="0">
                <a:solidFill>
                  <a:srgbClr val="161B45"/>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ABSTRACT</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Smart Failure Detection: An Overview</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1051560"/>
          </a:xfrm>
          <a:prstGeom prst="rect">
            <a:avLst/>
          </a:prstGeom>
          <a:noFill/>
        </p:spPr>
        <p:txBody>
          <a:bodyPr wrap="square" rtlCol="0" anchor="ctr"/>
          <a:lstStyle/>
          <a:p>
            <a:pPr marL="0" indent="0">
              <a:lnSpc>
                <a:spcPts val="19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Smart Failure Detection using Machine Learning is an intelligent system designed to identify, predict, and prevent failures in industrial machinery, software systems, and infrastructure before they cause costly downtime or safety incidents. By leveraging historical sensor data and real-time monitoring, the system learns normal operating patterns and flags anomalies automatically.</a:t>
            </a:r>
            <a:endParaRPr lang="en-US" sz="1600" dirty="0">
              <a:latin typeface="Times New Roman" panose="02020603050405020304" charset="0"/>
              <a:cs typeface="Times New Roman" panose="02020603050405020304" charset="0"/>
            </a:endParaRPr>
          </a:p>
        </p:txBody>
      </p:sp>
      <p:sp>
        <p:nvSpPr>
          <p:cNvPr id="5" name="Shape 3"/>
          <p:cNvSpPr/>
          <p:nvPr/>
        </p:nvSpPr>
        <p:spPr>
          <a:xfrm>
            <a:off x="1097280" y="2788920"/>
            <a:ext cx="1371600" cy="1371600"/>
          </a:xfrm>
          <a:prstGeom prst="ellipse">
            <a:avLst/>
          </a:prstGeom>
          <a:solidFill>
            <a:srgbClr val="4B4FE0"/>
          </a:solidFill>
        </p:spPr>
      </p:sp>
      <p:sp>
        <p:nvSpPr>
          <p:cNvPr id="6" name="Text 4"/>
          <p:cNvSpPr/>
          <p:nvPr/>
        </p:nvSpPr>
        <p:spPr>
          <a:xfrm>
            <a:off x="1097280" y="2788920"/>
            <a:ext cx="1371600" cy="1371600"/>
          </a:xfrm>
          <a:prstGeom prst="rect">
            <a:avLst/>
          </a:prstGeom>
          <a:noFill/>
        </p:spPr>
        <p:txBody>
          <a:bodyPr wrap="square"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600" dirty="0"/>
          </a:p>
        </p:txBody>
      </p:sp>
      <p:sp>
        <p:nvSpPr>
          <p:cNvPr id="7" name="Text 5"/>
          <p:cNvSpPr/>
          <p:nvPr/>
        </p:nvSpPr>
        <p:spPr>
          <a:xfrm>
            <a:off x="548640" y="4325112"/>
            <a:ext cx="2468880" cy="594360"/>
          </a:xfrm>
          <a:prstGeom prst="rect">
            <a:avLst/>
          </a:prstGeom>
          <a:noFill/>
        </p:spPr>
        <p:txBody>
          <a:bodyPr wrap="square" rtlCol="0" anchor="ctr"/>
          <a:lstStyle/>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Data</a:t>
            </a:r>
            <a:endParaRPr lang="en-US" sz="1450" dirty="0"/>
          </a:p>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Collection</a:t>
            </a:r>
            <a:endParaRPr lang="en-US" sz="1450" dirty="0"/>
          </a:p>
        </p:txBody>
      </p:sp>
      <p:sp>
        <p:nvSpPr>
          <p:cNvPr id="8" name="Shape 6"/>
          <p:cNvSpPr/>
          <p:nvPr/>
        </p:nvSpPr>
        <p:spPr>
          <a:xfrm>
            <a:off x="3035808" y="3337560"/>
            <a:ext cx="292608" cy="274320"/>
          </a:xfrm>
          <a:prstGeom prst="chevron">
            <a:avLst/>
          </a:prstGeom>
          <a:solidFill>
            <a:srgbClr val="8A6FF0"/>
          </a:solidFill>
        </p:spPr>
      </p:sp>
      <p:sp>
        <p:nvSpPr>
          <p:cNvPr id="9" name="Shape 7"/>
          <p:cNvSpPr/>
          <p:nvPr/>
        </p:nvSpPr>
        <p:spPr>
          <a:xfrm>
            <a:off x="3886200" y="2788920"/>
            <a:ext cx="1371600" cy="1371600"/>
          </a:xfrm>
          <a:prstGeom prst="ellipse">
            <a:avLst/>
          </a:prstGeom>
          <a:solidFill>
            <a:srgbClr val="4B4FE0"/>
          </a:solidFill>
        </p:spPr>
      </p:sp>
      <p:sp>
        <p:nvSpPr>
          <p:cNvPr id="10" name="Text 8"/>
          <p:cNvSpPr/>
          <p:nvPr/>
        </p:nvSpPr>
        <p:spPr>
          <a:xfrm>
            <a:off x="3886200" y="2788920"/>
            <a:ext cx="1371600" cy="1371600"/>
          </a:xfrm>
          <a:prstGeom prst="rect">
            <a:avLst/>
          </a:prstGeom>
          <a:noFill/>
        </p:spPr>
        <p:txBody>
          <a:bodyPr wrap="square"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600" dirty="0"/>
          </a:p>
        </p:txBody>
      </p:sp>
      <p:sp>
        <p:nvSpPr>
          <p:cNvPr id="11" name="Text 9"/>
          <p:cNvSpPr/>
          <p:nvPr/>
        </p:nvSpPr>
        <p:spPr>
          <a:xfrm>
            <a:off x="3337560" y="4325112"/>
            <a:ext cx="2468880" cy="594360"/>
          </a:xfrm>
          <a:prstGeom prst="rect">
            <a:avLst/>
          </a:prstGeom>
          <a:noFill/>
        </p:spPr>
        <p:txBody>
          <a:bodyPr wrap="square" rtlCol="0" anchor="ctr"/>
          <a:lstStyle/>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Model</a:t>
            </a:r>
            <a:endParaRPr lang="en-US" sz="1450" dirty="0"/>
          </a:p>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Training</a:t>
            </a:r>
            <a:endParaRPr lang="en-US" sz="1450" dirty="0"/>
          </a:p>
        </p:txBody>
      </p:sp>
      <p:sp>
        <p:nvSpPr>
          <p:cNvPr id="12" name="Shape 10"/>
          <p:cNvSpPr/>
          <p:nvPr/>
        </p:nvSpPr>
        <p:spPr>
          <a:xfrm>
            <a:off x="5824728" y="3337560"/>
            <a:ext cx="292608" cy="274320"/>
          </a:xfrm>
          <a:prstGeom prst="chevron">
            <a:avLst/>
          </a:prstGeom>
          <a:solidFill>
            <a:srgbClr val="8A6FF0"/>
          </a:solidFill>
        </p:spPr>
      </p:sp>
      <p:sp>
        <p:nvSpPr>
          <p:cNvPr id="13" name="Shape 11"/>
          <p:cNvSpPr/>
          <p:nvPr/>
        </p:nvSpPr>
        <p:spPr>
          <a:xfrm>
            <a:off x="6675120" y="2788920"/>
            <a:ext cx="1371600" cy="1371600"/>
          </a:xfrm>
          <a:prstGeom prst="ellipse">
            <a:avLst/>
          </a:prstGeom>
          <a:solidFill>
            <a:srgbClr val="4B4FE0"/>
          </a:solidFill>
        </p:spPr>
      </p:sp>
      <p:sp>
        <p:nvSpPr>
          <p:cNvPr id="14" name="Text 12"/>
          <p:cNvSpPr/>
          <p:nvPr/>
        </p:nvSpPr>
        <p:spPr>
          <a:xfrm>
            <a:off x="6675120" y="2788920"/>
            <a:ext cx="1371600" cy="1371600"/>
          </a:xfrm>
          <a:prstGeom prst="rect">
            <a:avLst/>
          </a:prstGeom>
          <a:noFill/>
        </p:spPr>
        <p:txBody>
          <a:bodyPr wrap="square" rtlCol="0" anchor="ctr"/>
          <a:lstStyle/>
          <a:p>
            <a:pPr marL="0" indent="0" algn="ctr">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600" dirty="0"/>
          </a:p>
        </p:txBody>
      </p:sp>
      <p:sp>
        <p:nvSpPr>
          <p:cNvPr id="15" name="Text 13"/>
          <p:cNvSpPr/>
          <p:nvPr/>
        </p:nvSpPr>
        <p:spPr>
          <a:xfrm>
            <a:off x="6126480" y="4325112"/>
            <a:ext cx="2468880" cy="594360"/>
          </a:xfrm>
          <a:prstGeom prst="rect">
            <a:avLst/>
          </a:prstGeom>
          <a:noFill/>
        </p:spPr>
        <p:txBody>
          <a:bodyPr wrap="square" rtlCol="0" anchor="ctr"/>
          <a:lstStyle/>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Anomaly</a:t>
            </a:r>
            <a:endParaRPr lang="en-US" sz="1450" dirty="0"/>
          </a:p>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Detection</a:t>
            </a:r>
            <a:endParaRPr lang="en-US" sz="1450" dirty="0"/>
          </a:p>
        </p:txBody>
      </p:sp>
      <p:sp>
        <p:nvSpPr>
          <p:cNvPr id="16" name="Shape 14"/>
          <p:cNvSpPr/>
          <p:nvPr/>
        </p:nvSpPr>
        <p:spPr>
          <a:xfrm>
            <a:off x="8613648" y="3337560"/>
            <a:ext cx="292608" cy="274320"/>
          </a:xfrm>
          <a:prstGeom prst="chevron">
            <a:avLst/>
          </a:prstGeom>
          <a:solidFill>
            <a:srgbClr val="8A6FF0"/>
          </a:solidFill>
        </p:spPr>
      </p:sp>
      <p:sp>
        <p:nvSpPr>
          <p:cNvPr id="17" name="Shape 15"/>
          <p:cNvSpPr/>
          <p:nvPr/>
        </p:nvSpPr>
        <p:spPr>
          <a:xfrm>
            <a:off x="9464040" y="2788920"/>
            <a:ext cx="1371600" cy="1371600"/>
          </a:xfrm>
          <a:prstGeom prst="ellipse">
            <a:avLst/>
          </a:prstGeom>
          <a:solidFill>
            <a:srgbClr val="34D1BF"/>
          </a:solidFill>
        </p:spPr>
      </p:sp>
      <p:sp>
        <p:nvSpPr>
          <p:cNvPr id="18" name="Text 16"/>
          <p:cNvSpPr/>
          <p:nvPr/>
        </p:nvSpPr>
        <p:spPr>
          <a:xfrm>
            <a:off x="9464040" y="2788920"/>
            <a:ext cx="1371600" cy="1371600"/>
          </a:xfrm>
          <a:prstGeom prst="rect">
            <a:avLst/>
          </a:prstGeom>
          <a:noFill/>
        </p:spPr>
        <p:txBody>
          <a:bodyPr wrap="square" rtlCol="0" anchor="ctr"/>
          <a:lstStyle/>
          <a:p>
            <a:pPr marL="0" indent="0" algn="ctr">
              <a:buNone/>
            </a:pPr>
            <a:r>
              <a:rPr lang="en-US" sz="2600" b="1" dirty="0">
                <a:solidFill>
                  <a:srgbClr val="161B45"/>
                </a:solidFill>
                <a:latin typeface="Calibri" panose="020F0502020204030204" pitchFamily="34" charset="0"/>
                <a:ea typeface="Calibri" panose="020F0502020204030204" pitchFamily="34" charset="-122"/>
                <a:cs typeface="Calibri" panose="020F0502020204030204" pitchFamily="34" charset="-120"/>
              </a:rPr>
              <a:t>4</a:t>
            </a:r>
            <a:endParaRPr lang="en-US" sz="2600" dirty="0"/>
          </a:p>
        </p:txBody>
      </p:sp>
      <p:sp>
        <p:nvSpPr>
          <p:cNvPr id="19" name="Text 17"/>
          <p:cNvSpPr/>
          <p:nvPr/>
        </p:nvSpPr>
        <p:spPr>
          <a:xfrm>
            <a:off x="8915400" y="4325112"/>
            <a:ext cx="2468880" cy="594360"/>
          </a:xfrm>
          <a:prstGeom prst="rect">
            <a:avLst/>
          </a:prstGeom>
          <a:noFill/>
        </p:spPr>
        <p:txBody>
          <a:bodyPr wrap="square" rtlCol="0" anchor="ctr"/>
          <a:lstStyle/>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Failure</a:t>
            </a:r>
            <a:endParaRPr lang="en-US" sz="1450" dirty="0"/>
          </a:p>
          <a:p>
            <a:pPr marL="0" indent="0" algn="ctr">
              <a:buNone/>
            </a:pPr>
            <a:r>
              <a:rPr lang="en-US" sz="145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Alert</a:t>
            </a:r>
            <a:endParaRPr lang="en-US" sz="1450" dirty="0"/>
          </a:p>
        </p:txBody>
      </p:sp>
      <p:sp>
        <p:nvSpPr>
          <p:cNvPr id="20" name="Shape 18"/>
          <p:cNvSpPr/>
          <p:nvPr/>
        </p:nvSpPr>
        <p:spPr>
          <a:xfrm>
            <a:off x="548640" y="5257800"/>
            <a:ext cx="11064240" cy="960120"/>
          </a:xfrm>
          <a:prstGeom prst="roundRect">
            <a:avLst>
              <a:gd name="adj" fmla="val 7619"/>
            </a:avLst>
          </a:prstGeom>
          <a:solidFill>
            <a:srgbClr val="ECEEFB"/>
          </a:solidFill>
        </p:spPr>
      </p:sp>
      <p:sp>
        <p:nvSpPr>
          <p:cNvPr id="21" name="Text 19"/>
          <p:cNvSpPr/>
          <p:nvPr/>
        </p:nvSpPr>
        <p:spPr>
          <a:xfrm>
            <a:off x="822960" y="5349240"/>
            <a:ext cx="10515600" cy="777240"/>
          </a:xfrm>
          <a:prstGeom prst="rect">
            <a:avLst/>
          </a:prstGeom>
          <a:noFill/>
        </p:spPr>
        <p:txBody>
          <a:bodyPr wrap="square" rtlCol="0" anchor="ctr"/>
          <a:lstStyle/>
          <a:p>
            <a:pPr marL="0" indent="0">
              <a:lnSpc>
                <a:spcPts val="1600"/>
              </a:lnSpc>
              <a:buNone/>
            </a:pPr>
            <a:r>
              <a:rPr lang="en-US" sz="1400" i="1" dirty="0">
                <a:solidFill>
                  <a:srgbClr val="1C2140"/>
                </a:solidFill>
                <a:latin typeface="Times New Roman" panose="02020603050405020304" charset="0"/>
                <a:ea typeface="Calibri" panose="020F0502020204030204" pitchFamily="34" charset="-122"/>
                <a:cs typeface="Times New Roman" panose="02020603050405020304" charset="0"/>
              </a:rPr>
              <a:t>This approach shifts organizations from reactive maintenance to a proactive, data-driven strategy — reducing unplanned failures, lowering operational costs, and improving system reliability across industries such as manufacturing, IT infrastructure, and energy.</a:t>
            </a:r>
            <a:endParaRPr lang="en-US" sz="1400" i="1" dirty="0">
              <a:solidFill>
                <a:srgbClr val="1C2140"/>
              </a:solidFill>
              <a:latin typeface="Times New Roman" panose="02020603050405020304" charset="0"/>
              <a:ea typeface="Calibri" panose="020F0502020204030204" pitchFamily="34" charset="-122"/>
              <a:cs typeface="Times New Roman" panose="02020603050405020304" charset="0"/>
            </a:endParaRPr>
          </a:p>
        </p:txBody>
      </p:sp>
      <p:sp>
        <p:nvSpPr>
          <p:cNvPr id="22" name="Text 20"/>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PROBLEM STATEMENT</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Challenges with Traditional Failure Detection</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9436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Conventional monitoring systems rely on threshold-based alerts and manual inspection, making it difficult to detect subtle early warning signs resulting in unplanned downtime, high maintenance costs, and safety risks.</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24028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6" name="Shape 4"/>
          <p:cNvSpPr/>
          <p:nvPr/>
        </p:nvSpPr>
        <p:spPr>
          <a:xfrm>
            <a:off x="804672" y="2496312"/>
            <a:ext cx="502920" cy="502920"/>
          </a:xfrm>
          <a:prstGeom prst="ellipse">
            <a:avLst/>
          </a:prstGeom>
          <a:solidFill>
            <a:srgbClr val="4B4FE0"/>
          </a:solidFill>
        </p:spPr>
      </p:sp>
      <p:sp>
        <p:nvSpPr>
          <p:cNvPr id="7" name="Text 5"/>
          <p:cNvSpPr/>
          <p:nvPr/>
        </p:nvSpPr>
        <p:spPr>
          <a:xfrm>
            <a:off x="804672" y="249631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8" name="Text 6"/>
          <p:cNvSpPr/>
          <p:nvPr/>
        </p:nvSpPr>
        <p:spPr>
          <a:xfrm>
            <a:off x="1463040" y="2441448"/>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Reactive Maintenance Model</a:t>
            </a:r>
            <a:endParaRPr lang="en-US" sz="1600" dirty="0">
              <a:latin typeface="Times New Roman" panose="02020603050405020304" charset="0"/>
              <a:cs typeface="Times New Roman" panose="02020603050405020304" charset="0"/>
            </a:endParaRPr>
          </a:p>
        </p:txBody>
      </p:sp>
      <p:sp>
        <p:nvSpPr>
          <p:cNvPr id="9" name="Text 7"/>
          <p:cNvSpPr/>
          <p:nvPr/>
        </p:nvSpPr>
        <p:spPr>
          <a:xfrm>
            <a:off x="822960" y="3063240"/>
            <a:ext cx="4846320" cy="86868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Most organizations only respond to failures after they occur  leading to prolonged downtime, emergency repair costs, and production losses.</a:t>
            </a:r>
            <a:endParaRPr lang="en-US" sz="1400" dirty="0">
              <a:latin typeface="Times New Roman" panose="02020603050405020304" charset="0"/>
              <a:cs typeface="Times New Roman" panose="02020603050405020304" charset="0"/>
            </a:endParaRPr>
          </a:p>
        </p:txBody>
      </p:sp>
      <p:sp>
        <p:nvSpPr>
          <p:cNvPr id="10" name="Shape 8"/>
          <p:cNvSpPr/>
          <p:nvPr/>
        </p:nvSpPr>
        <p:spPr>
          <a:xfrm>
            <a:off x="6217920" y="224028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1" name="Shape 9"/>
          <p:cNvSpPr/>
          <p:nvPr/>
        </p:nvSpPr>
        <p:spPr>
          <a:xfrm>
            <a:off x="6473952" y="2496312"/>
            <a:ext cx="502920" cy="502920"/>
          </a:xfrm>
          <a:prstGeom prst="ellipse">
            <a:avLst/>
          </a:prstGeom>
          <a:solidFill>
            <a:srgbClr val="8A6FF0"/>
          </a:solidFill>
        </p:spPr>
      </p:sp>
      <p:sp>
        <p:nvSpPr>
          <p:cNvPr id="12" name="Text 10"/>
          <p:cNvSpPr/>
          <p:nvPr/>
        </p:nvSpPr>
        <p:spPr>
          <a:xfrm>
            <a:off x="6473952" y="249631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3" name="Text 11"/>
          <p:cNvSpPr/>
          <p:nvPr/>
        </p:nvSpPr>
        <p:spPr>
          <a:xfrm>
            <a:off x="7132320" y="2441448"/>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High Volume of False Alerts</a:t>
            </a:r>
            <a:endParaRPr lang="en-US" sz="1600" dirty="0">
              <a:latin typeface="Times New Roman" panose="02020603050405020304" charset="0"/>
              <a:cs typeface="Times New Roman" panose="02020603050405020304" charset="0"/>
            </a:endParaRPr>
          </a:p>
        </p:txBody>
      </p:sp>
      <p:sp>
        <p:nvSpPr>
          <p:cNvPr id="14" name="Text 12"/>
          <p:cNvSpPr/>
          <p:nvPr/>
        </p:nvSpPr>
        <p:spPr>
          <a:xfrm>
            <a:off x="6492240" y="3063240"/>
            <a:ext cx="4846320" cy="86868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Rule-based threshold systems generate excessive false positives, causing alert fatigue and missed critical alerts.</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432511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6" name="Shape 14"/>
          <p:cNvSpPr/>
          <p:nvPr/>
        </p:nvSpPr>
        <p:spPr>
          <a:xfrm>
            <a:off x="804672" y="4581144"/>
            <a:ext cx="502920" cy="502920"/>
          </a:xfrm>
          <a:prstGeom prst="ellipse">
            <a:avLst/>
          </a:prstGeom>
          <a:solidFill>
            <a:srgbClr val="5C63E8"/>
          </a:solidFill>
        </p:spPr>
      </p:sp>
      <p:sp>
        <p:nvSpPr>
          <p:cNvPr id="17" name="Text 15"/>
          <p:cNvSpPr/>
          <p:nvPr/>
        </p:nvSpPr>
        <p:spPr>
          <a:xfrm>
            <a:off x="804672" y="458114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18" name="Text 16"/>
          <p:cNvSpPr/>
          <p:nvPr/>
        </p:nvSpPr>
        <p:spPr>
          <a:xfrm>
            <a:off x="1463040" y="4526280"/>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Lack of Predictive Capability</a:t>
            </a:r>
            <a:endParaRPr lang="en-US" sz="1600" dirty="0">
              <a:latin typeface="Times New Roman" panose="02020603050405020304" charset="0"/>
              <a:cs typeface="Times New Roman" panose="02020603050405020304" charset="0"/>
            </a:endParaRPr>
          </a:p>
        </p:txBody>
      </p:sp>
      <p:sp>
        <p:nvSpPr>
          <p:cNvPr id="19" name="Text 17"/>
          <p:cNvSpPr/>
          <p:nvPr/>
        </p:nvSpPr>
        <p:spPr>
          <a:xfrm>
            <a:off x="822960" y="5148072"/>
            <a:ext cx="4846320" cy="86868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Without early warning signals from multivariate data patterns, teams can't plan maintenance proactively.</a:t>
            </a:r>
            <a:endParaRPr lang="en-US" sz="1400" dirty="0">
              <a:latin typeface="Times New Roman" panose="02020603050405020304" charset="0"/>
              <a:cs typeface="Times New Roman" panose="02020603050405020304" charset="0"/>
            </a:endParaRPr>
          </a:p>
        </p:txBody>
      </p:sp>
      <p:sp>
        <p:nvSpPr>
          <p:cNvPr id="20" name="Shape 18"/>
          <p:cNvSpPr/>
          <p:nvPr/>
        </p:nvSpPr>
        <p:spPr>
          <a:xfrm>
            <a:off x="6217920" y="432511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21" name="Shape 19"/>
          <p:cNvSpPr/>
          <p:nvPr/>
        </p:nvSpPr>
        <p:spPr>
          <a:xfrm>
            <a:off x="6473952" y="4581144"/>
            <a:ext cx="502920" cy="502920"/>
          </a:xfrm>
          <a:prstGeom prst="ellipse">
            <a:avLst/>
          </a:prstGeom>
          <a:solidFill>
            <a:srgbClr val="3A3F9E"/>
          </a:solidFill>
        </p:spPr>
      </p:sp>
      <p:sp>
        <p:nvSpPr>
          <p:cNvPr id="22" name="Text 20"/>
          <p:cNvSpPr/>
          <p:nvPr/>
        </p:nvSpPr>
        <p:spPr>
          <a:xfrm>
            <a:off x="6473952" y="458114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700" dirty="0"/>
          </a:p>
        </p:txBody>
      </p:sp>
      <p:sp>
        <p:nvSpPr>
          <p:cNvPr id="23" name="Text 21"/>
          <p:cNvSpPr/>
          <p:nvPr/>
        </p:nvSpPr>
        <p:spPr>
          <a:xfrm>
            <a:off x="7132320" y="4526280"/>
            <a:ext cx="4251960" cy="45720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Silos &amp; Poor Integration</a:t>
            </a:r>
            <a:endParaRPr lang="en-US" sz="1600" dirty="0">
              <a:latin typeface="Times New Roman" panose="02020603050405020304" charset="0"/>
              <a:cs typeface="Times New Roman" panose="02020603050405020304" charset="0"/>
            </a:endParaRPr>
          </a:p>
        </p:txBody>
      </p:sp>
      <p:sp>
        <p:nvSpPr>
          <p:cNvPr id="24" name="Text 22"/>
          <p:cNvSpPr/>
          <p:nvPr/>
        </p:nvSpPr>
        <p:spPr>
          <a:xfrm>
            <a:off x="6492240" y="5148072"/>
            <a:ext cx="4846320" cy="86868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Sensor data, logs, and metrics stored in disconnected silos make it hard to detect complex failure patterns in time.</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PROPOSED SOLUTION</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ML-Powered Intelligent Failure Detection</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9436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Our proposed system uses supervised and unsupervised machine learning models trained on historical operational data to detect anomalies, classify failure types, and generate predictive maintenance alerts in real time.</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94560"/>
            <a:ext cx="3538728" cy="3566160"/>
          </a:xfrm>
          <a:prstGeom prst="roundRect">
            <a:avLst>
              <a:gd name="adj" fmla="val 2584"/>
            </a:avLst>
          </a:prstGeom>
          <a:solidFill>
            <a:srgbClr val="FFFFFF"/>
          </a:solidFill>
          <a:effectLst>
            <a:outerShdw blurRad="101600" dist="25400" dir="5400000" algn="bl" rotWithShape="0">
              <a:srgbClr val="5B6178">
                <a:alpha val="18000"/>
              </a:srgbClr>
            </a:outerShdw>
          </a:effectLst>
        </p:spPr>
      </p:sp>
      <p:sp>
        <p:nvSpPr>
          <p:cNvPr id="6" name="Shape 4"/>
          <p:cNvSpPr/>
          <p:nvPr/>
        </p:nvSpPr>
        <p:spPr>
          <a:xfrm>
            <a:off x="1929384" y="2514600"/>
            <a:ext cx="777240" cy="777240"/>
          </a:xfrm>
          <a:prstGeom prst="ellipse">
            <a:avLst/>
          </a:prstGeom>
          <a:solidFill>
            <a:srgbClr val="4B4FE0"/>
          </a:solidFill>
        </p:spPr>
      </p:sp>
      <p:sp>
        <p:nvSpPr>
          <p:cNvPr id="7" name="Text 5"/>
          <p:cNvSpPr/>
          <p:nvPr/>
        </p:nvSpPr>
        <p:spPr>
          <a:xfrm>
            <a:off x="1929384" y="2514600"/>
            <a:ext cx="777240" cy="777240"/>
          </a:xfrm>
          <a:prstGeom prst="rect">
            <a:avLst/>
          </a:prstGeom>
          <a:noFill/>
        </p:spPr>
        <p:txBody>
          <a:bodyPr wrap="square" rtlCol="0" anchor="ctr"/>
          <a:lstStyle/>
          <a:p>
            <a:pPr marL="0" indent="0" algn="ctr">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AI</a:t>
            </a:r>
            <a:endParaRPr lang="en-US" sz="1900" dirty="0"/>
          </a:p>
        </p:txBody>
      </p:sp>
      <p:sp>
        <p:nvSpPr>
          <p:cNvPr id="8" name="Text 6"/>
          <p:cNvSpPr/>
          <p:nvPr/>
        </p:nvSpPr>
        <p:spPr>
          <a:xfrm>
            <a:off x="777240" y="3474720"/>
            <a:ext cx="3081528" cy="685800"/>
          </a:xfrm>
          <a:prstGeom prst="rect">
            <a:avLst/>
          </a:prstGeom>
          <a:noFill/>
        </p:spPr>
        <p:txBody>
          <a:bodyPr wrap="square" rtlCol="0" anchor="ctr"/>
          <a:lstStyle/>
          <a:p>
            <a:pPr marL="0" indent="0" algn="ctr">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Anomaly Detection Engine</a:t>
            </a:r>
            <a:endParaRPr lang="en-US" sz="1600" dirty="0">
              <a:latin typeface="Times New Roman" panose="02020603050405020304" charset="0"/>
              <a:cs typeface="Times New Roman" panose="02020603050405020304" charset="0"/>
            </a:endParaRPr>
          </a:p>
        </p:txBody>
      </p:sp>
      <p:sp>
        <p:nvSpPr>
          <p:cNvPr id="9" name="Text 7"/>
          <p:cNvSpPr/>
          <p:nvPr/>
        </p:nvSpPr>
        <p:spPr>
          <a:xfrm>
            <a:off x="841248" y="4206240"/>
            <a:ext cx="2953512" cy="1371600"/>
          </a:xfrm>
          <a:prstGeom prst="rect">
            <a:avLst/>
          </a:prstGeom>
          <a:noFill/>
        </p:spPr>
        <p:txBody>
          <a:bodyPr wrap="square" rtlCol="0" anchor="ctr"/>
          <a:lstStyle/>
          <a:p>
            <a:pPr marL="0" indent="0" algn="ctr">
              <a:lnSpc>
                <a:spcPts val="16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Deploys Isolation Forest and Autoencoder models to continuously identify deviations from normal operational baselines across all monitored sensors and systems.</a:t>
            </a:r>
            <a:endParaRPr lang="en-US" sz="1400" dirty="0">
              <a:latin typeface="Times New Roman" panose="02020603050405020304" charset="0"/>
              <a:cs typeface="Times New Roman" panose="02020603050405020304" charset="0"/>
            </a:endParaRPr>
          </a:p>
        </p:txBody>
      </p:sp>
      <p:sp>
        <p:nvSpPr>
          <p:cNvPr id="10" name="Shape 8"/>
          <p:cNvSpPr/>
          <p:nvPr/>
        </p:nvSpPr>
        <p:spPr>
          <a:xfrm>
            <a:off x="4306824" y="2194560"/>
            <a:ext cx="3538728" cy="3566160"/>
          </a:xfrm>
          <a:prstGeom prst="roundRect">
            <a:avLst>
              <a:gd name="adj" fmla="val 2584"/>
            </a:avLst>
          </a:prstGeom>
          <a:solidFill>
            <a:srgbClr val="161B45"/>
          </a:solidFill>
          <a:effectLst>
            <a:outerShdw blurRad="101600" dist="25400" dir="5400000" algn="bl" rotWithShape="0">
              <a:srgbClr val="5B6178">
                <a:alpha val="18000"/>
              </a:srgbClr>
            </a:outerShdw>
          </a:effectLst>
        </p:spPr>
      </p:sp>
      <p:sp>
        <p:nvSpPr>
          <p:cNvPr id="11" name="Shape 9"/>
          <p:cNvSpPr/>
          <p:nvPr/>
        </p:nvSpPr>
        <p:spPr>
          <a:xfrm>
            <a:off x="5687568" y="2514600"/>
            <a:ext cx="777240" cy="777240"/>
          </a:xfrm>
          <a:prstGeom prst="ellipse">
            <a:avLst/>
          </a:prstGeom>
          <a:solidFill>
            <a:srgbClr val="34D1BF"/>
          </a:solidFill>
        </p:spPr>
      </p:sp>
      <p:sp>
        <p:nvSpPr>
          <p:cNvPr id="12" name="Text 10"/>
          <p:cNvSpPr/>
          <p:nvPr/>
        </p:nvSpPr>
        <p:spPr>
          <a:xfrm>
            <a:off x="5687568" y="2514600"/>
            <a:ext cx="777240" cy="777240"/>
          </a:xfrm>
          <a:prstGeom prst="rect">
            <a:avLst/>
          </a:prstGeom>
          <a:noFill/>
        </p:spPr>
        <p:txBody>
          <a:bodyPr wrap="square" rtlCol="0" anchor="ctr"/>
          <a:lstStyle/>
          <a:p>
            <a:pPr marL="0" indent="0" algn="ctr">
              <a:buNone/>
            </a:pPr>
            <a:r>
              <a:rPr lang="en-US" sz="1900" b="1" dirty="0">
                <a:solidFill>
                  <a:srgbClr val="161B45"/>
                </a:solidFill>
                <a:latin typeface="Calibri" panose="020F0502020204030204" pitchFamily="34" charset="0"/>
                <a:ea typeface="Calibri" panose="020F0502020204030204" pitchFamily="34" charset="-122"/>
                <a:cs typeface="Calibri" panose="020F0502020204030204" pitchFamily="34" charset="-120"/>
              </a:rPr>
              <a:t>FC</a:t>
            </a:r>
            <a:endParaRPr lang="en-US" sz="1900" dirty="0"/>
          </a:p>
        </p:txBody>
      </p:sp>
      <p:sp>
        <p:nvSpPr>
          <p:cNvPr id="13" name="Text 11"/>
          <p:cNvSpPr/>
          <p:nvPr/>
        </p:nvSpPr>
        <p:spPr>
          <a:xfrm>
            <a:off x="4535424" y="3474720"/>
            <a:ext cx="3081528" cy="685800"/>
          </a:xfrm>
          <a:prstGeom prst="rect">
            <a:avLst/>
          </a:prstGeom>
          <a:noFill/>
        </p:spPr>
        <p:txBody>
          <a:bodyPr wrap="square" rtlCol="0" anchor="ctr"/>
          <a:lstStyle/>
          <a:p>
            <a:pPr marL="0" indent="0" algn="ctr">
              <a:buNone/>
            </a:pPr>
            <a:r>
              <a:rPr lang="en-US" sz="1600" b="1" dirty="0">
                <a:solidFill>
                  <a:srgbClr val="FFFFFF"/>
                </a:solidFill>
                <a:latin typeface="Times New Roman" panose="02020603050405020304" charset="0"/>
                <a:ea typeface="Century Schoolbook" panose="02040604050505020304" pitchFamily="34" charset="-122"/>
                <a:cs typeface="Times New Roman" panose="02020603050405020304" charset="0"/>
              </a:rPr>
              <a:t>Predictive Failure Forecasting</a:t>
            </a:r>
            <a:endParaRPr lang="en-US" sz="1600" dirty="0">
              <a:latin typeface="Times New Roman" panose="02020603050405020304" charset="0"/>
              <a:cs typeface="Times New Roman" panose="02020603050405020304" charset="0"/>
            </a:endParaRPr>
          </a:p>
        </p:txBody>
      </p:sp>
      <p:sp>
        <p:nvSpPr>
          <p:cNvPr id="14" name="Text 12"/>
          <p:cNvSpPr/>
          <p:nvPr/>
        </p:nvSpPr>
        <p:spPr>
          <a:xfrm>
            <a:off x="4599432" y="4206240"/>
            <a:ext cx="2953512" cy="1371600"/>
          </a:xfrm>
          <a:prstGeom prst="rect">
            <a:avLst/>
          </a:prstGeom>
          <a:noFill/>
        </p:spPr>
        <p:txBody>
          <a:bodyPr wrap="square" rtlCol="0" anchor="ctr"/>
          <a:lstStyle/>
          <a:p>
            <a:pPr marL="0" indent="0" algn="ctr">
              <a:lnSpc>
                <a:spcPts val="1600"/>
              </a:lnSpc>
              <a:buNone/>
            </a:pPr>
            <a:r>
              <a:rPr lang="en-US" sz="1400" dirty="0">
                <a:solidFill>
                  <a:srgbClr val="C7CBF5"/>
                </a:solidFill>
                <a:latin typeface="Times New Roman" panose="02020603050405020304" charset="0"/>
                <a:ea typeface="Calibri" panose="020F0502020204030204" pitchFamily="34" charset="-122"/>
                <a:cs typeface="Times New Roman" panose="02020603050405020304" charset="0"/>
              </a:rPr>
              <a:t>Uses LSTM and time-series regression models to predict failure probability hours or days in advance, giving maintenance teams sufficient lead time to act.</a:t>
            </a:r>
            <a:endParaRPr lang="en-US" sz="1400" dirty="0">
              <a:latin typeface="Times New Roman" panose="02020603050405020304" charset="0"/>
              <a:cs typeface="Times New Roman" panose="02020603050405020304" charset="0"/>
            </a:endParaRPr>
          </a:p>
        </p:txBody>
      </p:sp>
      <p:sp>
        <p:nvSpPr>
          <p:cNvPr id="15" name="Shape 13"/>
          <p:cNvSpPr/>
          <p:nvPr/>
        </p:nvSpPr>
        <p:spPr>
          <a:xfrm>
            <a:off x="8065008" y="2194560"/>
            <a:ext cx="3538728" cy="3566160"/>
          </a:xfrm>
          <a:prstGeom prst="roundRect">
            <a:avLst>
              <a:gd name="adj" fmla="val 2584"/>
            </a:avLst>
          </a:prstGeom>
          <a:solidFill>
            <a:srgbClr val="FFFFFF"/>
          </a:solidFill>
          <a:effectLst>
            <a:outerShdw blurRad="101600" dist="25400" dir="5400000" algn="bl" rotWithShape="0">
              <a:srgbClr val="5B6178">
                <a:alpha val="18000"/>
              </a:srgbClr>
            </a:outerShdw>
          </a:effectLst>
        </p:spPr>
      </p:sp>
      <p:sp>
        <p:nvSpPr>
          <p:cNvPr id="16" name="Shape 14"/>
          <p:cNvSpPr/>
          <p:nvPr/>
        </p:nvSpPr>
        <p:spPr>
          <a:xfrm>
            <a:off x="9445752" y="2514600"/>
            <a:ext cx="777240" cy="777240"/>
          </a:xfrm>
          <a:prstGeom prst="ellipse">
            <a:avLst/>
          </a:prstGeom>
          <a:solidFill>
            <a:srgbClr val="4B4FE0"/>
          </a:solidFill>
        </p:spPr>
      </p:sp>
      <p:sp>
        <p:nvSpPr>
          <p:cNvPr id="17" name="Text 15"/>
          <p:cNvSpPr/>
          <p:nvPr/>
        </p:nvSpPr>
        <p:spPr>
          <a:xfrm>
            <a:off x="9445752" y="2514600"/>
            <a:ext cx="777240" cy="777240"/>
          </a:xfrm>
          <a:prstGeom prst="rect">
            <a:avLst/>
          </a:prstGeom>
          <a:noFill/>
        </p:spPr>
        <p:txBody>
          <a:bodyPr wrap="square" rtlCol="0" anchor="ctr"/>
          <a:lstStyle/>
          <a:p>
            <a:pPr marL="0" indent="0" algn="ctr">
              <a:buNone/>
            </a:pPr>
            <a:r>
              <a:rPr lang="en-US" sz="1900" b="1" dirty="0">
                <a:solidFill>
                  <a:srgbClr val="FFFFFF"/>
                </a:solidFill>
                <a:latin typeface="Calibri" panose="020F0502020204030204" pitchFamily="34" charset="0"/>
                <a:ea typeface="Calibri" panose="020F0502020204030204" pitchFamily="34" charset="-122"/>
                <a:cs typeface="Calibri" panose="020F0502020204030204" pitchFamily="34" charset="-120"/>
              </a:rPr>
              <a:t>AL</a:t>
            </a:r>
            <a:endParaRPr lang="en-US" sz="1900" dirty="0"/>
          </a:p>
        </p:txBody>
      </p:sp>
      <p:sp>
        <p:nvSpPr>
          <p:cNvPr id="18" name="Text 16"/>
          <p:cNvSpPr/>
          <p:nvPr/>
        </p:nvSpPr>
        <p:spPr>
          <a:xfrm>
            <a:off x="8293608" y="3474720"/>
            <a:ext cx="3081528" cy="685800"/>
          </a:xfrm>
          <a:prstGeom prst="rect">
            <a:avLst/>
          </a:prstGeom>
          <a:noFill/>
        </p:spPr>
        <p:txBody>
          <a:bodyPr wrap="square" rtlCol="0" anchor="ctr"/>
          <a:lstStyle/>
          <a:p>
            <a:pPr marL="0" indent="0" algn="ctr">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Real-Time Smart Alerting</a:t>
            </a:r>
            <a:endParaRPr lang="en-US" sz="1600" dirty="0">
              <a:latin typeface="Times New Roman" panose="02020603050405020304" charset="0"/>
              <a:cs typeface="Times New Roman" panose="02020603050405020304" charset="0"/>
            </a:endParaRPr>
          </a:p>
        </p:txBody>
      </p:sp>
      <p:sp>
        <p:nvSpPr>
          <p:cNvPr id="19" name="Text 17"/>
          <p:cNvSpPr/>
          <p:nvPr/>
        </p:nvSpPr>
        <p:spPr>
          <a:xfrm>
            <a:off x="8357616" y="4206240"/>
            <a:ext cx="2953512" cy="1371600"/>
          </a:xfrm>
          <a:prstGeom prst="rect">
            <a:avLst/>
          </a:prstGeom>
          <a:noFill/>
        </p:spPr>
        <p:txBody>
          <a:bodyPr wrap="square" rtlCol="0" anchor="ctr"/>
          <a:lstStyle/>
          <a:p>
            <a:pPr marL="0" indent="0" algn="ctr">
              <a:lnSpc>
                <a:spcPts val="16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Delivers intelligent, context-aware alerts with severity classification and root-cause explanations reducing false positives and enabling faster responses.</a:t>
            </a:r>
            <a:endParaRPr lang="en-US" sz="1400" dirty="0">
              <a:latin typeface="Times New Roman" panose="02020603050405020304" charset="0"/>
              <a:cs typeface="Times New Roman" panose="02020603050405020304" charset="0"/>
            </a:endParaRPr>
          </a:p>
        </p:txBody>
      </p:sp>
      <p:sp>
        <p:nvSpPr>
          <p:cNvPr id="20" name="Text 18"/>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SYSTEM ARCHITECTURE</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Architecture Overview</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The system is built on a layered, scalable architecture that ingests raw data, processes it through an ML pipeline, and delivers actionable insights via a unified dashboard and alerting interface.</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6" name="Shape 4"/>
          <p:cNvSpPr/>
          <p:nvPr/>
        </p:nvSpPr>
        <p:spPr>
          <a:xfrm>
            <a:off x="804672" y="2404872"/>
            <a:ext cx="502920" cy="502920"/>
          </a:xfrm>
          <a:prstGeom prst="ellipse">
            <a:avLst/>
          </a:prstGeom>
          <a:solidFill>
            <a:srgbClr val="8A6FF0"/>
          </a:solidFill>
        </p:spPr>
      </p:sp>
      <p:sp>
        <p:nvSpPr>
          <p:cNvPr id="7" name="Text 5"/>
          <p:cNvSpPr/>
          <p:nvPr/>
        </p:nvSpPr>
        <p:spPr>
          <a:xfrm>
            <a:off x="804672" y="2404872"/>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8" name="Text 6"/>
          <p:cNvSpPr/>
          <p:nvPr/>
        </p:nvSpPr>
        <p:spPr>
          <a:xfrm>
            <a:off x="1463040" y="2350008"/>
            <a:ext cx="4251960" cy="50292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Ingestion Layer</a:t>
            </a:r>
            <a:endParaRPr lang="en-US" sz="1600" dirty="0">
              <a:latin typeface="Times New Roman" panose="02020603050405020304" charset="0"/>
              <a:cs typeface="Times New Roman" panose="02020603050405020304" charset="0"/>
            </a:endParaRPr>
          </a:p>
        </p:txBody>
      </p:sp>
      <p:sp>
        <p:nvSpPr>
          <p:cNvPr id="9" name="Text 7"/>
          <p:cNvSpPr/>
          <p:nvPr/>
        </p:nvSpPr>
        <p:spPr>
          <a:xfrm>
            <a:off x="822960" y="2971800"/>
            <a:ext cx="4846320" cy="868680"/>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Collects real-time sensor readings, system logs, and operational metrics via Apache Kafka and MQTT. Supports structured and unstructured streams at scale.</a:t>
            </a:r>
            <a:endParaRPr lang="en-US" sz="1400" dirty="0">
              <a:latin typeface="Times New Roman" panose="02020603050405020304" charset="0"/>
              <a:cs typeface="Times New Roman" panose="02020603050405020304" charset="0"/>
            </a:endParaRPr>
          </a:p>
        </p:txBody>
      </p:sp>
      <p:sp>
        <p:nvSpPr>
          <p:cNvPr id="10" name="Shape 8"/>
          <p:cNvSpPr/>
          <p:nvPr/>
        </p:nvSpPr>
        <p:spPr>
          <a:xfrm>
            <a:off x="6217920" y="2148840"/>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1" name="Shape 9"/>
          <p:cNvSpPr/>
          <p:nvPr/>
        </p:nvSpPr>
        <p:spPr>
          <a:xfrm>
            <a:off x="6473952" y="2404872"/>
            <a:ext cx="502920" cy="502920"/>
          </a:xfrm>
          <a:prstGeom prst="ellipse">
            <a:avLst/>
          </a:prstGeom>
          <a:solidFill>
            <a:srgbClr val="8A6FF0"/>
          </a:solidFill>
        </p:spPr>
      </p:sp>
      <p:sp>
        <p:nvSpPr>
          <p:cNvPr id="12" name="Text 10"/>
          <p:cNvSpPr/>
          <p:nvPr/>
        </p:nvSpPr>
        <p:spPr>
          <a:xfrm>
            <a:off x="6473952" y="2404872"/>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3" name="Text 11"/>
          <p:cNvSpPr/>
          <p:nvPr/>
        </p:nvSpPr>
        <p:spPr>
          <a:xfrm>
            <a:off x="7132320" y="2350008"/>
            <a:ext cx="4251960" cy="50292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Processing &amp; Feature Engineering</a:t>
            </a:r>
            <a:endParaRPr lang="en-US" sz="1600" dirty="0">
              <a:latin typeface="Times New Roman" panose="02020603050405020304" charset="0"/>
              <a:cs typeface="Times New Roman" panose="02020603050405020304" charset="0"/>
            </a:endParaRPr>
          </a:p>
        </p:txBody>
      </p:sp>
      <p:sp>
        <p:nvSpPr>
          <p:cNvPr id="14" name="Text 12"/>
          <p:cNvSpPr/>
          <p:nvPr/>
        </p:nvSpPr>
        <p:spPr>
          <a:xfrm>
            <a:off x="6492240" y="2971800"/>
            <a:ext cx="4846320" cy="868680"/>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Cleans, normalizes, and transforms raw data using Apache Spark. Extracts rolling means, std deviations, and spectral components for ML inputs.</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423367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16" name="Shape 14"/>
          <p:cNvSpPr/>
          <p:nvPr/>
        </p:nvSpPr>
        <p:spPr>
          <a:xfrm>
            <a:off x="804672" y="4489704"/>
            <a:ext cx="502920" cy="502920"/>
          </a:xfrm>
          <a:prstGeom prst="ellipse">
            <a:avLst/>
          </a:prstGeom>
          <a:solidFill>
            <a:srgbClr val="8A6FF0"/>
          </a:solidFill>
        </p:spPr>
      </p:sp>
      <p:sp>
        <p:nvSpPr>
          <p:cNvPr id="17" name="Text 15"/>
          <p:cNvSpPr/>
          <p:nvPr/>
        </p:nvSpPr>
        <p:spPr>
          <a:xfrm>
            <a:off x="804672" y="4489704"/>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8" name="Text 16"/>
          <p:cNvSpPr/>
          <p:nvPr/>
        </p:nvSpPr>
        <p:spPr>
          <a:xfrm>
            <a:off x="1463040" y="4434840"/>
            <a:ext cx="4251960" cy="50292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ML Model Serving Layer</a:t>
            </a:r>
            <a:endParaRPr lang="en-US" sz="1600" dirty="0">
              <a:latin typeface="Times New Roman" panose="02020603050405020304" charset="0"/>
              <a:cs typeface="Times New Roman" panose="02020603050405020304" charset="0"/>
            </a:endParaRPr>
          </a:p>
        </p:txBody>
      </p:sp>
      <p:sp>
        <p:nvSpPr>
          <p:cNvPr id="19" name="Text 17"/>
          <p:cNvSpPr/>
          <p:nvPr/>
        </p:nvSpPr>
        <p:spPr>
          <a:xfrm>
            <a:off x="822960" y="5056632"/>
            <a:ext cx="4846320" cy="868680"/>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Hosts trained models (Isolation Forest, LSTM, Random Forest) via REST API using MLflow and FastAPI, with continuous drift-triggered retraining.</a:t>
            </a:r>
            <a:endParaRPr lang="en-US" sz="1400" dirty="0">
              <a:latin typeface="Times New Roman" panose="02020603050405020304" charset="0"/>
              <a:cs typeface="Times New Roman" panose="02020603050405020304" charset="0"/>
            </a:endParaRPr>
          </a:p>
        </p:txBody>
      </p:sp>
      <p:sp>
        <p:nvSpPr>
          <p:cNvPr id="20" name="Shape 18"/>
          <p:cNvSpPr/>
          <p:nvPr/>
        </p:nvSpPr>
        <p:spPr>
          <a:xfrm>
            <a:off x="6217920" y="4233672"/>
            <a:ext cx="5394960" cy="1828800"/>
          </a:xfrm>
          <a:prstGeom prst="roundRect">
            <a:avLst>
              <a:gd name="adj" fmla="val 4500"/>
            </a:avLst>
          </a:prstGeom>
          <a:solidFill>
            <a:srgbClr val="FFFFFF"/>
          </a:solidFill>
          <a:effectLst>
            <a:outerShdw blurRad="88900" dist="25400" dir="5400000" algn="bl" rotWithShape="0">
              <a:srgbClr val="5B6178">
                <a:alpha val="16000"/>
              </a:srgbClr>
            </a:outerShdw>
          </a:effectLst>
        </p:spPr>
      </p:sp>
      <p:sp>
        <p:nvSpPr>
          <p:cNvPr id="21" name="Shape 19"/>
          <p:cNvSpPr/>
          <p:nvPr/>
        </p:nvSpPr>
        <p:spPr>
          <a:xfrm>
            <a:off x="6473952" y="4489704"/>
            <a:ext cx="502920" cy="502920"/>
          </a:xfrm>
          <a:prstGeom prst="ellipse">
            <a:avLst/>
          </a:prstGeom>
          <a:solidFill>
            <a:srgbClr val="8A6FF0"/>
          </a:solidFill>
        </p:spPr>
      </p:sp>
      <p:sp>
        <p:nvSpPr>
          <p:cNvPr id="22" name="Text 20"/>
          <p:cNvSpPr/>
          <p:nvPr/>
        </p:nvSpPr>
        <p:spPr>
          <a:xfrm>
            <a:off x="6473952" y="4489704"/>
            <a:ext cx="502920" cy="50292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3" name="Text 21"/>
          <p:cNvSpPr/>
          <p:nvPr/>
        </p:nvSpPr>
        <p:spPr>
          <a:xfrm>
            <a:off x="7132320" y="4434840"/>
            <a:ext cx="4251960" cy="50292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Visualization &amp; Alerting Layer</a:t>
            </a:r>
            <a:endParaRPr lang="en-US" sz="1600" dirty="0">
              <a:latin typeface="Times New Roman" panose="02020603050405020304" charset="0"/>
              <a:cs typeface="Times New Roman" panose="02020603050405020304" charset="0"/>
            </a:endParaRPr>
          </a:p>
        </p:txBody>
      </p:sp>
      <p:sp>
        <p:nvSpPr>
          <p:cNvPr id="24" name="Text 22"/>
          <p:cNvSpPr/>
          <p:nvPr/>
        </p:nvSpPr>
        <p:spPr>
          <a:xfrm>
            <a:off x="6492240" y="5056632"/>
            <a:ext cx="4846320" cy="868680"/>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Presents real-time metrics and predictions via a Grafana dashboard. Alerts route via email, SMS, or webhooks to operations teams.</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WORKFLOW</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System Workflow: End-to-End Process</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The smart failure detection pipeline follows a structured, automated workflow, from raw data ingestion all the way to alert generation and feedback-driven model improvement.</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6" name="Shape 4"/>
          <p:cNvSpPr/>
          <p:nvPr/>
        </p:nvSpPr>
        <p:spPr>
          <a:xfrm>
            <a:off x="749808" y="2354580"/>
            <a:ext cx="548640" cy="548640"/>
          </a:xfrm>
          <a:prstGeom prst="ellipse">
            <a:avLst/>
          </a:prstGeom>
          <a:solidFill>
            <a:srgbClr val="4B4FE0"/>
          </a:solidFill>
        </p:spPr>
      </p:sp>
      <p:sp>
        <p:nvSpPr>
          <p:cNvPr id="7" name="Text 5"/>
          <p:cNvSpPr/>
          <p:nvPr/>
        </p:nvSpPr>
        <p:spPr>
          <a:xfrm>
            <a:off x="749808" y="2354580"/>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8" name="Text 6"/>
          <p:cNvSpPr/>
          <p:nvPr/>
        </p:nvSpPr>
        <p:spPr>
          <a:xfrm>
            <a:off x="1600200" y="2258568"/>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Data Collection &amp; Streaming</a:t>
            </a:r>
            <a:endParaRPr lang="en-US" sz="1600" dirty="0">
              <a:latin typeface="Times New Roman" panose="02020603050405020304" charset="0"/>
              <a:cs typeface="Times New Roman" panose="02020603050405020304" charset="0"/>
            </a:endParaRPr>
          </a:p>
        </p:txBody>
      </p:sp>
      <p:sp>
        <p:nvSpPr>
          <p:cNvPr id="9" name="Text 7"/>
          <p:cNvSpPr/>
          <p:nvPr/>
        </p:nvSpPr>
        <p:spPr>
          <a:xfrm>
            <a:off x="1600200" y="2606040"/>
            <a:ext cx="9692640" cy="438912"/>
          </a:xfrm>
          <a:prstGeom prst="rect">
            <a:avLst/>
          </a:prstGeom>
          <a:noFill/>
        </p:spPr>
        <p:txBody>
          <a:bodyPr wrap="square" rtlCol="0" anchor="ctr"/>
          <a:lstStyle/>
          <a:p>
            <a:pPr marL="0" indent="0">
              <a:lnSpc>
                <a:spcPts val="13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Sensors and system agents continuously stream operational data (temperature, vibration, CPU, memory, logs) into the ingestion pipeline via Kafka topics in real time.</a:t>
            </a:r>
            <a:endParaRPr lang="en-US" sz="1400" dirty="0">
              <a:latin typeface="Times New Roman" panose="02020603050405020304" charset="0"/>
              <a:cs typeface="Times New Roman" panose="02020603050405020304" charset="0"/>
            </a:endParaRPr>
          </a:p>
        </p:txBody>
      </p:sp>
      <p:sp>
        <p:nvSpPr>
          <p:cNvPr id="10" name="Shape 8"/>
          <p:cNvSpPr/>
          <p:nvPr/>
        </p:nvSpPr>
        <p:spPr>
          <a:xfrm>
            <a:off x="548640" y="3236976"/>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11" name="Shape 9"/>
          <p:cNvSpPr/>
          <p:nvPr/>
        </p:nvSpPr>
        <p:spPr>
          <a:xfrm>
            <a:off x="749808" y="3442716"/>
            <a:ext cx="548640" cy="548640"/>
          </a:xfrm>
          <a:prstGeom prst="ellipse">
            <a:avLst/>
          </a:prstGeom>
          <a:solidFill>
            <a:srgbClr val="4B4FE0"/>
          </a:solidFill>
        </p:spPr>
      </p:sp>
      <p:sp>
        <p:nvSpPr>
          <p:cNvPr id="12" name="Text 10"/>
          <p:cNvSpPr/>
          <p:nvPr/>
        </p:nvSpPr>
        <p:spPr>
          <a:xfrm>
            <a:off x="749808" y="3442716"/>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3" name="Text 11"/>
          <p:cNvSpPr/>
          <p:nvPr/>
        </p:nvSpPr>
        <p:spPr>
          <a:xfrm>
            <a:off x="1600200" y="3346704"/>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Preprocessing &amp; Feature Extraction</a:t>
            </a:r>
            <a:endParaRPr lang="en-US" sz="1600" dirty="0">
              <a:latin typeface="Times New Roman" panose="02020603050405020304" charset="0"/>
              <a:cs typeface="Times New Roman" panose="02020603050405020304" charset="0"/>
            </a:endParaRPr>
          </a:p>
        </p:txBody>
      </p:sp>
      <p:sp>
        <p:nvSpPr>
          <p:cNvPr id="14" name="Text 12"/>
          <p:cNvSpPr/>
          <p:nvPr/>
        </p:nvSpPr>
        <p:spPr>
          <a:xfrm>
            <a:off x="1600200" y="3694176"/>
            <a:ext cx="9692640" cy="438912"/>
          </a:xfrm>
          <a:prstGeom prst="rect">
            <a:avLst/>
          </a:prstGeom>
          <a:noFill/>
        </p:spPr>
        <p:txBody>
          <a:bodyPr wrap="square" rtlCol="0" anchor="ctr"/>
          <a:lstStyle/>
          <a:p>
            <a:pPr marL="0" indent="0">
              <a:lnSpc>
                <a:spcPts val="13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Raw streams are cleaned for missing values and noise. Feature engineering extracts time- and frequency-domain features; data is windowed for inference.</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4325112"/>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16" name="Shape 14"/>
          <p:cNvSpPr/>
          <p:nvPr/>
        </p:nvSpPr>
        <p:spPr>
          <a:xfrm>
            <a:off x="749808" y="4530852"/>
            <a:ext cx="548640" cy="548640"/>
          </a:xfrm>
          <a:prstGeom prst="ellipse">
            <a:avLst/>
          </a:prstGeom>
          <a:solidFill>
            <a:srgbClr val="4B4FE0"/>
          </a:solidFill>
        </p:spPr>
      </p:sp>
      <p:sp>
        <p:nvSpPr>
          <p:cNvPr id="17" name="Text 15"/>
          <p:cNvSpPr/>
          <p:nvPr/>
        </p:nvSpPr>
        <p:spPr>
          <a:xfrm>
            <a:off x="749808" y="4530852"/>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8" name="Text 16"/>
          <p:cNvSpPr/>
          <p:nvPr/>
        </p:nvSpPr>
        <p:spPr>
          <a:xfrm>
            <a:off x="1600200" y="4434840"/>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Model Inference &amp; Anomaly Scoring</a:t>
            </a:r>
            <a:endParaRPr lang="en-US" sz="1600" dirty="0">
              <a:latin typeface="Times New Roman" panose="02020603050405020304" charset="0"/>
              <a:cs typeface="Times New Roman" panose="02020603050405020304" charset="0"/>
            </a:endParaRPr>
          </a:p>
        </p:txBody>
      </p:sp>
      <p:sp>
        <p:nvSpPr>
          <p:cNvPr id="19" name="Text 17"/>
          <p:cNvSpPr/>
          <p:nvPr/>
        </p:nvSpPr>
        <p:spPr>
          <a:xfrm>
            <a:off x="1600200" y="4782312"/>
            <a:ext cx="9692640" cy="438912"/>
          </a:xfrm>
          <a:prstGeom prst="rect">
            <a:avLst/>
          </a:prstGeom>
          <a:noFill/>
        </p:spPr>
        <p:txBody>
          <a:bodyPr wrap="square" rtlCol="0" anchor="ctr"/>
          <a:lstStyle/>
          <a:p>
            <a:pPr marL="0" indent="0">
              <a:lnSpc>
                <a:spcPts val="13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Pre-trained ML models analyze each data window, producing an anomaly score and failure probability. Scores above threshold trigger alerting.</a:t>
            </a:r>
            <a:endParaRPr lang="en-US" sz="1400" dirty="0">
              <a:latin typeface="Times New Roman" panose="02020603050405020304" charset="0"/>
              <a:cs typeface="Times New Roman" panose="02020603050405020304" charset="0"/>
            </a:endParaRPr>
          </a:p>
        </p:txBody>
      </p:sp>
      <p:sp>
        <p:nvSpPr>
          <p:cNvPr id="20" name="Shape 18"/>
          <p:cNvSpPr/>
          <p:nvPr/>
        </p:nvSpPr>
        <p:spPr>
          <a:xfrm>
            <a:off x="548640" y="5413248"/>
            <a:ext cx="11064240" cy="960120"/>
          </a:xfrm>
          <a:prstGeom prst="roundRect">
            <a:avLst>
              <a:gd name="adj" fmla="val 7619"/>
            </a:avLst>
          </a:prstGeom>
          <a:solidFill>
            <a:srgbClr val="FFFFFF"/>
          </a:solidFill>
          <a:effectLst>
            <a:outerShdw blurRad="76200" dist="25400" dir="5400000" algn="bl" rotWithShape="0">
              <a:srgbClr val="5B6178">
                <a:alpha val="14000"/>
              </a:srgbClr>
            </a:outerShdw>
          </a:effectLst>
        </p:spPr>
      </p:sp>
      <p:sp>
        <p:nvSpPr>
          <p:cNvPr id="21" name="Shape 19"/>
          <p:cNvSpPr/>
          <p:nvPr/>
        </p:nvSpPr>
        <p:spPr>
          <a:xfrm>
            <a:off x="749808" y="5618988"/>
            <a:ext cx="548640" cy="548640"/>
          </a:xfrm>
          <a:prstGeom prst="ellipse">
            <a:avLst/>
          </a:prstGeom>
          <a:solidFill>
            <a:srgbClr val="4B4FE0"/>
          </a:solidFill>
        </p:spPr>
      </p:sp>
      <p:sp>
        <p:nvSpPr>
          <p:cNvPr id="22" name="Text 20"/>
          <p:cNvSpPr/>
          <p:nvPr/>
        </p:nvSpPr>
        <p:spPr>
          <a:xfrm>
            <a:off x="749808" y="5618988"/>
            <a:ext cx="548640" cy="548640"/>
          </a:xfrm>
          <a:prstGeom prst="rect">
            <a:avLst/>
          </a:prstGeom>
          <a:noFill/>
        </p:spPr>
        <p:txBody>
          <a:bodyPr wrap="square" rtlCol="0" anchor="ctr"/>
          <a:lstStyle/>
          <a:p>
            <a:pPr marL="0" indent="0" algn="ctr">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3" name="Text 21"/>
          <p:cNvSpPr/>
          <p:nvPr/>
        </p:nvSpPr>
        <p:spPr>
          <a:xfrm>
            <a:off x="1600200" y="5522976"/>
            <a:ext cx="9601200" cy="329184"/>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Alert Generation &amp; Feedback Loop</a:t>
            </a:r>
            <a:endParaRPr lang="en-US" sz="1600" dirty="0">
              <a:latin typeface="Times New Roman" panose="02020603050405020304" charset="0"/>
              <a:cs typeface="Times New Roman" panose="02020603050405020304" charset="0"/>
            </a:endParaRPr>
          </a:p>
        </p:txBody>
      </p:sp>
      <p:sp>
        <p:nvSpPr>
          <p:cNvPr id="24" name="Text 22"/>
          <p:cNvSpPr/>
          <p:nvPr/>
        </p:nvSpPr>
        <p:spPr>
          <a:xfrm>
            <a:off x="1600200" y="5870448"/>
            <a:ext cx="9692640" cy="438912"/>
          </a:xfrm>
          <a:prstGeom prst="rect">
            <a:avLst/>
          </a:prstGeom>
          <a:noFill/>
        </p:spPr>
        <p:txBody>
          <a:bodyPr wrap="square" rtlCol="0" anchor="ctr"/>
          <a:lstStyle/>
          <a:p>
            <a:pPr marL="0" indent="0">
              <a:lnSpc>
                <a:spcPts val="13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Alerts are dispatched with severity level and probable root cause. Operator feedback is logged and used to continuously retrain models.</a:t>
            </a:r>
            <a:endParaRPr lang="en-US" sz="1400" dirty="0">
              <a:latin typeface="Times New Roman" panose="02020603050405020304" charset="0"/>
              <a:cs typeface="Times New Roman" panose="02020603050405020304" charset="0"/>
            </a:endParaRPr>
          </a:p>
        </p:txBody>
      </p:sp>
      <p:sp>
        <p:nvSpPr>
          <p:cNvPr id="25" name="Text 23"/>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TECHNOLOGY STACK</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Tools &amp; Technologies Used</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The system is built on industry-standard open-source and cloud-native technologies, ensuring scalability, reliability, and ease of integration with existing enterprise infrastructure.</a:t>
            </a:r>
            <a:endParaRPr lang="en-US" sz="1600" dirty="0">
              <a:latin typeface="Times New Roman" panose="02020603050405020304" charset="0"/>
              <a:cs typeface="Times New Roman" panose="02020603050405020304" charset="0"/>
            </a:endParaRPr>
          </a:p>
        </p:txBody>
      </p:sp>
      <p:sp>
        <p:nvSpPr>
          <p:cNvPr id="5" name="Text 3"/>
          <p:cNvSpPr/>
          <p:nvPr/>
        </p:nvSpPr>
        <p:spPr>
          <a:xfrm>
            <a:off x="548640" y="2148840"/>
            <a:ext cx="5394960" cy="274320"/>
          </a:xfrm>
          <a:prstGeom prst="rect">
            <a:avLst/>
          </a:prstGeom>
          <a:noFill/>
        </p:spPr>
        <p:txBody>
          <a:bodyPr wrap="square" rtlCol="0" anchor="ctr"/>
          <a:lstStyle/>
          <a:p>
            <a:pPr marL="0" indent="0">
              <a:buNone/>
            </a:pPr>
            <a:r>
              <a:rPr lang="en-US" sz="1400" b="1" kern="0" spc="150" dirty="0">
                <a:solidFill>
                  <a:srgbClr val="4B4FE0"/>
                </a:solidFill>
                <a:latin typeface="Times New Roman" panose="02020603050405020304" charset="0"/>
                <a:ea typeface="Calibri" panose="020F0502020204030204" pitchFamily="34" charset="-122"/>
                <a:cs typeface="Times New Roman" panose="02020603050405020304" charset="0"/>
              </a:rPr>
              <a:t>DATA &amp; ML INFRASTRUCTURE</a:t>
            </a:r>
            <a:endParaRPr lang="en-US" sz="1400" dirty="0">
              <a:latin typeface="Times New Roman" panose="02020603050405020304" charset="0"/>
              <a:cs typeface="Times New Roman" panose="02020603050405020304" charset="0"/>
            </a:endParaRPr>
          </a:p>
        </p:txBody>
      </p:sp>
      <p:sp>
        <p:nvSpPr>
          <p:cNvPr id="6" name="Text 4"/>
          <p:cNvSpPr/>
          <p:nvPr/>
        </p:nvSpPr>
        <p:spPr>
          <a:xfrm>
            <a:off x="6217920" y="2148840"/>
            <a:ext cx="5394960" cy="274320"/>
          </a:xfrm>
          <a:prstGeom prst="rect">
            <a:avLst/>
          </a:prstGeom>
          <a:noFill/>
        </p:spPr>
        <p:txBody>
          <a:bodyPr wrap="square" rtlCol="0" anchor="ctr"/>
          <a:lstStyle/>
          <a:p>
            <a:pPr marL="0" indent="0">
              <a:buNone/>
            </a:pPr>
            <a:r>
              <a:rPr lang="en-US" sz="1400" b="1" kern="0" spc="150" dirty="0">
                <a:solidFill>
                  <a:srgbClr val="4B4FE0"/>
                </a:solidFill>
                <a:latin typeface="Times New Roman" panose="02020603050405020304" charset="0"/>
                <a:ea typeface="Calibri" panose="020F0502020204030204" pitchFamily="34" charset="-122"/>
                <a:cs typeface="Times New Roman" panose="02020603050405020304" charset="0"/>
              </a:rPr>
              <a:t>STORAGE, MONITORING &amp; DEPLOYMENT</a:t>
            </a:r>
            <a:endParaRPr lang="en-US" sz="1400" dirty="0">
              <a:latin typeface="Times New Roman" panose="02020603050405020304" charset="0"/>
              <a:cs typeface="Times New Roman" panose="02020603050405020304" charset="0"/>
            </a:endParaRPr>
          </a:p>
        </p:txBody>
      </p:sp>
      <p:sp>
        <p:nvSpPr>
          <p:cNvPr id="7" name="Shape 5"/>
          <p:cNvSpPr/>
          <p:nvPr/>
        </p:nvSpPr>
        <p:spPr>
          <a:xfrm>
            <a:off x="548640" y="2514600"/>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8" name="Shape 6"/>
          <p:cNvSpPr/>
          <p:nvPr/>
        </p:nvSpPr>
        <p:spPr>
          <a:xfrm>
            <a:off x="749808" y="2697480"/>
            <a:ext cx="82296" cy="804672"/>
          </a:xfrm>
          <a:prstGeom prst="roundRect">
            <a:avLst>
              <a:gd name="adj" fmla="val 44444"/>
            </a:avLst>
          </a:prstGeom>
          <a:solidFill>
            <a:srgbClr val="8A6FF0"/>
          </a:solidFill>
        </p:spPr>
      </p:sp>
      <p:sp>
        <p:nvSpPr>
          <p:cNvPr id="9" name="Text 7"/>
          <p:cNvSpPr/>
          <p:nvPr/>
        </p:nvSpPr>
        <p:spPr>
          <a:xfrm>
            <a:off x="987552" y="2642616"/>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Apache Kafka &amp; Spark</a:t>
            </a:r>
            <a:endParaRPr lang="en-US" sz="1300" dirty="0">
              <a:latin typeface="Times New Roman" panose="02020603050405020304" charset="0"/>
              <a:cs typeface="Times New Roman" panose="02020603050405020304" charset="0"/>
            </a:endParaRPr>
          </a:p>
        </p:txBody>
      </p:sp>
      <p:sp>
        <p:nvSpPr>
          <p:cNvPr id="10" name="Text 8"/>
          <p:cNvSpPr/>
          <p:nvPr/>
        </p:nvSpPr>
        <p:spPr>
          <a:xfrm>
            <a:off x="987552" y="2971800"/>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High-throughput distributed streaming and batch processing for real-time ingestion and feature engineering.</a:t>
            </a:r>
            <a:endParaRPr lang="en-US" sz="1400" dirty="0">
              <a:latin typeface="Times New Roman" panose="02020603050405020304" charset="0"/>
              <a:cs typeface="Times New Roman" panose="02020603050405020304" charset="0"/>
            </a:endParaRPr>
          </a:p>
        </p:txBody>
      </p:sp>
      <p:sp>
        <p:nvSpPr>
          <p:cNvPr id="11" name="Shape 9"/>
          <p:cNvSpPr/>
          <p:nvPr/>
        </p:nvSpPr>
        <p:spPr>
          <a:xfrm>
            <a:off x="548640" y="3813048"/>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12" name="Shape 10"/>
          <p:cNvSpPr/>
          <p:nvPr/>
        </p:nvSpPr>
        <p:spPr>
          <a:xfrm>
            <a:off x="749808" y="3995928"/>
            <a:ext cx="82296" cy="804672"/>
          </a:xfrm>
          <a:prstGeom prst="roundRect">
            <a:avLst>
              <a:gd name="adj" fmla="val 44444"/>
            </a:avLst>
          </a:prstGeom>
          <a:solidFill>
            <a:srgbClr val="8A6FF0"/>
          </a:solidFill>
        </p:spPr>
      </p:sp>
      <p:sp>
        <p:nvSpPr>
          <p:cNvPr id="13" name="Text 11"/>
          <p:cNvSpPr/>
          <p:nvPr/>
        </p:nvSpPr>
        <p:spPr>
          <a:xfrm>
            <a:off x="987552" y="3941064"/>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Python, Scikit-learn &amp; TensorFlow</a:t>
            </a:r>
            <a:endParaRPr lang="en-US" sz="1300" dirty="0">
              <a:latin typeface="Times New Roman" panose="02020603050405020304" charset="0"/>
              <a:cs typeface="Times New Roman" panose="02020603050405020304" charset="0"/>
            </a:endParaRPr>
          </a:p>
        </p:txBody>
      </p:sp>
      <p:sp>
        <p:nvSpPr>
          <p:cNvPr id="14" name="Text 12"/>
          <p:cNvSpPr/>
          <p:nvPr/>
        </p:nvSpPr>
        <p:spPr>
          <a:xfrm>
            <a:off x="987552" y="4270248"/>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Core ML stack for building Isolation Forest, Random Forest, and LSTM models.</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5111496"/>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16" name="Shape 14"/>
          <p:cNvSpPr/>
          <p:nvPr/>
        </p:nvSpPr>
        <p:spPr>
          <a:xfrm>
            <a:off x="749808" y="5294376"/>
            <a:ext cx="82296" cy="804672"/>
          </a:xfrm>
          <a:prstGeom prst="roundRect">
            <a:avLst>
              <a:gd name="adj" fmla="val 44444"/>
            </a:avLst>
          </a:prstGeom>
          <a:solidFill>
            <a:srgbClr val="8A6FF0"/>
          </a:solidFill>
        </p:spPr>
      </p:sp>
      <p:sp>
        <p:nvSpPr>
          <p:cNvPr id="17" name="Text 15"/>
          <p:cNvSpPr/>
          <p:nvPr/>
        </p:nvSpPr>
        <p:spPr>
          <a:xfrm>
            <a:off x="987552" y="5239512"/>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MLflow &amp; FastAPI</a:t>
            </a:r>
            <a:endParaRPr lang="en-US" sz="1300" dirty="0">
              <a:latin typeface="Times New Roman" panose="02020603050405020304" charset="0"/>
              <a:cs typeface="Times New Roman" panose="02020603050405020304" charset="0"/>
            </a:endParaRPr>
          </a:p>
        </p:txBody>
      </p:sp>
      <p:sp>
        <p:nvSpPr>
          <p:cNvPr id="18" name="Text 16"/>
          <p:cNvSpPr/>
          <p:nvPr/>
        </p:nvSpPr>
        <p:spPr>
          <a:xfrm>
            <a:off x="987552" y="5568696"/>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Experiment tracking, model versioning, and low-latency REST inference endpoints.</a:t>
            </a:r>
            <a:endParaRPr lang="en-US" sz="1400" dirty="0">
              <a:latin typeface="Times New Roman" panose="02020603050405020304" charset="0"/>
              <a:cs typeface="Times New Roman" panose="02020603050405020304" charset="0"/>
            </a:endParaRPr>
          </a:p>
        </p:txBody>
      </p:sp>
      <p:sp>
        <p:nvSpPr>
          <p:cNvPr id="19" name="Shape 17"/>
          <p:cNvSpPr/>
          <p:nvPr/>
        </p:nvSpPr>
        <p:spPr>
          <a:xfrm>
            <a:off x="6217920" y="2514600"/>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0" name="Shape 18"/>
          <p:cNvSpPr/>
          <p:nvPr/>
        </p:nvSpPr>
        <p:spPr>
          <a:xfrm>
            <a:off x="6419088" y="2697480"/>
            <a:ext cx="82296" cy="804672"/>
          </a:xfrm>
          <a:prstGeom prst="roundRect">
            <a:avLst>
              <a:gd name="adj" fmla="val 44444"/>
            </a:avLst>
          </a:prstGeom>
          <a:solidFill>
            <a:srgbClr val="8A6FF0"/>
          </a:solidFill>
        </p:spPr>
      </p:sp>
      <p:sp>
        <p:nvSpPr>
          <p:cNvPr id="21" name="Text 19"/>
          <p:cNvSpPr/>
          <p:nvPr/>
        </p:nvSpPr>
        <p:spPr>
          <a:xfrm>
            <a:off x="6656832" y="2642616"/>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InfluxDB &amp; PostgreSQL</a:t>
            </a:r>
            <a:endParaRPr lang="en-US" sz="1300" dirty="0">
              <a:latin typeface="Times New Roman" panose="02020603050405020304" charset="0"/>
              <a:cs typeface="Times New Roman" panose="02020603050405020304" charset="0"/>
            </a:endParaRPr>
          </a:p>
        </p:txBody>
      </p:sp>
      <p:sp>
        <p:nvSpPr>
          <p:cNvPr id="22" name="Text 20"/>
          <p:cNvSpPr/>
          <p:nvPr/>
        </p:nvSpPr>
        <p:spPr>
          <a:xfrm>
            <a:off x="6656832" y="2971800"/>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Time-series storage for sensor metrics; relational storage for metadata, alerts and feedback.</a:t>
            </a:r>
            <a:endParaRPr lang="en-US" sz="1400" dirty="0">
              <a:latin typeface="Times New Roman" panose="02020603050405020304" charset="0"/>
              <a:cs typeface="Times New Roman" panose="02020603050405020304" charset="0"/>
            </a:endParaRPr>
          </a:p>
        </p:txBody>
      </p:sp>
      <p:sp>
        <p:nvSpPr>
          <p:cNvPr id="23" name="Shape 21"/>
          <p:cNvSpPr/>
          <p:nvPr/>
        </p:nvSpPr>
        <p:spPr>
          <a:xfrm>
            <a:off x="6217920" y="3813048"/>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4" name="Shape 22"/>
          <p:cNvSpPr/>
          <p:nvPr/>
        </p:nvSpPr>
        <p:spPr>
          <a:xfrm>
            <a:off x="6419088" y="3995928"/>
            <a:ext cx="82296" cy="804672"/>
          </a:xfrm>
          <a:prstGeom prst="roundRect">
            <a:avLst>
              <a:gd name="adj" fmla="val 44444"/>
            </a:avLst>
          </a:prstGeom>
          <a:solidFill>
            <a:srgbClr val="8A6FF0"/>
          </a:solidFill>
        </p:spPr>
      </p:sp>
      <p:sp>
        <p:nvSpPr>
          <p:cNvPr id="25" name="Text 23"/>
          <p:cNvSpPr/>
          <p:nvPr/>
        </p:nvSpPr>
        <p:spPr>
          <a:xfrm>
            <a:off x="6656832" y="3941064"/>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Grafana &amp; Prometheus</a:t>
            </a:r>
            <a:endParaRPr lang="en-US" sz="1300" dirty="0">
              <a:latin typeface="Times New Roman" panose="02020603050405020304" charset="0"/>
              <a:cs typeface="Times New Roman" panose="02020603050405020304" charset="0"/>
            </a:endParaRPr>
          </a:p>
        </p:txBody>
      </p:sp>
      <p:sp>
        <p:nvSpPr>
          <p:cNvPr id="26" name="Text 24"/>
          <p:cNvSpPr/>
          <p:nvPr/>
        </p:nvSpPr>
        <p:spPr>
          <a:xfrm>
            <a:off x="6656832" y="4270248"/>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Real-time dashboards for anomaly visualization and ML-serving performance monitoring.</a:t>
            </a:r>
            <a:endParaRPr lang="en-US" sz="1400" dirty="0">
              <a:latin typeface="Times New Roman" panose="02020603050405020304" charset="0"/>
              <a:cs typeface="Times New Roman" panose="02020603050405020304" charset="0"/>
            </a:endParaRPr>
          </a:p>
        </p:txBody>
      </p:sp>
      <p:sp>
        <p:nvSpPr>
          <p:cNvPr id="27" name="Shape 25"/>
          <p:cNvSpPr/>
          <p:nvPr/>
        </p:nvSpPr>
        <p:spPr>
          <a:xfrm>
            <a:off x="6217920" y="5111496"/>
            <a:ext cx="5394960" cy="1170432"/>
          </a:xfrm>
          <a:prstGeom prst="roundRect">
            <a:avLst>
              <a:gd name="adj" fmla="val 6250"/>
            </a:avLst>
          </a:prstGeom>
          <a:solidFill>
            <a:srgbClr val="FFFFFF"/>
          </a:solidFill>
          <a:effectLst>
            <a:outerShdw blurRad="76200" dist="25400" dir="5400000" algn="bl" rotWithShape="0">
              <a:srgbClr val="5B6178">
                <a:alpha val="14000"/>
              </a:srgbClr>
            </a:outerShdw>
          </a:effectLst>
        </p:spPr>
      </p:sp>
      <p:sp>
        <p:nvSpPr>
          <p:cNvPr id="28" name="Shape 26"/>
          <p:cNvSpPr/>
          <p:nvPr/>
        </p:nvSpPr>
        <p:spPr>
          <a:xfrm>
            <a:off x="6419088" y="5294376"/>
            <a:ext cx="82296" cy="804672"/>
          </a:xfrm>
          <a:prstGeom prst="roundRect">
            <a:avLst>
              <a:gd name="adj" fmla="val 44444"/>
            </a:avLst>
          </a:prstGeom>
          <a:solidFill>
            <a:srgbClr val="8A6FF0"/>
          </a:solidFill>
        </p:spPr>
      </p:sp>
      <p:sp>
        <p:nvSpPr>
          <p:cNvPr id="29" name="Text 27"/>
          <p:cNvSpPr/>
          <p:nvPr/>
        </p:nvSpPr>
        <p:spPr>
          <a:xfrm>
            <a:off x="6656832" y="5239512"/>
            <a:ext cx="4800600" cy="310896"/>
          </a:xfrm>
          <a:prstGeom prst="rect">
            <a:avLst/>
          </a:prstGeom>
          <a:noFill/>
        </p:spPr>
        <p:txBody>
          <a:bodyPr wrap="square" rtlCol="0" anchor="ctr"/>
          <a:lstStyle/>
          <a:p>
            <a:pPr marL="0" indent="0">
              <a:buNone/>
            </a:pPr>
            <a:r>
              <a:rPr lang="en-US" sz="1300" b="1" dirty="0">
                <a:solidFill>
                  <a:srgbClr val="1C2140"/>
                </a:solidFill>
                <a:latin typeface="Times New Roman" panose="02020603050405020304" charset="0"/>
                <a:ea typeface="Century Schoolbook" panose="02040604050505020304" pitchFamily="34" charset="-122"/>
                <a:cs typeface="Times New Roman" panose="02020603050405020304" charset="0"/>
              </a:rPr>
              <a:t>Docker &amp; Kubernetes</a:t>
            </a:r>
            <a:endParaRPr lang="en-US" sz="1300" dirty="0">
              <a:latin typeface="Times New Roman" panose="02020603050405020304" charset="0"/>
              <a:cs typeface="Times New Roman" panose="02020603050405020304" charset="0"/>
            </a:endParaRPr>
          </a:p>
        </p:txBody>
      </p:sp>
      <p:sp>
        <p:nvSpPr>
          <p:cNvPr id="30" name="Text 28"/>
          <p:cNvSpPr/>
          <p:nvPr/>
        </p:nvSpPr>
        <p:spPr>
          <a:xfrm>
            <a:off x="6656832" y="5568696"/>
            <a:ext cx="4800600" cy="621792"/>
          </a:xfrm>
          <a:prstGeom prst="rect">
            <a:avLst/>
          </a:prstGeom>
          <a:noFill/>
        </p:spPr>
        <p:txBody>
          <a:bodyPr wrap="square" rtlCol="0" anchor="ctr"/>
          <a:lstStyle/>
          <a:p>
            <a:pPr marL="0" indent="0">
              <a:lnSpc>
                <a:spcPts val="14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Containerized, orchestrated deployment for scaling, load balancing, and fault tolerance.</a:t>
            </a:r>
            <a:endParaRPr lang="en-US" sz="1400" dirty="0">
              <a:latin typeface="Times New Roman" panose="02020603050405020304" charset="0"/>
              <a:cs typeface="Times New Roman" panose="02020603050405020304" charset="0"/>
            </a:endParaRPr>
          </a:p>
        </p:txBody>
      </p:sp>
      <p:sp>
        <p:nvSpPr>
          <p:cNvPr id="31" name="Text 29"/>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84048"/>
            <a:ext cx="9144000" cy="184150"/>
          </a:xfrm>
          <a:prstGeom prst="rect">
            <a:avLst/>
          </a:prstGeom>
          <a:noFill/>
        </p:spPr>
        <p:txBody>
          <a:bodyPr wrap="square" lIns="0" tIns="0" rIns="0" bIns="0" anchor="t">
            <a:spAutoFit/>
          </a:bodyPr>
          <a:lstStyle/>
          <a:p>
            <a:pPr algn="l"/>
            <a:r>
              <a:rPr sz="1200" b="1" i="0" spc="200">
                <a:solidFill>
                  <a:srgbClr val="4B4FE0"/>
                </a:solidFill>
                <a:latin typeface="Times New Roman" panose="02020603050405020304" charset="0"/>
                <a:cs typeface="Times New Roman" panose="02020603050405020304" charset="0"/>
              </a:rPr>
              <a:t>UNIQUENESS</a:t>
            </a:r>
            <a:endParaRPr sz="1200" b="1" i="0" spc="200">
              <a:solidFill>
                <a:srgbClr val="4B4FE0"/>
              </a:solidFill>
              <a:latin typeface="Times New Roman" panose="02020603050405020304" charset="0"/>
              <a:cs typeface="Times New Roman" panose="02020603050405020304" charset="0"/>
            </a:endParaRPr>
          </a:p>
        </p:txBody>
      </p:sp>
      <p:sp>
        <p:nvSpPr>
          <p:cNvPr id="3" name="TextBox 2"/>
          <p:cNvSpPr txBox="1"/>
          <p:nvPr/>
        </p:nvSpPr>
        <p:spPr>
          <a:xfrm>
            <a:off x="530352" y="658368"/>
            <a:ext cx="11064240" cy="461645"/>
          </a:xfrm>
          <a:prstGeom prst="rect">
            <a:avLst/>
          </a:prstGeom>
          <a:noFill/>
        </p:spPr>
        <p:txBody>
          <a:bodyPr wrap="square" lIns="0" tIns="0" rIns="0" bIns="0" anchor="t">
            <a:spAutoFit/>
          </a:bodyPr>
          <a:lstStyle/>
          <a:p>
            <a:pPr algn="l">
              <a:lnSpc>
                <a:spcPct val="100000"/>
              </a:lnSpc>
            </a:pPr>
            <a:r>
              <a:rPr sz="3000" b="1" i="0">
                <a:solidFill>
                  <a:srgbClr val="1C2140"/>
                </a:solidFill>
                <a:latin typeface="Times New Roman" panose="02020603050405020304" charset="0"/>
                <a:cs typeface="Times New Roman" panose="02020603050405020304" charset="0"/>
              </a:rPr>
              <a:t>What Makes Our Project Unique?</a:t>
            </a:r>
            <a:endParaRPr sz="3000" b="1" i="0">
              <a:solidFill>
                <a:srgbClr val="1C2140"/>
              </a:solidFill>
              <a:latin typeface="Times New Roman" panose="02020603050405020304" charset="0"/>
              <a:cs typeface="Times New Roman" panose="02020603050405020304" charset="0"/>
            </a:endParaRPr>
          </a:p>
        </p:txBody>
      </p:sp>
      <p:sp>
        <p:nvSpPr>
          <p:cNvPr id="4" name="TextBox 3"/>
          <p:cNvSpPr txBox="1"/>
          <p:nvPr/>
        </p:nvSpPr>
        <p:spPr>
          <a:xfrm>
            <a:off x="548640" y="1221105"/>
            <a:ext cx="11064240" cy="673100"/>
          </a:xfrm>
          <a:prstGeom prst="rect">
            <a:avLst/>
          </a:prstGeom>
          <a:noFill/>
        </p:spPr>
        <p:txBody>
          <a:bodyPr wrap="square" lIns="0" tIns="0" rIns="0" bIns="0" anchor="t">
            <a:noAutofit/>
          </a:bodyPr>
          <a:lstStyle/>
          <a:p>
            <a:pPr algn="l">
              <a:lnSpc>
                <a:spcPct val="110000"/>
              </a:lnSpc>
            </a:pPr>
            <a:r>
              <a:rPr sz="1600" b="0" i="1">
                <a:solidFill>
                  <a:srgbClr val="5B6178"/>
                </a:solidFill>
                <a:latin typeface="Times New Roman" panose="02020603050405020304" charset="0"/>
                <a:cs typeface="Times New Roman" panose="02020603050405020304" charset="0"/>
              </a:rPr>
              <a:t>Unlike traditional failure detection systems that only indicate whether a machine will fail, our system provides intelligent decision support for maintenance teams.</a:t>
            </a:r>
            <a:endParaRPr sz="1600" b="0" i="1">
              <a:solidFill>
                <a:srgbClr val="5B6178"/>
              </a:solidFill>
              <a:latin typeface="Times New Roman" panose="02020603050405020304" charset="0"/>
              <a:cs typeface="Times New Roman" panose="02020603050405020304" charset="0"/>
            </a:endParaRPr>
          </a:p>
        </p:txBody>
      </p:sp>
      <p:sp>
        <p:nvSpPr>
          <p:cNvPr id="5" name="Rounded Rectangle 4"/>
          <p:cNvSpPr/>
          <p:nvPr/>
        </p:nvSpPr>
        <p:spPr>
          <a:xfrm>
            <a:off x="548640" y="1965960"/>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2148840"/>
            <a:ext cx="420624" cy="420624"/>
          </a:xfrm>
          <a:prstGeom prst="ellipse">
            <a:avLst/>
          </a:prstGeom>
          <a:solidFill>
            <a:srgbClr val="4B4FE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7" name="TextBox 6"/>
          <p:cNvSpPr txBox="1"/>
          <p:nvPr/>
        </p:nvSpPr>
        <p:spPr>
          <a:xfrm>
            <a:off x="768096" y="2651760"/>
            <a:ext cx="3127248"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Early Failure Prediction</a:t>
            </a:r>
            <a:endParaRPr sz="1600" b="1" i="0">
              <a:solidFill>
                <a:srgbClr val="1C2140"/>
              </a:solidFill>
              <a:latin typeface="Times New Roman" panose="02020603050405020304" charset="0"/>
              <a:cs typeface="Times New Roman" panose="02020603050405020304" charset="0"/>
            </a:endParaRPr>
          </a:p>
        </p:txBody>
      </p:sp>
      <p:sp>
        <p:nvSpPr>
          <p:cNvPr id="8" name="TextBox 7"/>
          <p:cNvSpPr txBox="1"/>
          <p:nvPr/>
        </p:nvSpPr>
        <p:spPr>
          <a:xfrm>
            <a:off x="768096" y="3081528"/>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Predicts machine failures before they occur using machine learning.</a:t>
            </a:r>
            <a:endParaRPr sz="1200" b="0" i="0">
              <a:solidFill>
                <a:srgbClr val="5B6178"/>
              </a:solidFill>
              <a:latin typeface="Times New Roman" panose="02020603050405020304" charset="0"/>
              <a:cs typeface="Times New Roman" panose="02020603050405020304" charset="0"/>
            </a:endParaRPr>
          </a:p>
        </p:txBody>
      </p:sp>
      <p:sp>
        <p:nvSpPr>
          <p:cNvPr id="9" name="Rounded Rectangle 8"/>
          <p:cNvSpPr/>
          <p:nvPr/>
        </p:nvSpPr>
        <p:spPr>
          <a:xfrm>
            <a:off x="4297679" y="1965960"/>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7" y="2148840"/>
            <a:ext cx="420624" cy="420624"/>
          </a:xfrm>
          <a:prstGeom prst="ellipse">
            <a:avLst/>
          </a:prstGeom>
          <a:solidFill>
            <a:srgbClr val="8A6F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1" name="TextBox 10"/>
          <p:cNvSpPr txBox="1"/>
          <p:nvPr/>
        </p:nvSpPr>
        <p:spPr>
          <a:xfrm>
            <a:off x="4517136" y="2651760"/>
            <a:ext cx="3127248"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Real-Time Anomaly Detection</a:t>
            </a:r>
            <a:endParaRPr sz="1600" b="1" i="0">
              <a:solidFill>
                <a:srgbClr val="1C2140"/>
              </a:solidFill>
              <a:latin typeface="Times New Roman" panose="02020603050405020304" charset="0"/>
              <a:cs typeface="Times New Roman" panose="02020603050405020304" charset="0"/>
            </a:endParaRPr>
          </a:p>
        </p:txBody>
      </p:sp>
      <p:sp>
        <p:nvSpPr>
          <p:cNvPr id="12" name="TextBox 11"/>
          <p:cNvSpPr txBox="1"/>
          <p:nvPr/>
        </p:nvSpPr>
        <p:spPr>
          <a:xfrm>
            <a:off x="4517136" y="3081528"/>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Detects abnormal machine behavior from live sensor data instead of fixed thresholds.</a:t>
            </a:r>
            <a:endParaRPr sz="1200" b="0" i="0">
              <a:solidFill>
                <a:srgbClr val="5B6178"/>
              </a:solidFill>
              <a:latin typeface="Times New Roman" panose="02020603050405020304" charset="0"/>
              <a:cs typeface="Times New Roman" panose="02020603050405020304" charset="0"/>
            </a:endParaRPr>
          </a:p>
        </p:txBody>
      </p:sp>
      <p:sp>
        <p:nvSpPr>
          <p:cNvPr id="13" name="Rounded Rectangle 12"/>
          <p:cNvSpPr/>
          <p:nvPr/>
        </p:nvSpPr>
        <p:spPr>
          <a:xfrm>
            <a:off x="8046719" y="1965960"/>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47888" y="2148840"/>
            <a:ext cx="420624" cy="420624"/>
          </a:xfrm>
          <a:prstGeom prst="ellipse">
            <a:avLst/>
          </a:prstGeom>
          <a:solidFill>
            <a:srgbClr val="5C6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5" name="TextBox 14"/>
          <p:cNvSpPr txBox="1"/>
          <p:nvPr/>
        </p:nvSpPr>
        <p:spPr>
          <a:xfrm>
            <a:off x="8266175" y="2651760"/>
            <a:ext cx="3127248"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Machine </a:t>
            </a:r>
            <a:r>
              <a:rPr sz="1600" b="1" i="0">
                <a:solidFill>
                  <a:srgbClr val="1C2140"/>
                </a:solidFill>
                <a:latin typeface="Times New Roman" panose="02020603050405020304" charset="0"/>
                <a:cs typeface="Times New Roman" panose="02020603050405020304" charset="0"/>
              </a:rPr>
              <a:t>Health Score</a:t>
            </a:r>
            <a:endParaRPr sz="1600" b="1" i="0">
              <a:solidFill>
                <a:srgbClr val="1C2140"/>
              </a:solidFill>
              <a:latin typeface="Times New Roman" panose="02020603050405020304" charset="0"/>
              <a:cs typeface="Times New Roman" panose="02020603050405020304" charset="0"/>
            </a:endParaRPr>
          </a:p>
        </p:txBody>
      </p:sp>
      <p:sp>
        <p:nvSpPr>
          <p:cNvPr id="16" name="TextBox 15"/>
          <p:cNvSpPr txBox="1"/>
          <p:nvPr/>
        </p:nvSpPr>
        <p:spPr>
          <a:xfrm>
            <a:off x="8266175" y="3081528"/>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Displays overall machine health as a percentage for easy monitoring.</a:t>
            </a:r>
            <a:endParaRPr sz="1200" b="0" i="0">
              <a:solidFill>
                <a:srgbClr val="5B6178"/>
              </a:solidFill>
              <a:latin typeface="Times New Roman" panose="02020603050405020304" charset="0"/>
              <a:cs typeface="Times New Roman" panose="02020603050405020304" charset="0"/>
            </a:endParaRPr>
          </a:p>
        </p:txBody>
      </p:sp>
      <p:sp>
        <p:nvSpPr>
          <p:cNvPr id="17" name="Rounded Rectangle 16"/>
          <p:cNvSpPr/>
          <p:nvPr/>
        </p:nvSpPr>
        <p:spPr>
          <a:xfrm>
            <a:off x="548640" y="3593591"/>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3776472"/>
            <a:ext cx="420624" cy="420624"/>
          </a:xfrm>
          <a:prstGeom prst="ellipse">
            <a:avLst/>
          </a:prstGeom>
          <a:solidFill>
            <a:srgbClr val="3A3F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19" name="TextBox 18"/>
          <p:cNvSpPr txBox="1"/>
          <p:nvPr/>
        </p:nvSpPr>
        <p:spPr>
          <a:xfrm>
            <a:off x="768096" y="4279392"/>
            <a:ext cx="3127248"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Failure Probability</a:t>
            </a:r>
            <a:endParaRPr sz="1600" b="1" i="0">
              <a:solidFill>
                <a:srgbClr val="1C2140"/>
              </a:solidFill>
              <a:latin typeface="Times New Roman" panose="02020603050405020304" charset="0"/>
              <a:cs typeface="Times New Roman" panose="02020603050405020304" charset="0"/>
            </a:endParaRPr>
          </a:p>
        </p:txBody>
      </p:sp>
      <p:sp>
        <p:nvSpPr>
          <p:cNvPr id="20" name="TextBox 19"/>
          <p:cNvSpPr txBox="1"/>
          <p:nvPr/>
        </p:nvSpPr>
        <p:spPr>
          <a:xfrm>
            <a:off x="768096" y="4709159"/>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Predicts the likelihood of failure instead of only a Yes/No result.</a:t>
            </a:r>
            <a:endParaRPr sz="1200" b="0" i="0">
              <a:solidFill>
                <a:srgbClr val="5B6178"/>
              </a:solidFill>
              <a:latin typeface="Times New Roman" panose="02020603050405020304" charset="0"/>
              <a:cs typeface="Times New Roman" panose="02020603050405020304" charset="0"/>
            </a:endParaRPr>
          </a:p>
        </p:txBody>
      </p:sp>
      <p:sp>
        <p:nvSpPr>
          <p:cNvPr id="21" name="Rounded Rectangle 20"/>
          <p:cNvSpPr/>
          <p:nvPr/>
        </p:nvSpPr>
        <p:spPr>
          <a:xfrm>
            <a:off x="4297679" y="3593591"/>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98847" y="3776472"/>
            <a:ext cx="420624" cy="420624"/>
          </a:xfrm>
          <a:prstGeom prst="ellipse">
            <a:avLst/>
          </a:prstGeom>
          <a:solidFill>
            <a:srgbClr val="4B4FE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5</a:t>
            </a:r>
            <a:endParaRPr sz="1400" b="1">
              <a:solidFill>
                <a:srgbClr val="FFFFFF"/>
              </a:solidFill>
              <a:latin typeface="Calibri" panose="020F0502020204030204"/>
            </a:endParaRPr>
          </a:p>
        </p:txBody>
      </p:sp>
      <p:sp>
        <p:nvSpPr>
          <p:cNvPr id="23" name="TextBox 22"/>
          <p:cNvSpPr txBox="1"/>
          <p:nvPr/>
        </p:nvSpPr>
        <p:spPr>
          <a:xfrm>
            <a:off x="4324350" y="4279265"/>
            <a:ext cx="3910330"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AI</a:t>
            </a:r>
            <a:r>
              <a:rPr lang="en-US" sz="1600" b="1" i="0">
                <a:solidFill>
                  <a:srgbClr val="1C2140"/>
                </a:solidFill>
                <a:latin typeface="Times New Roman" panose="02020603050405020304" charset="0"/>
                <a:cs typeface="Times New Roman" panose="02020603050405020304" charset="0"/>
              </a:rPr>
              <a:t> </a:t>
            </a:r>
            <a:r>
              <a:rPr sz="1600" b="1" i="0">
                <a:solidFill>
                  <a:srgbClr val="1C2140"/>
                </a:solidFill>
                <a:latin typeface="Times New Roman" panose="02020603050405020304" charset="0"/>
                <a:cs typeface="Times New Roman" panose="02020603050405020304" charset="0"/>
              </a:rPr>
              <a:t>Based Maintenance Recommendation</a:t>
            </a:r>
            <a:endParaRPr sz="1600" b="1" i="0">
              <a:solidFill>
                <a:srgbClr val="1C2140"/>
              </a:solidFill>
              <a:latin typeface="Times New Roman" panose="02020603050405020304" charset="0"/>
              <a:cs typeface="Times New Roman" panose="02020603050405020304" charset="0"/>
            </a:endParaRPr>
          </a:p>
        </p:txBody>
      </p:sp>
      <p:sp>
        <p:nvSpPr>
          <p:cNvPr id="24" name="TextBox 23"/>
          <p:cNvSpPr txBox="1"/>
          <p:nvPr/>
        </p:nvSpPr>
        <p:spPr>
          <a:xfrm>
            <a:off x="4517136" y="4709159"/>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Suggests preventive actions based on detected condition to reduce downtime.</a:t>
            </a:r>
            <a:endParaRPr sz="1200" b="0" i="0">
              <a:solidFill>
                <a:srgbClr val="5B6178"/>
              </a:solidFill>
              <a:latin typeface="Times New Roman" panose="02020603050405020304" charset="0"/>
              <a:cs typeface="Times New Roman" panose="02020603050405020304" charset="0"/>
            </a:endParaRPr>
          </a:p>
        </p:txBody>
      </p:sp>
      <p:sp>
        <p:nvSpPr>
          <p:cNvPr id="25" name="Rounded Rectangle 24"/>
          <p:cNvSpPr/>
          <p:nvPr/>
        </p:nvSpPr>
        <p:spPr>
          <a:xfrm>
            <a:off x="8046719" y="3593591"/>
            <a:ext cx="3566160" cy="1481328"/>
          </a:xfrm>
          <a:prstGeom prst="roundRect">
            <a:avLst>
              <a:gd name="adj" fmla="val 55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47888" y="3776472"/>
            <a:ext cx="420624" cy="420624"/>
          </a:xfrm>
          <a:prstGeom prst="ellipse">
            <a:avLst/>
          </a:prstGeom>
          <a:solidFill>
            <a:srgbClr val="8A6F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panose="020F0502020204030204"/>
              </a:rPr>
              <a:t>6</a:t>
            </a:r>
            <a:endParaRPr sz="1400" b="1">
              <a:solidFill>
                <a:srgbClr val="FFFFFF"/>
              </a:solidFill>
              <a:latin typeface="Calibri" panose="020F0502020204030204"/>
            </a:endParaRPr>
          </a:p>
        </p:txBody>
      </p:sp>
      <p:sp>
        <p:nvSpPr>
          <p:cNvPr id="27" name="TextBox 26"/>
          <p:cNvSpPr txBox="1"/>
          <p:nvPr/>
        </p:nvSpPr>
        <p:spPr>
          <a:xfrm>
            <a:off x="8266175" y="4279392"/>
            <a:ext cx="3127248" cy="245745"/>
          </a:xfrm>
          <a:prstGeom prst="rect">
            <a:avLst/>
          </a:prstGeom>
          <a:noFill/>
        </p:spPr>
        <p:txBody>
          <a:bodyPr wrap="square" lIns="0" tIns="0" rIns="0" bIns="0" anchor="t">
            <a:spAutoFit/>
          </a:bodyPr>
          <a:lstStyle/>
          <a:p>
            <a:pPr algn="l">
              <a:lnSpc>
                <a:spcPct val="100000"/>
              </a:lnSpc>
            </a:pPr>
            <a:r>
              <a:rPr sz="1600" b="1" i="0">
                <a:solidFill>
                  <a:srgbClr val="1C2140"/>
                </a:solidFill>
                <a:latin typeface="Times New Roman" panose="02020603050405020304" charset="0"/>
                <a:cs typeface="Times New Roman" panose="02020603050405020304" charset="0"/>
              </a:rPr>
              <a:t>Interactive Dashboard</a:t>
            </a:r>
            <a:endParaRPr sz="1600" b="1" i="0">
              <a:solidFill>
                <a:srgbClr val="1C2140"/>
              </a:solidFill>
              <a:latin typeface="Times New Roman" panose="02020603050405020304" charset="0"/>
              <a:cs typeface="Times New Roman" panose="02020603050405020304" charset="0"/>
            </a:endParaRPr>
          </a:p>
        </p:txBody>
      </p:sp>
      <p:sp>
        <p:nvSpPr>
          <p:cNvPr id="28" name="TextBox 27"/>
          <p:cNvSpPr txBox="1"/>
          <p:nvPr/>
        </p:nvSpPr>
        <p:spPr>
          <a:xfrm>
            <a:off x="8266175" y="4709159"/>
            <a:ext cx="3127248" cy="386715"/>
          </a:xfrm>
          <a:prstGeom prst="rect">
            <a:avLst/>
          </a:prstGeom>
          <a:noFill/>
        </p:spPr>
        <p:txBody>
          <a:bodyPr wrap="square" lIns="0" tIns="0" rIns="0" bIns="0" anchor="t">
            <a:spAutoFit/>
          </a:bodyPr>
          <a:lstStyle/>
          <a:p>
            <a:pPr algn="l">
              <a:lnSpc>
                <a:spcPct val="105000"/>
              </a:lnSpc>
            </a:pPr>
            <a:r>
              <a:rPr sz="1200" b="0" i="0">
                <a:solidFill>
                  <a:srgbClr val="5B6178"/>
                </a:solidFill>
                <a:latin typeface="Times New Roman" panose="02020603050405020304" charset="0"/>
                <a:cs typeface="Times New Roman" panose="02020603050405020304" charset="0"/>
              </a:rPr>
              <a:t>Visualizes machine status, sensor trends, alerts, and predictions in one place.</a:t>
            </a:r>
            <a:endParaRPr sz="1200" b="0" i="0">
              <a:solidFill>
                <a:srgbClr val="5B6178"/>
              </a:solidFill>
              <a:latin typeface="Times New Roman" panose="02020603050405020304" charset="0"/>
              <a:cs typeface="Times New Roman" panose="02020603050405020304" charset="0"/>
            </a:endParaRPr>
          </a:p>
        </p:txBody>
      </p:sp>
      <p:sp>
        <p:nvSpPr>
          <p:cNvPr id="29" name="Rounded Rectangle 28"/>
          <p:cNvSpPr/>
          <p:nvPr/>
        </p:nvSpPr>
        <p:spPr>
          <a:xfrm>
            <a:off x="548640" y="5266944"/>
            <a:ext cx="11064240" cy="960120"/>
          </a:xfrm>
          <a:prstGeom prst="roundRect">
            <a:avLst>
              <a:gd name="adj" fmla="val 7619"/>
            </a:avLst>
          </a:prstGeom>
          <a:solidFill>
            <a:srgbClr val="EC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340350"/>
            <a:ext cx="2821305" cy="245745"/>
          </a:xfrm>
          <a:prstGeom prst="rect">
            <a:avLst/>
          </a:prstGeom>
          <a:noFill/>
        </p:spPr>
        <p:txBody>
          <a:bodyPr wrap="square" lIns="0" tIns="0" rIns="0" bIns="0" anchor="t">
            <a:spAutoFit/>
          </a:bodyPr>
          <a:lstStyle/>
          <a:p>
            <a:pPr algn="l"/>
            <a:r>
              <a:rPr sz="1600" b="1" i="0" spc="150">
                <a:solidFill>
                  <a:srgbClr val="4B4FE0"/>
                </a:solidFill>
                <a:latin typeface="Times New Roman" panose="02020603050405020304" charset="0"/>
                <a:cs typeface="Times New Roman" panose="02020603050405020304" charset="0"/>
              </a:rPr>
              <a:t>PROJECT IMPACT</a:t>
            </a:r>
            <a:endParaRPr sz="1600" b="1" i="0" spc="150">
              <a:solidFill>
                <a:srgbClr val="4B4FE0"/>
              </a:solidFill>
              <a:latin typeface="Times New Roman" panose="02020603050405020304" charset="0"/>
              <a:cs typeface="Times New Roman" panose="02020603050405020304" charset="0"/>
            </a:endParaRPr>
          </a:p>
        </p:txBody>
      </p:sp>
      <p:sp>
        <p:nvSpPr>
          <p:cNvPr id="31" name="TextBox 30"/>
          <p:cNvSpPr txBox="1"/>
          <p:nvPr/>
        </p:nvSpPr>
        <p:spPr>
          <a:xfrm>
            <a:off x="822960" y="5650992"/>
            <a:ext cx="10332720" cy="494665"/>
          </a:xfrm>
          <a:prstGeom prst="rect">
            <a:avLst/>
          </a:prstGeom>
          <a:noFill/>
        </p:spPr>
        <p:txBody>
          <a:bodyPr wrap="square" lIns="0" tIns="0" rIns="0" bIns="0" anchor="t">
            <a:spAutoFit/>
          </a:bodyPr>
          <a:lstStyle/>
          <a:p>
            <a:pPr algn="l">
              <a:lnSpc>
                <a:spcPct val="115000"/>
              </a:lnSpc>
            </a:pPr>
            <a:r>
              <a:rPr sz="1400" b="0" i="1">
                <a:solidFill>
                  <a:srgbClr val="1C2140"/>
                </a:solidFill>
                <a:latin typeface="Times New Roman" panose="02020603050405020304" charset="0"/>
                <a:cs typeface="Times New Roman" panose="02020603050405020304" charset="0"/>
              </a:rPr>
              <a:t>Reduces unplanned downtime   •   Lowers maintenance costs   •   Improves machine reliability   •   Supports smarter, faster maintenance decisions   •   Moves industries from reactive to predictive maintenance</a:t>
            </a:r>
            <a:endParaRPr sz="1400" b="0" i="1">
              <a:solidFill>
                <a:srgbClr val="1C2140"/>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BENEFITS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Key Benefits of Smart Failure Detection</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Adopting an ML-driven failure detection system delivers measurable improvements across operational efficiency, cost management, safety, and system reliability for organizations of all sizes.</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2624328" cy="3566160"/>
          </a:xfrm>
          <a:prstGeom prst="roundRect">
            <a:avLst>
              <a:gd name="adj" fmla="val 3484"/>
            </a:avLst>
          </a:prstGeom>
          <a:solidFill>
            <a:srgbClr val="161B45"/>
          </a:solidFill>
          <a:effectLst>
            <a:outerShdw blurRad="88900" dist="25400" dir="5400000" algn="bl" rotWithShape="0">
              <a:srgbClr val="5B6178">
                <a:alpha val="16000"/>
              </a:srgbClr>
            </a:outerShdw>
          </a:effectLst>
        </p:spPr>
      </p:sp>
      <p:sp>
        <p:nvSpPr>
          <p:cNvPr id="6" name="Text 4"/>
          <p:cNvSpPr/>
          <p:nvPr/>
        </p:nvSpPr>
        <p:spPr>
          <a:xfrm>
            <a:off x="548640" y="2423160"/>
            <a:ext cx="2624328" cy="640080"/>
          </a:xfrm>
          <a:prstGeom prst="rect">
            <a:avLst/>
          </a:prstGeom>
          <a:noFill/>
        </p:spPr>
        <p:txBody>
          <a:bodyPr wrap="square" rtlCol="0" anchor="ctr"/>
          <a:lstStyle/>
          <a:p>
            <a:pPr marL="0" indent="0" algn="ctr">
              <a:buNone/>
            </a:pPr>
            <a:r>
              <a:rPr lang="en-US" sz="3000" b="1" dirty="0">
                <a:solidFill>
                  <a:srgbClr val="34D1BF"/>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7" name="Text 5"/>
          <p:cNvSpPr/>
          <p:nvPr/>
        </p:nvSpPr>
        <p:spPr>
          <a:xfrm>
            <a:off x="548640" y="3017520"/>
            <a:ext cx="2624328" cy="502920"/>
          </a:xfrm>
          <a:prstGeom prst="rect">
            <a:avLst/>
          </a:prstGeom>
          <a:noFill/>
        </p:spPr>
        <p:txBody>
          <a:bodyPr wrap="square" rtlCol="0" anchor="ctr"/>
          <a:lstStyle/>
          <a:p>
            <a:pPr marL="0" indent="0" algn="ctr">
              <a:buNone/>
            </a:pPr>
            <a:r>
              <a:rPr lang="en-US" sz="2000" b="1" dirty="0">
                <a:solidFill>
                  <a:srgbClr val="FFFFFF"/>
                </a:solidFill>
                <a:latin typeface="Century Schoolbook" panose="02040604050505020304" pitchFamily="34" charset="0"/>
                <a:ea typeface="Century Schoolbook" panose="02040604050505020304" pitchFamily="34" charset="-122"/>
                <a:cs typeface="Century Schoolbook" panose="02040604050505020304" pitchFamily="34" charset="-120"/>
              </a:rPr>
              <a:t>Downtime</a:t>
            </a:r>
            <a:endParaRPr lang="en-US" sz="2000" dirty="0"/>
          </a:p>
        </p:txBody>
      </p:sp>
      <p:sp>
        <p:nvSpPr>
          <p:cNvPr id="8" name="Text 6"/>
          <p:cNvSpPr/>
          <p:nvPr/>
        </p:nvSpPr>
        <p:spPr>
          <a:xfrm>
            <a:off x="731520" y="3657600"/>
            <a:ext cx="2258568" cy="502920"/>
          </a:xfrm>
          <a:prstGeom prst="rect">
            <a:avLst/>
          </a:prstGeom>
          <a:noFill/>
        </p:spPr>
        <p:txBody>
          <a:bodyPr wrap="square" rtlCol="0" anchor="ctr"/>
          <a:lstStyle/>
          <a:p>
            <a:pPr marL="0" indent="0" algn="ctr">
              <a:buNone/>
            </a:pPr>
            <a:r>
              <a:rPr lang="en-US" sz="1250" b="1" dirty="0">
                <a:solidFill>
                  <a:srgbClr val="C7CBF5"/>
                </a:solidFill>
                <a:latin typeface="Calibri" panose="020F0502020204030204" pitchFamily="34" charset="0"/>
                <a:ea typeface="Calibri" panose="020F0502020204030204" pitchFamily="34" charset="-122"/>
                <a:cs typeface="Calibri" panose="020F0502020204030204" pitchFamily="34" charset="-120"/>
              </a:rPr>
              <a:t>Unplanned Downtime</a:t>
            </a:r>
            <a:endParaRPr lang="en-US" sz="1250" dirty="0"/>
          </a:p>
        </p:txBody>
      </p:sp>
      <p:sp>
        <p:nvSpPr>
          <p:cNvPr id="9" name="Text 7"/>
          <p:cNvSpPr/>
          <p:nvPr/>
        </p:nvSpPr>
        <p:spPr>
          <a:xfrm>
            <a:off x="749808" y="4206240"/>
            <a:ext cx="2221992" cy="1325880"/>
          </a:xfrm>
          <a:prstGeom prst="rect">
            <a:avLst/>
          </a:prstGeom>
          <a:noFill/>
        </p:spPr>
        <p:txBody>
          <a:bodyPr wrap="square" rtlCol="0" anchor="ctr"/>
          <a:lstStyle/>
          <a:p>
            <a:pPr marL="0" indent="0" algn="ctr">
              <a:lnSpc>
                <a:spcPts val="1300"/>
              </a:lnSpc>
              <a:buNone/>
            </a:pPr>
            <a:r>
              <a:rPr lang="en-US" sz="1000" dirty="0">
                <a:solidFill>
                  <a:srgbClr val="C7CBF5"/>
                </a:solidFill>
                <a:latin typeface="Times New Roman" panose="02020603050405020304" charset="0"/>
                <a:ea typeface="Calibri" panose="020F0502020204030204" pitchFamily="34" charset="-122"/>
                <a:cs typeface="Times New Roman" panose="02020603050405020304" charset="0"/>
              </a:rPr>
              <a:t>Early anomaly detection lets teams address issues before failures occur, cutting unexpected outages.</a:t>
            </a:r>
            <a:endParaRPr lang="en-US" sz="1000" dirty="0">
              <a:latin typeface="Times New Roman" panose="02020603050405020304" charset="0"/>
              <a:cs typeface="Times New Roman" panose="02020603050405020304" charset="0"/>
            </a:endParaRPr>
          </a:p>
        </p:txBody>
      </p:sp>
      <p:sp>
        <p:nvSpPr>
          <p:cNvPr id="10" name="Shape 8"/>
          <p:cNvSpPr/>
          <p:nvPr/>
        </p:nvSpPr>
        <p:spPr>
          <a:xfrm>
            <a:off x="3346704" y="2148840"/>
            <a:ext cx="2624328" cy="3566160"/>
          </a:xfrm>
          <a:prstGeom prst="roundRect">
            <a:avLst>
              <a:gd name="adj" fmla="val 3484"/>
            </a:avLst>
          </a:prstGeom>
          <a:solidFill>
            <a:srgbClr val="FFFFFF"/>
          </a:solidFill>
          <a:effectLst>
            <a:outerShdw blurRad="88900" dist="25400" dir="5400000" algn="bl" rotWithShape="0">
              <a:srgbClr val="5B6178">
                <a:alpha val="16000"/>
              </a:srgbClr>
            </a:outerShdw>
          </a:effectLst>
        </p:spPr>
      </p:sp>
      <p:sp>
        <p:nvSpPr>
          <p:cNvPr id="11" name="Text 9"/>
          <p:cNvSpPr/>
          <p:nvPr/>
        </p:nvSpPr>
        <p:spPr>
          <a:xfrm>
            <a:off x="3346704" y="2423160"/>
            <a:ext cx="2624328" cy="640080"/>
          </a:xfrm>
          <a:prstGeom prst="rect">
            <a:avLst/>
          </a:prstGeom>
          <a:noFill/>
        </p:spPr>
        <p:txBody>
          <a:bodyPr wrap="square" rtlCol="0" anchor="ctr"/>
          <a:lstStyle/>
          <a:p>
            <a:pPr marL="0" indent="0" algn="ctr">
              <a:buNone/>
            </a:pPr>
            <a:r>
              <a:rPr lang="en-US" sz="3000" b="1" dirty="0">
                <a:solidFill>
                  <a:srgbClr val="4B4FE0"/>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12" name="Text 10"/>
          <p:cNvSpPr/>
          <p:nvPr/>
        </p:nvSpPr>
        <p:spPr>
          <a:xfrm>
            <a:off x="3346704" y="3017520"/>
            <a:ext cx="2624328" cy="502920"/>
          </a:xfrm>
          <a:prstGeom prst="rect">
            <a:avLst/>
          </a:prstGeom>
          <a:noFill/>
        </p:spPr>
        <p:txBody>
          <a:bodyPr wrap="square" rtlCol="0" anchor="ctr"/>
          <a:lstStyle/>
          <a:p>
            <a:pPr marL="0" indent="0" algn="ctr">
              <a:buNone/>
            </a:pPr>
            <a:r>
              <a:rPr lang="en-US" sz="200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Costs</a:t>
            </a:r>
            <a:endParaRPr lang="en-US" sz="2000" dirty="0"/>
          </a:p>
        </p:txBody>
      </p:sp>
      <p:sp>
        <p:nvSpPr>
          <p:cNvPr id="13" name="Text 11"/>
          <p:cNvSpPr/>
          <p:nvPr/>
        </p:nvSpPr>
        <p:spPr>
          <a:xfrm>
            <a:off x="3529584" y="3657600"/>
            <a:ext cx="2258568" cy="502920"/>
          </a:xfrm>
          <a:prstGeom prst="rect">
            <a:avLst/>
          </a:prstGeom>
          <a:noFill/>
        </p:spPr>
        <p:txBody>
          <a:bodyPr wrap="square" rtlCol="0" anchor="ctr"/>
          <a:lstStyle/>
          <a:p>
            <a:pPr marL="0" indent="0" algn="ctr">
              <a:buNone/>
            </a:pPr>
            <a:r>
              <a:rPr lang="en-US" sz="1250" b="1" dirty="0">
                <a:solidFill>
                  <a:srgbClr val="4B4FE0"/>
                </a:solidFill>
                <a:latin typeface="Calibri" panose="020F0502020204030204" pitchFamily="34" charset="0"/>
                <a:ea typeface="Calibri" panose="020F0502020204030204" pitchFamily="34" charset="-122"/>
                <a:cs typeface="Calibri" panose="020F0502020204030204" pitchFamily="34" charset="-120"/>
              </a:rPr>
              <a:t>Maintenance Costs</a:t>
            </a:r>
            <a:endParaRPr lang="en-US" sz="1250" dirty="0"/>
          </a:p>
        </p:txBody>
      </p:sp>
      <p:sp>
        <p:nvSpPr>
          <p:cNvPr id="14" name="Text 12"/>
          <p:cNvSpPr/>
          <p:nvPr/>
        </p:nvSpPr>
        <p:spPr>
          <a:xfrm>
            <a:off x="3547872" y="4206240"/>
            <a:ext cx="2221992" cy="1325880"/>
          </a:xfrm>
          <a:prstGeom prst="rect">
            <a:avLst/>
          </a:prstGeom>
          <a:noFill/>
        </p:spPr>
        <p:txBody>
          <a:bodyPr wrap="square" rtlCol="0" anchor="ctr"/>
          <a:lstStyle/>
          <a:p>
            <a:pPr marL="0" indent="0" algn="ctr">
              <a:lnSpc>
                <a:spcPts val="1300"/>
              </a:lnSpc>
              <a:buNone/>
            </a:pPr>
            <a:r>
              <a:rPr lang="en-US" sz="1000" dirty="0">
                <a:solidFill>
                  <a:srgbClr val="5B6178"/>
                </a:solidFill>
                <a:latin typeface="Times New Roman" panose="02020603050405020304" charset="0"/>
                <a:ea typeface="Calibri" panose="020F0502020204030204" pitchFamily="34" charset="-122"/>
                <a:cs typeface="Times New Roman" panose="02020603050405020304" charset="0"/>
              </a:rPr>
              <a:t>Predictive maintenance eliminates unnecessary cycles and reduces emergency repair expenses.</a:t>
            </a:r>
            <a:endParaRPr lang="en-US" sz="1000" dirty="0">
              <a:latin typeface="Times New Roman" panose="02020603050405020304" charset="0"/>
              <a:cs typeface="Times New Roman" panose="02020603050405020304" charset="0"/>
            </a:endParaRPr>
          </a:p>
        </p:txBody>
      </p:sp>
      <p:sp>
        <p:nvSpPr>
          <p:cNvPr id="15" name="Shape 13"/>
          <p:cNvSpPr/>
          <p:nvPr/>
        </p:nvSpPr>
        <p:spPr>
          <a:xfrm>
            <a:off x="6144768" y="2148840"/>
            <a:ext cx="2624328" cy="3566160"/>
          </a:xfrm>
          <a:prstGeom prst="roundRect">
            <a:avLst>
              <a:gd name="adj" fmla="val 3484"/>
            </a:avLst>
          </a:prstGeom>
          <a:solidFill>
            <a:srgbClr val="161B45"/>
          </a:solidFill>
          <a:effectLst>
            <a:outerShdw blurRad="88900" dist="25400" dir="5400000" algn="bl" rotWithShape="0">
              <a:srgbClr val="5B6178">
                <a:alpha val="16000"/>
              </a:srgbClr>
            </a:outerShdw>
          </a:effectLst>
        </p:spPr>
      </p:sp>
      <p:sp>
        <p:nvSpPr>
          <p:cNvPr id="16" name="Text 14"/>
          <p:cNvSpPr/>
          <p:nvPr/>
        </p:nvSpPr>
        <p:spPr>
          <a:xfrm>
            <a:off x="6144768" y="2423160"/>
            <a:ext cx="2624328" cy="640080"/>
          </a:xfrm>
          <a:prstGeom prst="rect">
            <a:avLst/>
          </a:prstGeom>
          <a:noFill/>
        </p:spPr>
        <p:txBody>
          <a:bodyPr wrap="square" rtlCol="0" anchor="ctr"/>
          <a:lstStyle/>
          <a:p>
            <a:pPr marL="0" indent="0" algn="ctr">
              <a:buNone/>
            </a:pPr>
            <a:r>
              <a:rPr lang="en-US" sz="3000" b="1" dirty="0">
                <a:solidFill>
                  <a:srgbClr val="34D1BF"/>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17" name="Text 15"/>
          <p:cNvSpPr/>
          <p:nvPr/>
        </p:nvSpPr>
        <p:spPr>
          <a:xfrm>
            <a:off x="6144768" y="3017520"/>
            <a:ext cx="2624328" cy="502920"/>
          </a:xfrm>
          <a:prstGeom prst="rect">
            <a:avLst/>
          </a:prstGeom>
          <a:noFill/>
        </p:spPr>
        <p:txBody>
          <a:bodyPr wrap="square" rtlCol="0" anchor="ctr"/>
          <a:lstStyle/>
          <a:p>
            <a:pPr marL="0" indent="0" algn="ctr">
              <a:buNone/>
            </a:pPr>
            <a:r>
              <a:rPr lang="en-US" sz="2000" b="1" dirty="0">
                <a:solidFill>
                  <a:srgbClr val="FFFFFF"/>
                </a:solidFill>
                <a:latin typeface="Century Schoolbook" panose="02040604050505020304" pitchFamily="34" charset="0"/>
                <a:ea typeface="Century Schoolbook" panose="02040604050505020304" pitchFamily="34" charset="-122"/>
                <a:cs typeface="Century Schoolbook" panose="02040604050505020304" pitchFamily="34" charset="-120"/>
              </a:rPr>
              <a:t>Accuracy</a:t>
            </a:r>
            <a:endParaRPr lang="en-US" sz="2000" dirty="0"/>
          </a:p>
        </p:txBody>
      </p:sp>
      <p:sp>
        <p:nvSpPr>
          <p:cNvPr id="18" name="Text 16"/>
          <p:cNvSpPr/>
          <p:nvPr/>
        </p:nvSpPr>
        <p:spPr>
          <a:xfrm>
            <a:off x="6327648" y="3657600"/>
            <a:ext cx="2258568" cy="502920"/>
          </a:xfrm>
          <a:prstGeom prst="rect">
            <a:avLst/>
          </a:prstGeom>
          <a:noFill/>
        </p:spPr>
        <p:txBody>
          <a:bodyPr wrap="square" rtlCol="0" anchor="ctr"/>
          <a:lstStyle/>
          <a:p>
            <a:pPr marL="0" indent="0" algn="ctr">
              <a:buNone/>
            </a:pPr>
            <a:r>
              <a:rPr lang="en-US" sz="1250" b="1" dirty="0">
                <a:solidFill>
                  <a:srgbClr val="C7CBF5"/>
                </a:solidFill>
                <a:latin typeface="Calibri" panose="020F0502020204030204" pitchFamily="34" charset="0"/>
                <a:ea typeface="Calibri" panose="020F0502020204030204" pitchFamily="34" charset="-122"/>
                <a:cs typeface="Calibri" panose="020F0502020204030204" pitchFamily="34" charset="-120"/>
              </a:rPr>
              <a:t>Detection Accuracy</a:t>
            </a:r>
            <a:endParaRPr lang="en-US" sz="1250" dirty="0"/>
          </a:p>
        </p:txBody>
      </p:sp>
      <p:sp>
        <p:nvSpPr>
          <p:cNvPr id="19" name="Text 17"/>
          <p:cNvSpPr/>
          <p:nvPr/>
        </p:nvSpPr>
        <p:spPr>
          <a:xfrm>
            <a:off x="6345936" y="4206240"/>
            <a:ext cx="2221992" cy="1325880"/>
          </a:xfrm>
          <a:prstGeom prst="rect">
            <a:avLst/>
          </a:prstGeom>
          <a:noFill/>
        </p:spPr>
        <p:txBody>
          <a:bodyPr wrap="square" rtlCol="0" anchor="ctr"/>
          <a:lstStyle/>
          <a:p>
            <a:pPr marL="0" indent="0" algn="ctr">
              <a:lnSpc>
                <a:spcPts val="1300"/>
              </a:lnSpc>
              <a:buNone/>
            </a:pPr>
            <a:r>
              <a:rPr lang="en-US" sz="1000" dirty="0">
                <a:solidFill>
                  <a:srgbClr val="C7CBF5"/>
                </a:solidFill>
                <a:latin typeface="Times New Roman" panose="02020603050405020304" charset="0"/>
                <a:ea typeface="Calibri" panose="020F0502020204030204" pitchFamily="34" charset="-122"/>
                <a:cs typeface="Times New Roman" panose="02020603050405020304" charset="0"/>
              </a:rPr>
              <a:t>ML models outperform threshold-based systems, catching complex multivariate failure patterns.</a:t>
            </a:r>
            <a:endParaRPr lang="en-US" sz="1000" dirty="0">
              <a:latin typeface="Times New Roman" panose="02020603050405020304" charset="0"/>
              <a:cs typeface="Times New Roman" panose="02020603050405020304" charset="0"/>
            </a:endParaRPr>
          </a:p>
        </p:txBody>
      </p:sp>
      <p:sp>
        <p:nvSpPr>
          <p:cNvPr id="20" name="Shape 18"/>
          <p:cNvSpPr/>
          <p:nvPr/>
        </p:nvSpPr>
        <p:spPr>
          <a:xfrm>
            <a:off x="8942832" y="2148840"/>
            <a:ext cx="2624328" cy="3566160"/>
          </a:xfrm>
          <a:prstGeom prst="roundRect">
            <a:avLst>
              <a:gd name="adj" fmla="val 3484"/>
            </a:avLst>
          </a:prstGeom>
          <a:solidFill>
            <a:srgbClr val="FFFFFF"/>
          </a:solidFill>
          <a:effectLst>
            <a:outerShdw blurRad="88900" dist="25400" dir="5400000" algn="bl" rotWithShape="0">
              <a:srgbClr val="5B6178">
                <a:alpha val="16000"/>
              </a:srgbClr>
            </a:outerShdw>
          </a:effectLst>
        </p:spPr>
      </p:sp>
      <p:sp>
        <p:nvSpPr>
          <p:cNvPr id="21" name="Text 19"/>
          <p:cNvSpPr/>
          <p:nvPr/>
        </p:nvSpPr>
        <p:spPr>
          <a:xfrm>
            <a:off x="8942832" y="2423160"/>
            <a:ext cx="2624328" cy="640080"/>
          </a:xfrm>
          <a:prstGeom prst="rect">
            <a:avLst/>
          </a:prstGeom>
          <a:noFill/>
        </p:spPr>
        <p:txBody>
          <a:bodyPr wrap="square" rtlCol="0" anchor="ctr"/>
          <a:lstStyle/>
          <a:p>
            <a:pPr marL="0" indent="0" algn="ctr">
              <a:buNone/>
            </a:pPr>
            <a:r>
              <a:rPr lang="en-US" sz="3000" b="1" dirty="0">
                <a:solidFill>
                  <a:srgbClr val="4B4FE0"/>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22" name="Text 20"/>
          <p:cNvSpPr/>
          <p:nvPr/>
        </p:nvSpPr>
        <p:spPr>
          <a:xfrm>
            <a:off x="8942832" y="3017520"/>
            <a:ext cx="2624328" cy="502920"/>
          </a:xfrm>
          <a:prstGeom prst="rect">
            <a:avLst/>
          </a:prstGeom>
          <a:noFill/>
        </p:spPr>
        <p:txBody>
          <a:bodyPr wrap="square" rtlCol="0" anchor="ctr"/>
          <a:lstStyle/>
          <a:p>
            <a:pPr marL="0" indent="0" algn="ctr">
              <a:buNone/>
            </a:pPr>
            <a:r>
              <a:rPr lang="en-US" sz="2000" b="1" dirty="0">
                <a:solidFill>
                  <a:srgbClr val="1C2140"/>
                </a:solidFill>
                <a:latin typeface="Century Schoolbook" panose="02040604050505020304" pitchFamily="34" charset="0"/>
                <a:ea typeface="Century Schoolbook" panose="02040604050505020304" pitchFamily="34" charset="-122"/>
                <a:cs typeface="Century Schoolbook" panose="02040604050505020304" pitchFamily="34" charset="-120"/>
              </a:rPr>
              <a:t>5x Faster</a:t>
            </a:r>
            <a:endParaRPr lang="en-US" sz="2000" dirty="0"/>
          </a:p>
        </p:txBody>
      </p:sp>
      <p:sp>
        <p:nvSpPr>
          <p:cNvPr id="23" name="Text 21"/>
          <p:cNvSpPr/>
          <p:nvPr/>
        </p:nvSpPr>
        <p:spPr>
          <a:xfrm>
            <a:off x="9125712" y="3657600"/>
            <a:ext cx="2258568" cy="502920"/>
          </a:xfrm>
          <a:prstGeom prst="rect">
            <a:avLst/>
          </a:prstGeom>
          <a:noFill/>
        </p:spPr>
        <p:txBody>
          <a:bodyPr wrap="square" rtlCol="0" anchor="ctr"/>
          <a:lstStyle/>
          <a:p>
            <a:pPr marL="0" indent="0" algn="ctr">
              <a:buNone/>
            </a:pPr>
            <a:r>
              <a:rPr lang="en-US" sz="1250" b="1" dirty="0">
                <a:solidFill>
                  <a:srgbClr val="4B4FE0"/>
                </a:solidFill>
                <a:latin typeface="Calibri" panose="020F0502020204030204" pitchFamily="34" charset="0"/>
                <a:ea typeface="Calibri" panose="020F0502020204030204" pitchFamily="34" charset="-122"/>
                <a:cs typeface="Calibri" panose="020F0502020204030204" pitchFamily="34" charset="-120"/>
              </a:rPr>
              <a:t>Incident Response</a:t>
            </a:r>
            <a:endParaRPr lang="en-US" sz="1250" dirty="0"/>
          </a:p>
        </p:txBody>
      </p:sp>
      <p:sp>
        <p:nvSpPr>
          <p:cNvPr id="24" name="Text 22"/>
          <p:cNvSpPr/>
          <p:nvPr/>
        </p:nvSpPr>
        <p:spPr>
          <a:xfrm>
            <a:off x="9144000" y="4206240"/>
            <a:ext cx="2221992" cy="1325880"/>
          </a:xfrm>
          <a:prstGeom prst="rect">
            <a:avLst/>
          </a:prstGeom>
          <a:noFill/>
        </p:spPr>
        <p:txBody>
          <a:bodyPr wrap="square" rtlCol="0" anchor="ctr"/>
          <a:lstStyle/>
          <a:p>
            <a:pPr marL="0" indent="0" algn="ctr">
              <a:lnSpc>
                <a:spcPts val="1300"/>
              </a:lnSpc>
              <a:buNone/>
            </a:pPr>
            <a:r>
              <a:rPr lang="en-US" sz="1000" dirty="0">
                <a:solidFill>
                  <a:srgbClr val="5B6178"/>
                </a:solidFill>
                <a:latin typeface="Times New Roman" panose="02020603050405020304" charset="0"/>
                <a:ea typeface="Calibri" panose="020F0502020204030204" pitchFamily="34" charset="-122"/>
                <a:cs typeface="Times New Roman" panose="02020603050405020304" charset="0"/>
              </a:rPr>
              <a:t>Automated smart alerts with root-cause context resolve issues up to 5x faster than manual monitoring.</a:t>
            </a:r>
            <a:endParaRPr lang="en-US" sz="1000" dirty="0">
              <a:latin typeface="Times New Roman" panose="02020603050405020304" charset="0"/>
              <a:cs typeface="Times New Roman" panose="02020603050405020304" charset="0"/>
            </a:endParaRPr>
          </a:p>
        </p:txBody>
      </p:sp>
      <p:sp>
        <p:nvSpPr>
          <p:cNvPr id="25" name="Text 23"/>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p:spPr>
        <p:txBody>
          <a:bodyPr wrap="square" rtlCol="0" anchor="ctr"/>
          <a:lstStyle/>
          <a:p>
            <a:pPr marL="0" indent="0">
              <a:buNone/>
            </a:pPr>
            <a:r>
              <a:rPr lang="en-US" sz="1200" b="1" kern="0" spc="200" dirty="0">
                <a:solidFill>
                  <a:srgbClr val="4B4FE0"/>
                </a:solidFill>
                <a:latin typeface="Times New Roman" panose="02020603050405020304" charset="0"/>
                <a:ea typeface="Calibri" panose="020F0502020204030204" pitchFamily="34" charset="-122"/>
                <a:cs typeface="Times New Roman" panose="02020603050405020304" charset="0"/>
              </a:rPr>
              <a:t>FUTURE ENHANCEMENTS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58368"/>
            <a:ext cx="11064240" cy="822960"/>
          </a:xfrm>
          <a:prstGeom prst="rect">
            <a:avLst/>
          </a:prstGeom>
          <a:noFill/>
        </p:spPr>
        <p:txBody>
          <a:bodyPr wrap="square" rtlCol="0" anchor="ctr"/>
          <a:lstStyle/>
          <a:p>
            <a:pPr marL="0" indent="0">
              <a:buNone/>
            </a:pPr>
            <a:r>
              <a:rPr lang="en-US" sz="3000" b="1" dirty="0">
                <a:solidFill>
                  <a:srgbClr val="1C2140"/>
                </a:solidFill>
                <a:latin typeface="Times New Roman" panose="02020603050405020304" charset="0"/>
                <a:ea typeface="Century Schoolbook" panose="02040604050505020304" pitchFamily="34" charset="-122"/>
                <a:cs typeface="Times New Roman" panose="02020603050405020304" charset="0"/>
              </a:rPr>
              <a:t>Roadmap for Future Development</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548640"/>
          </a:xfrm>
          <a:prstGeom prst="rect">
            <a:avLst/>
          </a:prstGeom>
          <a:noFill/>
        </p:spPr>
        <p:txBody>
          <a:bodyPr wrap="square" rtlCol="0" anchor="ctr"/>
          <a:lstStyle/>
          <a:p>
            <a:pPr marL="0" indent="0">
              <a:lnSpc>
                <a:spcPts val="1800"/>
              </a:lnSpc>
              <a:buNone/>
            </a:pPr>
            <a:r>
              <a:rPr lang="en-US" sz="1600" dirty="0">
                <a:solidFill>
                  <a:srgbClr val="5B6178"/>
                </a:solidFill>
                <a:latin typeface="Times New Roman" panose="02020603050405020304" charset="0"/>
                <a:ea typeface="Calibri" panose="020F0502020204030204" pitchFamily="34" charset="-122"/>
                <a:cs typeface="Times New Roman" panose="02020603050405020304" charset="0"/>
              </a:rPr>
              <a:t>The current system provides a strong foundation for intelligent failure detection. The following enhancements are planned to extend capabilities, improve accuracy, and expand applicability.</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11064240" cy="1234440"/>
          </a:xfrm>
          <a:prstGeom prst="roundRect">
            <a:avLst>
              <a:gd name="adj" fmla="val 6667"/>
            </a:avLst>
          </a:prstGeom>
          <a:solidFill>
            <a:srgbClr val="FFFFFF"/>
          </a:solidFill>
          <a:effectLst>
            <a:outerShdw blurRad="76200" dist="25400" dir="5400000" algn="bl" rotWithShape="0">
              <a:srgbClr val="5B6178">
                <a:alpha val="15000"/>
              </a:srgbClr>
            </a:outerShdw>
          </a:effectLst>
        </p:spPr>
      </p:sp>
      <p:sp>
        <p:nvSpPr>
          <p:cNvPr id="6" name="Shape 4"/>
          <p:cNvSpPr/>
          <p:nvPr/>
        </p:nvSpPr>
        <p:spPr>
          <a:xfrm>
            <a:off x="804672" y="2455164"/>
            <a:ext cx="621792" cy="621792"/>
          </a:xfrm>
          <a:prstGeom prst="ellipse">
            <a:avLst/>
          </a:prstGeom>
          <a:solidFill>
            <a:srgbClr val="8A6FF0"/>
          </a:solidFill>
        </p:spPr>
      </p:sp>
      <p:sp>
        <p:nvSpPr>
          <p:cNvPr id="7" name="Text 5"/>
          <p:cNvSpPr/>
          <p:nvPr/>
        </p:nvSpPr>
        <p:spPr>
          <a:xfrm>
            <a:off x="804672" y="2455164"/>
            <a:ext cx="621792" cy="621792"/>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8" name="Text 6"/>
          <p:cNvSpPr/>
          <p:nvPr/>
        </p:nvSpPr>
        <p:spPr>
          <a:xfrm>
            <a:off x="1691640" y="2313432"/>
            <a:ext cx="9509760" cy="36576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Federated Learning for Privacy-Preserving Training</a:t>
            </a:r>
            <a:endParaRPr lang="en-US" sz="1600" dirty="0">
              <a:latin typeface="Times New Roman" panose="02020603050405020304" charset="0"/>
              <a:cs typeface="Times New Roman" panose="02020603050405020304" charset="0"/>
            </a:endParaRPr>
          </a:p>
        </p:txBody>
      </p:sp>
      <p:sp>
        <p:nvSpPr>
          <p:cNvPr id="9" name="Text 7"/>
          <p:cNvSpPr/>
          <p:nvPr/>
        </p:nvSpPr>
        <p:spPr>
          <a:xfrm>
            <a:off x="1691640" y="2715768"/>
            <a:ext cx="9601200" cy="54864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Enable collaborative model training across organizations without sharing raw sensor data — improving generalization while maintaining data privacy and compliance.</a:t>
            </a:r>
            <a:endParaRPr lang="en-US" sz="1400" dirty="0">
              <a:latin typeface="Times New Roman" panose="02020603050405020304" charset="0"/>
              <a:cs typeface="Times New Roman" panose="02020603050405020304" charset="0"/>
            </a:endParaRPr>
          </a:p>
        </p:txBody>
      </p:sp>
      <p:sp>
        <p:nvSpPr>
          <p:cNvPr id="10" name="Shape 8"/>
          <p:cNvSpPr/>
          <p:nvPr/>
        </p:nvSpPr>
        <p:spPr>
          <a:xfrm>
            <a:off x="548640" y="3566160"/>
            <a:ext cx="11064240" cy="1234440"/>
          </a:xfrm>
          <a:prstGeom prst="roundRect">
            <a:avLst>
              <a:gd name="adj" fmla="val 6667"/>
            </a:avLst>
          </a:prstGeom>
          <a:solidFill>
            <a:srgbClr val="FFFFFF"/>
          </a:solidFill>
          <a:effectLst>
            <a:outerShdw blurRad="76200" dist="25400" dir="5400000" algn="bl" rotWithShape="0">
              <a:srgbClr val="5B6178">
                <a:alpha val="15000"/>
              </a:srgbClr>
            </a:outerShdw>
          </a:effectLst>
        </p:spPr>
      </p:sp>
      <p:sp>
        <p:nvSpPr>
          <p:cNvPr id="11" name="Shape 9"/>
          <p:cNvSpPr/>
          <p:nvPr/>
        </p:nvSpPr>
        <p:spPr>
          <a:xfrm>
            <a:off x="804672" y="3872484"/>
            <a:ext cx="621792" cy="621792"/>
          </a:xfrm>
          <a:prstGeom prst="ellipse">
            <a:avLst/>
          </a:prstGeom>
          <a:solidFill>
            <a:srgbClr val="8A6FF0"/>
          </a:solidFill>
        </p:spPr>
      </p:sp>
      <p:sp>
        <p:nvSpPr>
          <p:cNvPr id="12" name="Text 10"/>
          <p:cNvSpPr/>
          <p:nvPr/>
        </p:nvSpPr>
        <p:spPr>
          <a:xfrm>
            <a:off x="804672" y="3872484"/>
            <a:ext cx="621792" cy="621792"/>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3" name="Text 11"/>
          <p:cNvSpPr/>
          <p:nvPr/>
        </p:nvSpPr>
        <p:spPr>
          <a:xfrm>
            <a:off x="1691640" y="3730752"/>
            <a:ext cx="9509760" cy="36576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Explainable AI (XAI) Integration</a:t>
            </a:r>
            <a:endParaRPr lang="en-US" sz="1600" dirty="0">
              <a:latin typeface="Times New Roman" panose="02020603050405020304" charset="0"/>
              <a:cs typeface="Times New Roman" panose="02020603050405020304" charset="0"/>
            </a:endParaRPr>
          </a:p>
        </p:txBody>
      </p:sp>
      <p:sp>
        <p:nvSpPr>
          <p:cNvPr id="14" name="Text 12"/>
          <p:cNvSpPr/>
          <p:nvPr/>
        </p:nvSpPr>
        <p:spPr>
          <a:xfrm>
            <a:off x="1691640" y="4133088"/>
            <a:ext cx="9601200" cy="54864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Incorporate SHAP and LIME-based explainability so operators receive human-readable explanations for each detected anomaly, building trust and confidence.</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4983480"/>
            <a:ext cx="11064240" cy="1234440"/>
          </a:xfrm>
          <a:prstGeom prst="roundRect">
            <a:avLst>
              <a:gd name="adj" fmla="val 6667"/>
            </a:avLst>
          </a:prstGeom>
          <a:solidFill>
            <a:srgbClr val="FFFFFF"/>
          </a:solidFill>
          <a:effectLst>
            <a:outerShdw blurRad="76200" dist="25400" dir="5400000" algn="bl" rotWithShape="0">
              <a:srgbClr val="5B6178">
                <a:alpha val="15000"/>
              </a:srgbClr>
            </a:outerShdw>
          </a:effectLst>
        </p:spPr>
      </p:sp>
      <p:sp>
        <p:nvSpPr>
          <p:cNvPr id="16" name="Shape 14"/>
          <p:cNvSpPr/>
          <p:nvPr/>
        </p:nvSpPr>
        <p:spPr>
          <a:xfrm>
            <a:off x="804672" y="5289804"/>
            <a:ext cx="621792" cy="621792"/>
          </a:xfrm>
          <a:prstGeom prst="ellipse">
            <a:avLst/>
          </a:prstGeom>
          <a:solidFill>
            <a:srgbClr val="8A6FF0"/>
          </a:solidFill>
        </p:spPr>
      </p:sp>
      <p:sp>
        <p:nvSpPr>
          <p:cNvPr id="17" name="Text 15"/>
          <p:cNvSpPr/>
          <p:nvPr/>
        </p:nvSpPr>
        <p:spPr>
          <a:xfrm>
            <a:off x="804672" y="5289804"/>
            <a:ext cx="621792" cy="621792"/>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8" name="Text 16"/>
          <p:cNvSpPr/>
          <p:nvPr/>
        </p:nvSpPr>
        <p:spPr>
          <a:xfrm>
            <a:off x="1691640" y="5148072"/>
            <a:ext cx="9509760" cy="365760"/>
          </a:xfrm>
          <a:prstGeom prst="rect">
            <a:avLst/>
          </a:prstGeom>
          <a:noFill/>
        </p:spPr>
        <p:txBody>
          <a:bodyPr wrap="square" rtlCol="0" anchor="ctr"/>
          <a:lstStyle/>
          <a:p>
            <a:pPr marL="0" indent="0">
              <a:buNone/>
            </a:pPr>
            <a:r>
              <a:rPr lang="en-US" sz="1600" b="1" dirty="0">
                <a:solidFill>
                  <a:srgbClr val="1C2140"/>
                </a:solidFill>
                <a:latin typeface="Times New Roman" panose="02020603050405020304" charset="0"/>
                <a:ea typeface="Century Schoolbook" panose="02040604050505020304" pitchFamily="34" charset="-122"/>
                <a:cs typeface="Times New Roman" panose="02020603050405020304" charset="0"/>
              </a:rPr>
              <a:t>Edge AI Deployment for Low-Latency Inference</a:t>
            </a:r>
            <a:endParaRPr lang="en-US" sz="1600" dirty="0">
              <a:latin typeface="Times New Roman" panose="02020603050405020304" charset="0"/>
              <a:cs typeface="Times New Roman" panose="02020603050405020304" charset="0"/>
            </a:endParaRPr>
          </a:p>
        </p:txBody>
      </p:sp>
      <p:sp>
        <p:nvSpPr>
          <p:cNvPr id="19" name="Text 17"/>
          <p:cNvSpPr/>
          <p:nvPr/>
        </p:nvSpPr>
        <p:spPr>
          <a:xfrm>
            <a:off x="1691640" y="5550408"/>
            <a:ext cx="9601200" cy="548640"/>
          </a:xfrm>
          <a:prstGeom prst="rect">
            <a:avLst/>
          </a:prstGeom>
          <a:noFill/>
        </p:spPr>
        <p:txBody>
          <a:bodyPr wrap="square" rtlCol="0" anchor="ctr"/>
          <a:lstStyle/>
          <a:p>
            <a:pPr marL="0" indent="0">
              <a:lnSpc>
                <a:spcPts val="1500"/>
              </a:lnSpc>
              <a:buNone/>
            </a:pPr>
            <a:r>
              <a:rPr lang="en-US" sz="1400" dirty="0">
                <a:solidFill>
                  <a:srgbClr val="5B6178"/>
                </a:solidFill>
                <a:latin typeface="Times New Roman" panose="02020603050405020304" charset="0"/>
                <a:ea typeface="Calibri" panose="020F0502020204030204" pitchFamily="34" charset="-122"/>
                <a:cs typeface="Times New Roman" panose="02020603050405020304" charset="0"/>
              </a:rPr>
              <a:t>Deploy lightweight, quantized ML models directly on edge devices (IoT gateways, PLCs) for real-time inference without cloud dependency.</a:t>
            </a:r>
            <a:endParaRPr lang="en-US" sz="1400" dirty="0">
              <a:latin typeface="Times New Roman" panose="02020603050405020304" charset="0"/>
              <a:cs typeface="Times New Roman" panose="02020603050405020304" charset="0"/>
            </a:endParaRPr>
          </a:p>
        </p:txBody>
      </p:sp>
      <p:sp>
        <p:nvSpPr>
          <p:cNvPr id="20" name="Text 18"/>
          <p:cNvSpPr/>
          <p:nvPr/>
        </p:nvSpPr>
        <p:spPr>
          <a:xfrm>
            <a:off x="548640" y="6510528"/>
            <a:ext cx="7315200" cy="274320"/>
          </a:xfrm>
          <a:prstGeom prst="rect">
            <a:avLst/>
          </a:prstGeom>
          <a:noFill/>
        </p:spPr>
        <p:txBody>
          <a:bodyPr wrap="square" rtlCol="0" anchor="ctr"/>
          <a:lstStyle/>
          <a:p>
            <a:pPr marL="0" indent="0">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13771</Words>
  <Application>WPS Presentation</Application>
  <PresentationFormat>On-screen Show (16:9)</PresentationFormat>
  <Paragraphs>614</Paragraphs>
  <Slides>20</Slides>
  <Notes>16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SimSun</vt:lpstr>
      <vt:lpstr>Wingdings</vt:lpstr>
      <vt:lpstr>Calibri</vt:lpstr>
      <vt:lpstr>Calibri</vt:lpstr>
      <vt:lpstr>Calibri</vt:lpstr>
      <vt:lpstr>Century Schoolbook</vt:lpstr>
      <vt:lpstr>Century Schoolbook</vt:lpstr>
      <vt:lpstr>Century Schoolbook</vt:lpstr>
      <vt:lpstr>Calibri</vt:lpstr>
      <vt:lpstr>Century Schoolbook</vt:lpstr>
      <vt:lpstr>Microsoft YaHei</vt:lpstr>
      <vt:lpstr>Arial Unicode MS</vt:lpstr>
      <vt:lpstr>Segoe UI</vt:lpstr>
      <vt:lpstr>Segoe UI</vt:lpstr>
      <vt:lpstr>Segoe UI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Aadya Patil</cp:lastModifiedBy>
  <cp:revision>5</cp:revision>
  <dcterms:created xsi:type="dcterms:W3CDTF">2026-07-10T12:08:00Z</dcterms:created>
  <dcterms:modified xsi:type="dcterms:W3CDTF">2026-07-24T07:50:52Z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201286445AC74A9F9CD8AAB2F3FE0ADB_13</vt:lpwstr>
  </property>
</Properties>
</file>