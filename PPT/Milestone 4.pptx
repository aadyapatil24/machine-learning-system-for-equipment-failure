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60" r:id="rId5"/>
    <p:sldId id="262" r:id="rId6"/>
    <p:sldId id="291" r:id="rId7"/>
    <p:sldId id="265" r:id="rId8"/>
    <p:sldId id="276" r:id="rId9"/>
    <p:sldId id="277" r:id="rId10"/>
    <p:sldId id="266" r:id="rId11"/>
    <p:sldId id="279" r:id="rId12"/>
    <p:sldId id="278" r:id="rId13"/>
    <p:sldId id="268" r:id="rId14"/>
    <p:sldId id="281" r:id="rId15"/>
    <p:sldId id="282"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1B45"/>
        </a:solidFill>
        <a:effectLst/>
      </p:bgPr>
    </p:bg>
    <p:spTree>
      <p:nvGrpSpPr>
        <p:cNvPr id="1" name=""/>
        <p:cNvGrpSpPr/>
        <p:nvPr/>
      </p:nvGrpSpPr>
      <p:grpSpPr>
        <a:xfrm>
          <a:off x="0" y="0"/>
          <a:ext cx="0" cy="0"/>
          <a:chOff x="0" y="0"/>
          <a:chExt cx="0" cy="0"/>
        </a:xfrm>
      </p:grpSpPr>
      <p:sp>
        <p:nvSpPr>
          <p:cNvPr id="2" name="Shape 0"/>
          <p:cNvSpPr/>
          <p:nvPr/>
        </p:nvSpPr>
        <p:spPr>
          <a:xfrm>
            <a:off x="8778240" y="-1645920"/>
            <a:ext cx="5486400" cy="5486400"/>
          </a:xfrm>
          <a:prstGeom prst="ellipse">
            <a:avLst/>
          </a:prstGeom>
          <a:solidFill>
            <a:srgbClr val="1F2564"/>
          </a:solidFill>
        </p:spPr>
      </p:sp>
      <p:sp>
        <p:nvSpPr>
          <p:cNvPr id="3" name="Shape 1"/>
          <p:cNvSpPr/>
          <p:nvPr/>
        </p:nvSpPr>
        <p:spPr>
          <a:xfrm>
            <a:off x="10424160" y="4206240"/>
            <a:ext cx="3657600" cy="3657600"/>
          </a:xfrm>
          <a:prstGeom prst="ellipse">
            <a:avLst/>
          </a:prstGeom>
          <a:solidFill>
            <a:srgbClr val="4B4FE0">
              <a:alpha val="22000"/>
            </a:srgbClr>
          </a:solidFill>
        </p:spPr>
      </p:sp>
      <p:sp>
        <p:nvSpPr>
          <p:cNvPr id="4" name="Shape 2"/>
          <p:cNvSpPr/>
          <p:nvPr/>
        </p:nvSpPr>
        <p:spPr>
          <a:xfrm>
            <a:off x="548640" y="640080"/>
            <a:ext cx="2743200" cy="384048"/>
          </a:xfrm>
          <a:prstGeom prst="roundRect">
            <a:avLst>
              <a:gd name="adj" fmla="val 19048"/>
            </a:avLst>
          </a:prstGeom>
          <a:solidFill>
            <a:srgbClr val="4B4FE0"/>
          </a:solidFill>
        </p:spPr>
      </p:sp>
      <p:sp>
        <p:nvSpPr>
          <p:cNvPr id="5" name="Text 3"/>
          <p:cNvSpPr/>
          <p:nvPr/>
        </p:nvSpPr>
        <p:spPr>
          <a:xfrm>
            <a:off x="548640" y="640080"/>
            <a:ext cx="4480560" cy="384048"/>
          </a:xfrm>
          <a:prstGeom prst="rect">
            <a:avLst/>
          </a:prstGeom>
          <a:noFill/>
        </p:spPr>
        <p:txBody>
          <a:bodyPr wrap="square" rtlCol="0" anchor="ctr"/>
          <a:lstStyle/>
          <a:p>
            <a:pPr marL="0" indent="0" algn="ctr">
              <a:buNone/>
            </a:pPr>
            <a:r>
              <a:rPr lang="en-US" sz="1050" b="1" kern="0" spc="100" dirty="0">
                <a:solidFill>
                  <a:srgbClr val="FFFFFF"/>
                </a:solidFill>
                <a:latin typeface="Times New Roman" panose="02020603050405020304" charset="0"/>
                <a:ea typeface="Calibri" panose="020F0502020204030204" pitchFamily="34" charset="-122"/>
                <a:cs typeface="Times New Roman" panose="02020603050405020304" charset="0"/>
              </a:rPr>
              <a:t>MACHINE LEARNING · INFOSYS SPRINGBOARD</a:t>
            </a:r>
            <a:endParaRPr lang="en-US" sz="1050" dirty="0">
              <a:latin typeface="Times New Roman" panose="02020603050405020304" charset="0"/>
              <a:cs typeface="Times New Roman" panose="02020603050405020304" charset="0"/>
            </a:endParaRPr>
          </a:p>
        </p:txBody>
      </p:sp>
      <p:sp>
        <p:nvSpPr>
          <p:cNvPr id="6" name="Text 4"/>
          <p:cNvSpPr/>
          <p:nvPr/>
        </p:nvSpPr>
        <p:spPr>
          <a:xfrm>
            <a:off x="530225" y="1762125"/>
            <a:ext cx="9875520" cy="2078355"/>
          </a:xfrm>
          <a:prstGeom prst="rect">
            <a:avLst/>
          </a:prstGeom>
          <a:noFill/>
        </p:spPr>
        <p:txBody>
          <a:bodyPr wrap="square" rtlCol="0" anchor="ctr"/>
          <a:lstStyle/>
          <a:p>
            <a:pPr marL="0" indent="0">
              <a:lnSpc>
                <a:spcPts val="4800"/>
              </a:lnSpc>
              <a:buNone/>
            </a:pPr>
            <a:r>
              <a:rPr lang="en-US" sz="5000" b="1" dirty="0">
                <a:solidFill>
                  <a:srgbClr val="FFFFFF"/>
                </a:solidFill>
                <a:latin typeface="Times New Roman" panose="02020603050405020304" charset="0"/>
                <a:ea typeface="Century Schoolbook" panose="02040604050505020304" pitchFamily="34" charset="-122"/>
                <a:cs typeface="Times New Roman" panose="02020603050405020304" charset="0"/>
              </a:rPr>
              <a:t>Smart Failure Detection</a:t>
            </a:r>
            <a:endParaRPr lang="en-US" sz="5000" dirty="0">
              <a:latin typeface="Times New Roman" panose="02020603050405020304" charset="0"/>
              <a:cs typeface="Times New Roman" panose="02020603050405020304" charset="0"/>
            </a:endParaRPr>
          </a:p>
          <a:p>
            <a:pPr marL="0" indent="0">
              <a:lnSpc>
                <a:spcPts val="4800"/>
              </a:lnSpc>
              <a:buNone/>
            </a:pPr>
            <a:r>
              <a:rPr lang="en-US" sz="5000" b="1" dirty="0">
                <a:solidFill>
                  <a:srgbClr val="FFFFFF"/>
                </a:solidFill>
                <a:latin typeface="Times New Roman" panose="02020603050405020304" charset="0"/>
                <a:ea typeface="Century Schoolbook" panose="02040604050505020304" pitchFamily="34" charset="-122"/>
                <a:cs typeface="Times New Roman" panose="02020603050405020304" charset="0"/>
              </a:rPr>
              <a:t>Using Machine Learning</a:t>
            </a:r>
            <a:endParaRPr lang="en-US" sz="5000" dirty="0">
              <a:latin typeface="Times New Roman" panose="02020603050405020304" charset="0"/>
              <a:cs typeface="Times New Roman" panose="02020603050405020304" charset="0"/>
            </a:endParaRPr>
          </a:p>
        </p:txBody>
      </p:sp>
      <p:sp>
        <p:nvSpPr>
          <p:cNvPr id="7" name="Text 5"/>
          <p:cNvSpPr/>
          <p:nvPr/>
        </p:nvSpPr>
        <p:spPr>
          <a:xfrm>
            <a:off x="548640" y="3703320"/>
            <a:ext cx="8961120" cy="457200"/>
          </a:xfrm>
          <a:prstGeom prst="rect">
            <a:avLst/>
          </a:prstGeom>
          <a:noFill/>
        </p:spPr>
        <p:txBody>
          <a:bodyPr wrap="square" rtlCol="0" anchor="ctr"/>
          <a:lstStyle/>
          <a:p>
            <a:pPr marL="0" indent="0">
              <a:buNone/>
            </a:pPr>
            <a:r>
              <a:rPr lang="en-US" sz="2000" i="1" dirty="0">
                <a:solidFill>
                  <a:srgbClr val="C7CBF5"/>
                </a:solidFill>
                <a:latin typeface="Times New Roman" panose="02020603050405020304" charset="0"/>
                <a:ea typeface="Calibri" panose="020F0502020204030204" pitchFamily="34" charset="-122"/>
                <a:cs typeface="Times New Roman" panose="02020603050405020304" charset="0"/>
              </a:rPr>
              <a:t>Predictive Maintenance &amp; Real-Time Anomaly Detection for Industrial Systems</a:t>
            </a:r>
            <a:endParaRPr lang="en-US" sz="2000" dirty="0">
              <a:latin typeface="Times New Roman" panose="02020603050405020304" charset="0"/>
              <a:cs typeface="Times New Roman" panose="02020603050405020304" charset="0"/>
            </a:endParaRPr>
          </a:p>
        </p:txBody>
      </p:sp>
      <p:sp>
        <p:nvSpPr>
          <p:cNvPr id="8" name="Shape 6"/>
          <p:cNvSpPr/>
          <p:nvPr/>
        </p:nvSpPr>
        <p:spPr>
          <a:xfrm>
            <a:off x="548640" y="4343400"/>
            <a:ext cx="2926080" cy="0"/>
          </a:xfrm>
          <a:prstGeom prst="line">
            <a:avLst/>
          </a:prstGeom>
          <a:noFill/>
          <a:ln w="25400">
            <a:solidFill>
              <a:srgbClr val="34D1BF"/>
            </a:solidFill>
            <a:prstDash val="solid"/>
          </a:ln>
        </p:spPr>
      </p:sp>
      <p:sp>
        <p:nvSpPr>
          <p:cNvPr id="9" name="Text 7"/>
          <p:cNvSpPr/>
          <p:nvPr/>
        </p:nvSpPr>
        <p:spPr>
          <a:xfrm>
            <a:off x="548640" y="4572000"/>
            <a:ext cx="7315200" cy="365760"/>
          </a:xfrm>
          <a:prstGeom prst="rect">
            <a:avLst/>
          </a:prstGeom>
          <a:noFill/>
        </p:spPr>
        <p:txBody>
          <a:bodyPr wrap="square" rtlCol="0" anchor="ctr"/>
          <a:lstStyle/>
          <a:p>
            <a:pPr marL="0" indent="0">
              <a:buNone/>
            </a:pPr>
            <a:r>
              <a:rPr lang="en-US" sz="1400" b="1" dirty="0">
                <a:solidFill>
                  <a:srgbClr val="FFFFFF"/>
                </a:solidFill>
                <a:latin typeface="Times New Roman" panose="02020603050405020304" charset="0"/>
                <a:ea typeface="Calibri" panose="020F0502020204030204" pitchFamily="34" charset="-122"/>
                <a:cs typeface="Times New Roman" panose="02020603050405020304" charset="0"/>
              </a:rPr>
              <a:t>Infosys Springboard Virtual Internship 7.0</a:t>
            </a:r>
            <a:endParaRPr lang="en-US" sz="1400" dirty="0">
              <a:latin typeface="Times New Roman" panose="02020603050405020304" charset="0"/>
              <a:cs typeface="Times New Roman" panose="02020603050405020304" charset="0"/>
            </a:endParaRPr>
          </a:p>
        </p:txBody>
      </p:sp>
      <p:sp>
        <p:nvSpPr>
          <p:cNvPr id="10" name="Text 8"/>
          <p:cNvSpPr/>
          <p:nvPr/>
        </p:nvSpPr>
        <p:spPr>
          <a:xfrm>
            <a:off x="548640" y="4937760"/>
            <a:ext cx="7315200" cy="320040"/>
          </a:xfrm>
          <a:prstGeom prst="rect">
            <a:avLst/>
          </a:prstGeom>
          <a:noFill/>
        </p:spPr>
        <p:txBody>
          <a:bodyPr wrap="square" rtlCol="0" anchor="ctr"/>
          <a:lstStyle/>
          <a:p>
            <a:pPr marL="0" indent="0">
              <a:buNone/>
            </a:pPr>
            <a:endParaRPr lang="en-US" sz="1200" dirty="0"/>
          </a:p>
        </p:txBody>
      </p:sp>
      <p:sp>
        <p:nvSpPr>
          <p:cNvPr id="11" name="Shape 9"/>
          <p:cNvSpPr/>
          <p:nvPr/>
        </p:nvSpPr>
        <p:spPr>
          <a:xfrm>
            <a:off x="548640" y="5623560"/>
            <a:ext cx="1628140" cy="594360"/>
          </a:xfrm>
          <a:prstGeom prst="roundRect">
            <a:avLst>
              <a:gd name="adj" fmla="val 10769"/>
            </a:avLst>
          </a:prstGeom>
          <a:solidFill>
            <a:srgbClr val="1F2564"/>
          </a:solidFill>
          <a:ln w="12700">
            <a:solidFill>
              <a:srgbClr val="4B4FE0"/>
            </a:solidFill>
            <a:prstDash val="solid"/>
          </a:ln>
        </p:spPr>
      </p:sp>
      <p:sp>
        <p:nvSpPr>
          <p:cNvPr id="12" name="Shape 10"/>
          <p:cNvSpPr/>
          <p:nvPr/>
        </p:nvSpPr>
        <p:spPr>
          <a:xfrm>
            <a:off x="667512" y="5742432"/>
            <a:ext cx="365760" cy="365760"/>
          </a:xfrm>
          <a:prstGeom prst="ellipse">
            <a:avLst/>
          </a:prstGeom>
          <a:solidFill>
            <a:srgbClr val="34D1BF"/>
          </a:solidFill>
        </p:spPr>
      </p:sp>
      <p:sp>
        <p:nvSpPr>
          <p:cNvPr id="13" name="Text 11"/>
          <p:cNvSpPr/>
          <p:nvPr/>
        </p:nvSpPr>
        <p:spPr>
          <a:xfrm>
            <a:off x="667512" y="5742432"/>
            <a:ext cx="365760" cy="365760"/>
          </a:xfrm>
          <a:prstGeom prst="rect">
            <a:avLst/>
          </a:prstGeom>
          <a:noFill/>
        </p:spPr>
        <p:txBody>
          <a:bodyPr wrap="square" rtlCol="0" anchor="ctr"/>
          <a:lstStyle/>
          <a:p>
            <a:pPr marL="0" indent="0" algn="ctr">
              <a:buNone/>
            </a:pPr>
            <a:r>
              <a:rPr lang="en-US" sz="1400" b="1" dirty="0">
                <a:solidFill>
                  <a:srgbClr val="161B45"/>
                </a:solidFill>
                <a:latin typeface="Calibri" panose="020F0502020204030204" pitchFamily="34" charset="0"/>
                <a:ea typeface="Calibri" panose="020F0502020204030204" pitchFamily="34" charset="-122"/>
                <a:cs typeface="Calibri" panose="020F0502020204030204" pitchFamily="34" charset="-120"/>
              </a:rPr>
              <a:t>1</a:t>
            </a:r>
            <a:endParaRPr lang="en-US" sz="1400" dirty="0"/>
          </a:p>
        </p:txBody>
      </p:sp>
      <p:sp>
        <p:nvSpPr>
          <p:cNvPr id="14" name="Text 12"/>
          <p:cNvSpPr/>
          <p:nvPr/>
        </p:nvSpPr>
        <p:spPr>
          <a:xfrm>
            <a:off x="1097280" y="5623560"/>
            <a:ext cx="1874520" cy="594360"/>
          </a:xfrm>
          <a:prstGeom prst="rect">
            <a:avLst/>
          </a:prstGeom>
          <a:noFill/>
        </p:spPr>
        <p:txBody>
          <a:bodyPr wrap="square" rtlCol="0" anchor="ctr"/>
          <a:lstStyle/>
          <a:p>
            <a:pPr marL="0" indent="0">
              <a:buNone/>
            </a:pPr>
            <a:r>
              <a:rPr lang="en-US" sz="1100" dirty="0">
                <a:solidFill>
                  <a:schemeClr val="bg1"/>
                </a:solidFill>
              </a:rPr>
              <a:t>Aadya Patil</a:t>
            </a:r>
            <a:endParaRPr lang="en-US" sz="1100" dirty="0">
              <a:solidFill>
                <a:schemeClr val="bg1"/>
              </a:solidFill>
            </a:endParaRPr>
          </a:p>
        </p:txBody>
      </p:sp>
      <p:sp>
        <p:nvSpPr>
          <p:cNvPr id="15" name="Shape 13"/>
          <p:cNvSpPr/>
          <p:nvPr/>
        </p:nvSpPr>
        <p:spPr>
          <a:xfrm>
            <a:off x="2657475" y="5633720"/>
            <a:ext cx="1780540" cy="594360"/>
          </a:xfrm>
          <a:prstGeom prst="roundRect">
            <a:avLst>
              <a:gd name="adj" fmla="val 10769"/>
            </a:avLst>
          </a:prstGeom>
          <a:solidFill>
            <a:srgbClr val="1F2564"/>
          </a:solidFill>
          <a:ln w="12700">
            <a:solidFill>
              <a:srgbClr val="4B4FE0"/>
            </a:solidFill>
            <a:prstDash val="solid"/>
          </a:ln>
        </p:spPr>
      </p:sp>
      <p:sp>
        <p:nvSpPr>
          <p:cNvPr id="16" name="Shape 14"/>
          <p:cNvSpPr/>
          <p:nvPr/>
        </p:nvSpPr>
        <p:spPr>
          <a:xfrm>
            <a:off x="2724277" y="5742432"/>
            <a:ext cx="365760" cy="365760"/>
          </a:xfrm>
          <a:prstGeom prst="ellipse">
            <a:avLst/>
          </a:prstGeom>
          <a:solidFill>
            <a:srgbClr val="34D1BF"/>
          </a:solidFill>
        </p:spPr>
      </p:sp>
      <p:sp>
        <p:nvSpPr>
          <p:cNvPr id="17" name="Text 15"/>
          <p:cNvSpPr/>
          <p:nvPr/>
        </p:nvSpPr>
        <p:spPr>
          <a:xfrm>
            <a:off x="2724277" y="5742432"/>
            <a:ext cx="365760" cy="365760"/>
          </a:xfrm>
          <a:prstGeom prst="rect">
            <a:avLst/>
          </a:prstGeom>
          <a:noFill/>
        </p:spPr>
        <p:txBody>
          <a:bodyPr wrap="square" rtlCol="0" anchor="ctr"/>
          <a:lstStyle/>
          <a:p>
            <a:pPr marL="0" indent="0" algn="ctr">
              <a:buNone/>
            </a:pPr>
            <a:r>
              <a:rPr lang="en-US" sz="1400" b="1" dirty="0">
                <a:solidFill>
                  <a:srgbClr val="161B45"/>
                </a:solidFill>
                <a:latin typeface="Calibri" panose="020F0502020204030204" pitchFamily="34" charset="0"/>
                <a:ea typeface="Calibri" panose="020F0502020204030204" pitchFamily="34" charset="-122"/>
                <a:cs typeface="Calibri" panose="020F0502020204030204" pitchFamily="34" charset="-120"/>
              </a:rPr>
              <a:t>2</a:t>
            </a:r>
            <a:endParaRPr lang="en-US" sz="1400" dirty="0"/>
          </a:p>
        </p:txBody>
      </p:sp>
      <p:sp>
        <p:nvSpPr>
          <p:cNvPr id="18" name="Text 16"/>
          <p:cNvSpPr/>
          <p:nvPr/>
        </p:nvSpPr>
        <p:spPr>
          <a:xfrm>
            <a:off x="3183890" y="5623560"/>
            <a:ext cx="1658620" cy="594360"/>
          </a:xfrm>
          <a:prstGeom prst="rect">
            <a:avLst/>
          </a:prstGeom>
          <a:noFill/>
        </p:spPr>
        <p:txBody>
          <a:bodyPr wrap="square" rtlCol="0" anchor="ctr"/>
          <a:lstStyle/>
          <a:p>
            <a:pPr marL="0" indent="0">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Balasri Korasikha</a:t>
            </a:r>
            <a:endParaRPr lang="en-US" sz="1100" dirty="0"/>
          </a:p>
        </p:txBody>
      </p:sp>
      <p:sp>
        <p:nvSpPr>
          <p:cNvPr id="19" name="Shape 17"/>
          <p:cNvSpPr/>
          <p:nvPr/>
        </p:nvSpPr>
        <p:spPr>
          <a:xfrm>
            <a:off x="4882515" y="5623560"/>
            <a:ext cx="2028825" cy="594360"/>
          </a:xfrm>
          <a:prstGeom prst="roundRect">
            <a:avLst>
              <a:gd name="adj" fmla="val 10769"/>
            </a:avLst>
          </a:prstGeom>
          <a:solidFill>
            <a:srgbClr val="1F2564"/>
          </a:solidFill>
          <a:ln w="12700">
            <a:solidFill>
              <a:srgbClr val="4B4FE0"/>
            </a:solidFill>
            <a:prstDash val="solid"/>
          </a:ln>
        </p:spPr>
      </p:sp>
      <p:sp>
        <p:nvSpPr>
          <p:cNvPr id="20" name="Shape 18"/>
          <p:cNvSpPr/>
          <p:nvPr/>
        </p:nvSpPr>
        <p:spPr>
          <a:xfrm>
            <a:off x="4936617" y="5742432"/>
            <a:ext cx="365760" cy="365760"/>
          </a:xfrm>
          <a:prstGeom prst="ellipse">
            <a:avLst/>
          </a:prstGeom>
          <a:solidFill>
            <a:srgbClr val="34D1BF"/>
          </a:solidFill>
        </p:spPr>
      </p:sp>
      <p:sp>
        <p:nvSpPr>
          <p:cNvPr id="21" name="Text 19"/>
          <p:cNvSpPr/>
          <p:nvPr/>
        </p:nvSpPr>
        <p:spPr>
          <a:xfrm>
            <a:off x="4936490" y="5742305"/>
            <a:ext cx="349250" cy="365760"/>
          </a:xfrm>
          <a:prstGeom prst="rect">
            <a:avLst/>
          </a:prstGeom>
          <a:noFill/>
        </p:spPr>
        <p:txBody>
          <a:bodyPr wrap="square" rtlCol="0" anchor="ctr"/>
          <a:lstStyle/>
          <a:p>
            <a:pPr marL="0" indent="0" algn="ctr">
              <a:buNone/>
            </a:pPr>
            <a:r>
              <a:rPr lang="en-US" sz="1400" b="1" dirty="0">
                <a:solidFill>
                  <a:srgbClr val="161B45"/>
                </a:solidFill>
                <a:latin typeface="Calibri" panose="020F0502020204030204" pitchFamily="34" charset="0"/>
                <a:ea typeface="Calibri" panose="020F0502020204030204" pitchFamily="34" charset="-122"/>
                <a:cs typeface="Calibri" panose="020F0502020204030204" pitchFamily="34" charset="-120"/>
              </a:rPr>
              <a:t>3</a:t>
            </a:r>
            <a:endParaRPr lang="en-US" sz="1400" dirty="0"/>
          </a:p>
        </p:txBody>
      </p:sp>
      <p:sp>
        <p:nvSpPr>
          <p:cNvPr id="22" name="Text 20"/>
          <p:cNvSpPr/>
          <p:nvPr/>
        </p:nvSpPr>
        <p:spPr>
          <a:xfrm>
            <a:off x="5294630" y="5623560"/>
            <a:ext cx="1816100" cy="594360"/>
          </a:xfrm>
          <a:prstGeom prst="rect">
            <a:avLst/>
          </a:prstGeom>
          <a:noFill/>
        </p:spPr>
        <p:txBody>
          <a:bodyPr wrap="square" rtlCol="0" anchor="ctr"/>
          <a:lstStyle/>
          <a:p>
            <a:pPr marL="0" indent="0">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Bandaru Keerthi Pranathi</a:t>
            </a:r>
            <a:endParaRPr lang="en-US" sz="1100" dirty="0"/>
          </a:p>
        </p:txBody>
      </p:sp>
      <p:sp>
        <p:nvSpPr>
          <p:cNvPr id="23" name="Shape 21"/>
          <p:cNvSpPr/>
          <p:nvPr/>
        </p:nvSpPr>
        <p:spPr>
          <a:xfrm>
            <a:off x="7355205" y="5623560"/>
            <a:ext cx="1579880" cy="594360"/>
          </a:xfrm>
          <a:prstGeom prst="roundRect">
            <a:avLst>
              <a:gd name="adj" fmla="val 10769"/>
            </a:avLst>
          </a:prstGeom>
          <a:solidFill>
            <a:srgbClr val="1F2564"/>
          </a:solidFill>
          <a:ln w="12700">
            <a:solidFill>
              <a:srgbClr val="4B4FE0"/>
            </a:solidFill>
            <a:prstDash val="solid"/>
          </a:ln>
        </p:spPr>
      </p:sp>
      <p:sp>
        <p:nvSpPr>
          <p:cNvPr id="24" name="Shape 22"/>
          <p:cNvSpPr/>
          <p:nvPr/>
        </p:nvSpPr>
        <p:spPr>
          <a:xfrm>
            <a:off x="7498207" y="5742432"/>
            <a:ext cx="365760" cy="365760"/>
          </a:xfrm>
          <a:prstGeom prst="ellipse">
            <a:avLst/>
          </a:prstGeom>
          <a:solidFill>
            <a:srgbClr val="34D1BF"/>
          </a:solidFill>
        </p:spPr>
      </p:sp>
      <p:sp>
        <p:nvSpPr>
          <p:cNvPr id="25" name="Text 23"/>
          <p:cNvSpPr/>
          <p:nvPr/>
        </p:nvSpPr>
        <p:spPr>
          <a:xfrm>
            <a:off x="7450582" y="5742432"/>
            <a:ext cx="365760" cy="365760"/>
          </a:xfrm>
          <a:prstGeom prst="rect">
            <a:avLst/>
          </a:prstGeom>
          <a:noFill/>
        </p:spPr>
        <p:txBody>
          <a:bodyPr wrap="square" rtlCol="0" anchor="ctr"/>
          <a:lstStyle/>
          <a:p>
            <a:pPr marL="0" indent="0" algn="ctr">
              <a:buNone/>
            </a:pPr>
            <a:r>
              <a:rPr lang="en-US" sz="1400" b="1" dirty="0">
                <a:solidFill>
                  <a:srgbClr val="161B45"/>
                </a:solidFill>
                <a:latin typeface="Calibri" panose="020F0502020204030204" pitchFamily="34" charset="0"/>
                <a:ea typeface="Calibri" panose="020F0502020204030204" pitchFamily="34" charset="-122"/>
                <a:cs typeface="Calibri" panose="020F0502020204030204" pitchFamily="34" charset="-120"/>
              </a:rPr>
              <a:t>  4</a:t>
            </a:r>
            <a:endParaRPr lang="en-US" sz="1400" dirty="0"/>
          </a:p>
        </p:txBody>
      </p:sp>
      <p:sp>
        <p:nvSpPr>
          <p:cNvPr id="26" name="Text 24"/>
          <p:cNvSpPr/>
          <p:nvPr/>
        </p:nvSpPr>
        <p:spPr>
          <a:xfrm>
            <a:off x="7864475" y="5623560"/>
            <a:ext cx="942340" cy="594360"/>
          </a:xfrm>
          <a:prstGeom prst="rect">
            <a:avLst/>
          </a:prstGeom>
          <a:noFill/>
        </p:spPr>
        <p:txBody>
          <a:bodyPr wrap="square" rtlCol="0" anchor="ctr"/>
          <a:lstStyle/>
          <a:p>
            <a:pPr marL="0" indent="0">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Chandini K</a:t>
            </a:r>
            <a:endParaRPr lang="en-US" sz="1100" dirty="0"/>
          </a:p>
        </p:txBody>
      </p:sp>
      <p:sp>
        <p:nvSpPr>
          <p:cNvPr id="28" name="Shape 21"/>
          <p:cNvSpPr/>
          <p:nvPr/>
        </p:nvSpPr>
        <p:spPr>
          <a:xfrm>
            <a:off x="9433560" y="5623560"/>
            <a:ext cx="1579880" cy="594360"/>
          </a:xfrm>
          <a:prstGeom prst="roundRect">
            <a:avLst>
              <a:gd name="adj" fmla="val 10769"/>
            </a:avLst>
          </a:prstGeom>
          <a:solidFill>
            <a:srgbClr val="1F2564"/>
          </a:solidFill>
          <a:ln w="12700">
            <a:solidFill>
              <a:srgbClr val="4B4FE0"/>
            </a:solidFill>
            <a:prstDash val="solid"/>
          </a:ln>
        </p:spPr>
        <p:txBody>
          <a:bodyPr/>
          <a:p>
            <a:pPr algn="l">
              <a:lnSpc>
                <a:spcPct val="130000"/>
              </a:lnSpc>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sym typeface="+mn-ea"/>
              </a:rPr>
              <a:t>               Vasavi Kolla</a:t>
            </a:r>
            <a:r>
              <a:rPr lang="en-US" b="1" dirty="0">
                <a:solidFill>
                  <a:srgbClr val="FFFFFF"/>
                </a:solidFill>
                <a:latin typeface="Calibri" panose="020F0502020204030204" pitchFamily="34" charset="0"/>
                <a:ea typeface="Calibri" panose="020F0502020204030204" pitchFamily="34" charset="-122"/>
                <a:cs typeface="Calibri" panose="020F0502020204030204" pitchFamily="34" charset="-120"/>
                <a:sym typeface="+mn-ea"/>
              </a:rPr>
              <a:t> </a:t>
            </a:r>
            <a:endParaRPr lang="en-US"/>
          </a:p>
        </p:txBody>
      </p:sp>
      <p:sp>
        <p:nvSpPr>
          <p:cNvPr id="29" name="Shape 22"/>
          <p:cNvSpPr/>
          <p:nvPr/>
        </p:nvSpPr>
        <p:spPr>
          <a:xfrm>
            <a:off x="9518142" y="5742432"/>
            <a:ext cx="365760" cy="365760"/>
          </a:xfrm>
          <a:prstGeom prst="ellipse">
            <a:avLst/>
          </a:prstGeom>
          <a:solidFill>
            <a:srgbClr val="34D1BF"/>
          </a:solidFill>
        </p:spPr>
      </p:sp>
      <p:sp>
        <p:nvSpPr>
          <p:cNvPr id="30" name="Text 23"/>
          <p:cNvSpPr/>
          <p:nvPr/>
        </p:nvSpPr>
        <p:spPr>
          <a:xfrm>
            <a:off x="9518142" y="5742432"/>
            <a:ext cx="365760" cy="365760"/>
          </a:xfrm>
          <a:prstGeom prst="rect">
            <a:avLst/>
          </a:prstGeom>
          <a:noFill/>
        </p:spPr>
        <p:txBody>
          <a:bodyPr wrap="square" rtlCol="0" anchor="ctr"/>
          <a:lstStyle/>
          <a:p>
            <a:pPr marL="0" indent="0" algn="ctr">
              <a:buNone/>
            </a:pPr>
            <a:r>
              <a:rPr lang="en-US" sz="1400" b="1" dirty="0">
                <a:solidFill>
                  <a:srgbClr val="161B45"/>
                </a:solidFill>
                <a:latin typeface="Calibri" panose="020F0502020204030204" pitchFamily="34" charset="0"/>
                <a:ea typeface="Calibri" panose="020F0502020204030204" pitchFamily="34" charset="-122"/>
                <a:cs typeface="Calibri" panose="020F0502020204030204" pitchFamily="34" charset="-120"/>
              </a:rPr>
              <a:t>5</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p:spPr>
        <p:txBody>
          <a:bodyPr wrap="square" rtlCol="0" anchor="ctr"/>
          <a:lstStyle/>
          <a:p>
            <a:pPr marL="0" indent="0">
              <a:buNone/>
            </a:pPr>
            <a:r>
              <a:rPr lang="en-US" sz="1200" b="1" kern="0" spc="200" dirty="0">
                <a:solidFill>
                  <a:srgbClr val="4B4FE0"/>
                </a:solidFill>
                <a:latin typeface="Times New Roman" panose="02020603050405020304" charset="0"/>
                <a:ea typeface="Calibri" panose="020F0502020204030204" pitchFamily="34" charset="-122"/>
                <a:cs typeface="Times New Roman" panose="02020603050405020304" charset="0"/>
              </a:rPr>
              <a:t>PROBLEM STATEMENT</a:t>
            </a:r>
            <a:endParaRPr lang="en-US" sz="1200" dirty="0">
              <a:latin typeface="Times New Roman" panose="02020603050405020304" charset="0"/>
              <a:cs typeface="Times New Roman" panose="02020603050405020304" charset="0"/>
            </a:endParaRPr>
          </a:p>
        </p:txBody>
      </p:sp>
      <p:sp>
        <p:nvSpPr>
          <p:cNvPr id="3" name="Text 1"/>
          <p:cNvSpPr/>
          <p:nvPr/>
        </p:nvSpPr>
        <p:spPr>
          <a:xfrm>
            <a:off x="530352" y="658368"/>
            <a:ext cx="11064240" cy="822960"/>
          </a:xfrm>
          <a:prstGeom prst="rect">
            <a:avLst/>
          </a:prstGeom>
          <a:noFill/>
        </p:spPr>
        <p:txBody>
          <a:bodyPr wrap="square" rtlCol="0" anchor="ctr"/>
          <a:lstStyle/>
          <a:p>
            <a:pPr marL="0" indent="0">
              <a:buNone/>
            </a:pPr>
            <a:r>
              <a:rPr lang="en-US" sz="3000" b="1" dirty="0">
                <a:solidFill>
                  <a:srgbClr val="1C2140"/>
                </a:solidFill>
                <a:latin typeface="Times New Roman" panose="02020603050405020304" charset="0"/>
                <a:ea typeface="Century Schoolbook" panose="02040604050505020304" pitchFamily="34" charset="-122"/>
                <a:cs typeface="Times New Roman" panose="02020603050405020304" charset="0"/>
              </a:rPr>
              <a:t>Challenges with Traditional Failure Detection</a:t>
            </a:r>
            <a:endParaRPr lang="en-US" sz="3000" dirty="0">
              <a:latin typeface="Times New Roman" panose="02020603050405020304" charset="0"/>
              <a:cs typeface="Times New Roman" panose="02020603050405020304" charset="0"/>
            </a:endParaRPr>
          </a:p>
        </p:txBody>
      </p:sp>
      <p:sp>
        <p:nvSpPr>
          <p:cNvPr id="4" name="Text 2"/>
          <p:cNvSpPr/>
          <p:nvPr/>
        </p:nvSpPr>
        <p:spPr>
          <a:xfrm>
            <a:off x="548640" y="1417320"/>
            <a:ext cx="11064240" cy="594360"/>
          </a:xfrm>
          <a:prstGeom prst="rect">
            <a:avLst/>
          </a:prstGeom>
          <a:noFill/>
        </p:spPr>
        <p:txBody>
          <a:bodyPr wrap="square" rtlCol="0" anchor="ctr"/>
          <a:lstStyle/>
          <a:p>
            <a:pPr marL="0" indent="0">
              <a:lnSpc>
                <a:spcPts val="1800"/>
              </a:lnSpc>
              <a:buNone/>
            </a:pPr>
            <a:r>
              <a:rPr lang="en-US" altLang="en-US" dirty="0">
                <a:solidFill>
                  <a:srgbClr val="5B6178"/>
                </a:solidFill>
                <a:latin typeface="Times New Roman" panose="02020603050405020304" charset="0"/>
                <a:ea typeface="Calibri" panose="020F0502020204030204" pitchFamily="34" charset="-122"/>
                <a:cs typeface="Times New Roman" panose="02020603050405020304" charset="0"/>
              </a:rPr>
              <a:t>Traditional maintenance approaches rely heavily on manual monitoring and fixed thresholds, making it difficult to identify early failure patterns from multiple machine parameters.</a:t>
            </a:r>
            <a:endParaRPr lang="en-US" altLang="en-US" dirty="0">
              <a:solidFill>
                <a:srgbClr val="5B6178"/>
              </a:solidFill>
              <a:latin typeface="Times New Roman" panose="02020603050405020304" charset="0"/>
              <a:ea typeface="Calibri" panose="020F0502020204030204" pitchFamily="34" charset="-122"/>
              <a:cs typeface="Times New Roman" panose="02020603050405020304" charset="0"/>
            </a:endParaRPr>
          </a:p>
        </p:txBody>
      </p:sp>
      <p:sp>
        <p:nvSpPr>
          <p:cNvPr id="5" name="Shape 3"/>
          <p:cNvSpPr/>
          <p:nvPr/>
        </p:nvSpPr>
        <p:spPr>
          <a:xfrm>
            <a:off x="548640" y="2240280"/>
            <a:ext cx="5394960" cy="1828800"/>
          </a:xfrm>
          <a:prstGeom prst="roundRect">
            <a:avLst>
              <a:gd name="adj" fmla="val 4500"/>
            </a:avLst>
          </a:prstGeom>
          <a:solidFill>
            <a:srgbClr val="FFFFFF"/>
          </a:solidFill>
          <a:effectLst>
            <a:outerShdw blurRad="88900" dist="25400" dir="5400000" algn="bl" rotWithShape="0">
              <a:srgbClr val="5B6178">
                <a:alpha val="16000"/>
              </a:srgbClr>
            </a:outerShdw>
          </a:effectLst>
        </p:spPr>
      </p:sp>
      <p:sp>
        <p:nvSpPr>
          <p:cNvPr id="6" name="Shape 4"/>
          <p:cNvSpPr/>
          <p:nvPr/>
        </p:nvSpPr>
        <p:spPr>
          <a:xfrm>
            <a:off x="804672" y="2496312"/>
            <a:ext cx="502920" cy="502920"/>
          </a:xfrm>
          <a:prstGeom prst="ellipse">
            <a:avLst/>
          </a:prstGeom>
          <a:solidFill>
            <a:srgbClr val="4B4FE0"/>
          </a:solidFill>
        </p:spPr>
      </p:sp>
      <p:sp>
        <p:nvSpPr>
          <p:cNvPr id="7" name="Text 5"/>
          <p:cNvSpPr/>
          <p:nvPr/>
        </p:nvSpPr>
        <p:spPr>
          <a:xfrm>
            <a:off x="804672" y="2496312"/>
            <a:ext cx="502920" cy="502920"/>
          </a:xfrm>
          <a:prstGeom prst="rect">
            <a:avLst/>
          </a:prstGeom>
          <a:noFill/>
        </p:spPr>
        <p:txBody>
          <a:bodyPr wrap="square" rtlCol="0" anchor="ctr"/>
          <a:lstStyle/>
          <a:p>
            <a:pPr marL="0" indent="0" algn="ctr">
              <a:buNone/>
            </a:pPr>
            <a:r>
              <a:rPr 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700" dirty="0"/>
          </a:p>
        </p:txBody>
      </p:sp>
      <p:sp>
        <p:nvSpPr>
          <p:cNvPr id="8" name="Text 6"/>
          <p:cNvSpPr/>
          <p:nvPr/>
        </p:nvSpPr>
        <p:spPr>
          <a:xfrm>
            <a:off x="1463040" y="2441448"/>
            <a:ext cx="4251960" cy="457200"/>
          </a:xfrm>
          <a:prstGeom prst="rect">
            <a:avLst/>
          </a:prstGeom>
          <a:noFill/>
        </p:spPr>
        <p:txBody>
          <a:bodyPr wrap="square" rtlCol="0" anchor="ctr"/>
          <a:lstStyle/>
          <a:p>
            <a:pPr marL="0" indent="0">
              <a:buNone/>
            </a:pPr>
            <a:r>
              <a:rPr 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Reactive Maintenance</a:t>
            </a:r>
            <a:endParaRPr lang="en-US" sz="1600" dirty="0">
              <a:latin typeface="Times New Roman" panose="02020603050405020304" charset="0"/>
              <a:cs typeface="Times New Roman" panose="02020603050405020304" charset="0"/>
            </a:endParaRPr>
          </a:p>
        </p:txBody>
      </p:sp>
      <p:sp>
        <p:nvSpPr>
          <p:cNvPr id="9" name="Text 7"/>
          <p:cNvSpPr/>
          <p:nvPr/>
        </p:nvSpPr>
        <p:spPr>
          <a:xfrm>
            <a:off x="822960" y="3063240"/>
            <a:ext cx="4846320" cy="868680"/>
          </a:xfrm>
          <a:prstGeom prst="rect">
            <a:avLst/>
          </a:prstGeom>
          <a:noFill/>
        </p:spPr>
        <p:txBody>
          <a:bodyPr wrap="square" rtlCol="0" anchor="ctr"/>
          <a:lstStyle/>
          <a:p>
            <a:pPr marL="0" indent="0">
              <a:lnSpc>
                <a:spcPts val="1500"/>
              </a:lnSpc>
              <a:buNone/>
            </a:pPr>
            <a:r>
              <a:rPr lang="en-US" altLang="en-US" sz="1400" dirty="0">
                <a:solidFill>
                  <a:srgbClr val="5B6178"/>
                </a:solidFill>
                <a:latin typeface="Times New Roman" panose="02020603050405020304" charset="0"/>
                <a:ea typeface="Calibri" panose="020F0502020204030204" pitchFamily="34" charset="-122"/>
                <a:cs typeface="Times New Roman" panose="02020603050405020304" charset="0"/>
              </a:rPr>
              <a:t>Machines are often inspected or repaired only after a failure occurs, resulting in unexpected downtime, production losses, and higher maintenance costs</a:t>
            </a:r>
            <a:r>
              <a:rPr lang="en-US" sz="1400" dirty="0">
                <a:solidFill>
                  <a:srgbClr val="5B6178"/>
                </a:solidFill>
                <a:latin typeface="Times New Roman" panose="02020603050405020304" charset="0"/>
                <a:ea typeface="Calibri" panose="020F0502020204030204" pitchFamily="34" charset="-122"/>
                <a:cs typeface="Times New Roman" panose="02020603050405020304" charset="0"/>
              </a:rPr>
              <a:t>.</a:t>
            </a:r>
            <a:endParaRPr lang="en-US" sz="1400" dirty="0">
              <a:latin typeface="Times New Roman" panose="02020603050405020304" charset="0"/>
              <a:cs typeface="Times New Roman" panose="02020603050405020304" charset="0"/>
            </a:endParaRPr>
          </a:p>
        </p:txBody>
      </p:sp>
      <p:sp>
        <p:nvSpPr>
          <p:cNvPr id="10" name="Shape 8"/>
          <p:cNvSpPr/>
          <p:nvPr/>
        </p:nvSpPr>
        <p:spPr>
          <a:xfrm>
            <a:off x="6217920" y="2240280"/>
            <a:ext cx="5394960" cy="1828800"/>
          </a:xfrm>
          <a:prstGeom prst="roundRect">
            <a:avLst>
              <a:gd name="adj" fmla="val 4500"/>
            </a:avLst>
          </a:prstGeom>
          <a:solidFill>
            <a:srgbClr val="FFFFFF"/>
          </a:solidFill>
          <a:effectLst>
            <a:outerShdw blurRad="88900" dist="25400" dir="5400000" algn="bl" rotWithShape="0">
              <a:srgbClr val="5B6178">
                <a:alpha val="16000"/>
              </a:srgbClr>
            </a:outerShdw>
          </a:effectLst>
        </p:spPr>
      </p:sp>
      <p:sp>
        <p:nvSpPr>
          <p:cNvPr id="11" name="Shape 9"/>
          <p:cNvSpPr/>
          <p:nvPr/>
        </p:nvSpPr>
        <p:spPr>
          <a:xfrm>
            <a:off x="6473952" y="2496312"/>
            <a:ext cx="502920" cy="502920"/>
          </a:xfrm>
          <a:prstGeom prst="ellipse">
            <a:avLst/>
          </a:prstGeom>
          <a:solidFill>
            <a:srgbClr val="8A6FF0"/>
          </a:solidFill>
        </p:spPr>
      </p:sp>
      <p:sp>
        <p:nvSpPr>
          <p:cNvPr id="12" name="Text 10"/>
          <p:cNvSpPr/>
          <p:nvPr/>
        </p:nvSpPr>
        <p:spPr>
          <a:xfrm>
            <a:off x="6473952" y="2496312"/>
            <a:ext cx="502920" cy="502920"/>
          </a:xfrm>
          <a:prstGeom prst="rect">
            <a:avLst/>
          </a:prstGeom>
          <a:noFill/>
        </p:spPr>
        <p:txBody>
          <a:bodyPr wrap="square" rtlCol="0" anchor="ctr"/>
          <a:lstStyle/>
          <a:p>
            <a:pPr marL="0" indent="0" algn="ctr">
              <a:buNone/>
            </a:pPr>
            <a:r>
              <a:rPr 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700" dirty="0"/>
          </a:p>
        </p:txBody>
      </p:sp>
      <p:sp>
        <p:nvSpPr>
          <p:cNvPr id="13" name="Text 11"/>
          <p:cNvSpPr/>
          <p:nvPr/>
        </p:nvSpPr>
        <p:spPr>
          <a:xfrm>
            <a:off x="7132320" y="2441448"/>
            <a:ext cx="4251960" cy="457200"/>
          </a:xfrm>
          <a:prstGeom prst="rect">
            <a:avLst/>
          </a:prstGeom>
          <a:noFill/>
        </p:spPr>
        <p:txBody>
          <a:bodyPr wrap="square" rtlCol="0" anchor="ctr"/>
          <a:lstStyle/>
          <a:p>
            <a:pPr marL="0" indent="0">
              <a:buNone/>
            </a:pPr>
            <a:r>
              <a:rPr lang="en-US" alt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Fixed Threshold Limitations</a:t>
            </a:r>
            <a:endParaRPr lang="en-US" alt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endParaRPr>
          </a:p>
        </p:txBody>
      </p:sp>
      <p:sp>
        <p:nvSpPr>
          <p:cNvPr id="14" name="Text 12"/>
          <p:cNvSpPr/>
          <p:nvPr/>
        </p:nvSpPr>
        <p:spPr>
          <a:xfrm>
            <a:off x="6492240" y="3063240"/>
            <a:ext cx="4846320" cy="868680"/>
          </a:xfrm>
          <a:prstGeom prst="rect">
            <a:avLst/>
          </a:prstGeom>
          <a:noFill/>
        </p:spPr>
        <p:txBody>
          <a:bodyPr wrap="square" rtlCol="0" anchor="ctr"/>
          <a:lstStyle/>
          <a:p>
            <a:pPr marL="0" indent="0">
              <a:lnSpc>
                <a:spcPts val="1500"/>
              </a:lnSpc>
              <a:buNone/>
            </a:pPr>
            <a:r>
              <a:rPr lang="en-US" altLang="en-US" sz="1400" dirty="0">
                <a:solidFill>
                  <a:srgbClr val="5B6178"/>
                </a:solidFill>
                <a:latin typeface="Times New Roman" panose="02020603050405020304" charset="0"/>
                <a:ea typeface="Calibri" panose="020F0502020204030204" pitchFamily="34" charset="-122"/>
                <a:cs typeface="Times New Roman" panose="02020603050405020304" charset="0"/>
              </a:rPr>
              <a:t>Simple threshold-based monitoring may not capture complex relationships between temperature, rotational speed, torque, and tool wear.</a:t>
            </a:r>
            <a:endParaRPr lang="en-US" altLang="en-US" sz="1400" dirty="0">
              <a:solidFill>
                <a:srgbClr val="5B6178"/>
              </a:solidFill>
              <a:latin typeface="Times New Roman" panose="02020603050405020304" charset="0"/>
              <a:ea typeface="Calibri" panose="020F0502020204030204" pitchFamily="34" charset="-122"/>
              <a:cs typeface="Times New Roman" panose="02020603050405020304" charset="0"/>
            </a:endParaRPr>
          </a:p>
        </p:txBody>
      </p:sp>
      <p:sp>
        <p:nvSpPr>
          <p:cNvPr id="15" name="Shape 13"/>
          <p:cNvSpPr/>
          <p:nvPr/>
        </p:nvSpPr>
        <p:spPr>
          <a:xfrm>
            <a:off x="548640" y="4325112"/>
            <a:ext cx="5394960" cy="1828800"/>
          </a:xfrm>
          <a:prstGeom prst="roundRect">
            <a:avLst>
              <a:gd name="adj" fmla="val 4500"/>
            </a:avLst>
          </a:prstGeom>
          <a:solidFill>
            <a:srgbClr val="FFFFFF"/>
          </a:solidFill>
          <a:effectLst>
            <a:outerShdw blurRad="88900" dist="25400" dir="5400000" algn="bl" rotWithShape="0">
              <a:srgbClr val="5B6178">
                <a:alpha val="16000"/>
              </a:srgbClr>
            </a:outerShdw>
          </a:effectLst>
        </p:spPr>
      </p:sp>
      <p:sp>
        <p:nvSpPr>
          <p:cNvPr id="16" name="Shape 14"/>
          <p:cNvSpPr/>
          <p:nvPr/>
        </p:nvSpPr>
        <p:spPr>
          <a:xfrm>
            <a:off x="804672" y="4581144"/>
            <a:ext cx="502920" cy="502920"/>
          </a:xfrm>
          <a:prstGeom prst="ellipse">
            <a:avLst/>
          </a:prstGeom>
          <a:solidFill>
            <a:srgbClr val="5C63E8"/>
          </a:solidFill>
        </p:spPr>
      </p:sp>
      <p:sp>
        <p:nvSpPr>
          <p:cNvPr id="17" name="Text 15"/>
          <p:cNvSpPr/>
          <p:nvPr/>
        </p:nvSpPr>
        <p:spPr>
          <a:xfrm>
            <a:off x="804672" y="4581144"/>
            <a:ext cx="502920" cy="502920"/>
          </a:xfrm>
          <a:prstGeom prst="rect">
            <a:avLst/>
          </a:prstGeom>
          <a:noFill/>
        </p:spPr>
        <p:txBody>
          <a:bodyPr wrap="square" rtlCol="0" anchor="ctr"/>
          <a:lstStyle/>
          <a:p>
            <a:pPr marL="0" indent="0" algn="ctr">
              <a:buNone/>
            </a:pPr>
            <a:r>
              <a:rPr 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700" dirty="0"/>
          </a:p>
        </p:txBody>
      </p:sp>
      <p:sp>
        <p:nvSpPr>
          <p:cNvPr id="18" name="Text 16"/>
          <p:cNvSpPr/>
          <p:nvPr/>
        </p:nvSpPr>
        <p:spPr>
          <a:xfrm>
            <a:off x="1463040" y="4526280"/>
            <a:ext cx="4251960" cy="457200"/>
          </a:xfrm>
          <a:prstGeom prst="rect">
            <a:avLst/>
          </a:prstGeom>
          <a:noFill/>
        </p:spPr>
        <p:txBody>
          <a:bodyPr wrap="square" rtlCol="0" anchor="ctr"/>
          <a:lstStyle/>
          <a:p>
            <a:pPr marL="0" indent="0">
              <a:buNone/>
            </a:pPr>
            <a:r>
              <a:rPr 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Lack of Predictive Capability</a:t>
            </a:r>
            <a:endParaRPr lang="en-US" sz="1600" dirty="0">
              <a:latin typeface="Times New Roman" panose="02020603050405020304" charset="0"/>
              <a:cs typeface="Times New Roman" panose="02020603050405020304" charset="0"/>
            </a:endParaRPr>
          </a:p>
        </p:txBody>
      </p:sp>
      <p:sp>
        <p:nvSpPr>
          <p:cNvPr id="19" name="Text 17"/>
          <p:cNvSpPr/>
          <p:nvPr/>
        </p:nvSpPr>
        <p:spPr>
          <a:xfrm>
            <a:off x="822960" y="5148072"/>
            <a:ext cx="4846320" cy="868680"/>
          </a:xfrm>
          <a:prstGeom prst="rect">
            <a:avLst/>
          </a:prstGeom>
          <a:noFill/>
        </p:spPr>
        <p:txBody>
          <a:bodyPr wrap="square" rtlCol="0" anchor="ctr"/>
          <a:lstStyle/>
          <a:p>
            <a:pPr marL="0" indent="0">
              <a:lnSpc>
                <a:spcPts val="1500"/>
              </a:lnSpc>
              <a:buNone/>
            </a:pPr>
            <a:r>
              <a:rPr lang="en-US" altLang="en-US" sz="1400" dirty="0">
                <a:solidFill>
                  <a:srgbClr val="5B6178"/>
                </a:solidFill>
                <a:latin typeface="Times New Roman" panose="02020603050405020304" charset="0"/>
                <a:ea typeface="Calibri" panose="020F0502020204030204" pitchFamily="34" charset="-122"/>
                <a:cs typeface="Times New Roman" panose="02020603050405020304" charset="0"/>
              </a:rPr>
              <a:t>Traditional monitoring cannot effectively learn patterns from historical sensor data to predict whether a machine is likely to fail.</a:t>
            </a:r>
            <a:endParaRPr lang="en-US" altLang="en-US" sz="1400" dirty="0">
              <a:solidFill>
                <a:srgbClr val="5B6178"/>
              </a:solidFill>
              <a:latin typeface="Times New Roman" panose="02020603050405020304" charset="0"/>
              <a:ea typeface="Calibri" panose="020F0502020204030204" pitchFamily="34" charset="-122"/>
              <a:cs typeface="Times New Roman" panose="02020603050405020304" charset="0"/>
            </a:endParaRPr>
          </a:p>
        </p:txBody>
      </p:sp>
      <p:sp>
        <p:nvSpPr>
          <p:cNvPr id="20" name="Shape 18"/>
          <p:cNvSpPr/>
          <p:nvPr/>
        </p:nvSpPr>
        <p:spPr>
          <a:xfrm>
            <a:off x="6217920" y="4325112"/>
            <a:ext cx="5394960" cy="1828800"/>
          </a:xfrm>
          <a:prstGeom prst="roundRect">
            <a:avLst>
              <a:gd name="adj" fmla="val 4500"/>
            </a:avLst>
          </a:prstGeom>
          <a:solidFill>
            <a:srgbClr val="FFFFFF"/>
          </a:solidFill>
          <a:effectLst>
            <a:outerShdw blurRad="88900" dist="25400" dir="5400000" algn="bl" rotWithShape="0">
              <a:srgbClr val="5B6178">
                <a:alpha val="16000"/>
              </a:srgbClr>
            </a:outerShdw>
          </a:effectLst>
        </p:spPr>
      </p:sp>
      <p:sp>
        <p:nvSpPr>
          <p:cNvPr id="21" name="Shape 19"/>
          <p:cNvSpPr/>
          <p:nvPr/>
        </p:nvSpPr>
        <p:spPr>
          <a:xfrm>
            <a:off x="6473952" y="4581144"/>
            <a:ext cx="502920" cy="502920"/>
          </a:xfrm>
          <a:prstGeom prst="ellipse">
            <a:avLst/>
          </a:prstGeom>
          <a:solidFill>
            <a:srgbClr val="3A3F9E"/>
          </a:solidFill>
        </p:spPr>
      </p:sp>
      <p:sp>
        <p:nvSpPr>
          <p:cNvPr id="22" name="Text 20"/>
          <p:cNvSpPr/>
          <p:nvPr/>
        </p:nvSpPr>
        <p:spPr>
          <a:xfrm>
            <a:off x="6473952" y="4581144"/>
            <a:ext cx="502920" cy="502920"/>
          </a:xfrm>
          <a:prstGeom prst="rect">
            <a:avLst/>
          </a:prstGeom>
          <a:noFill/>
        </p:spPr>
        <p:txBody>
          <a:bodyPr wrap="square" rtlCol="0" anchor="ctr"/>
          <a:lstStyle/>
          <a:p>
            <a:pPr marL="0" indent="0" algn="ctr">
              <a:buNone/>
            </a:pPr>
            <a:r>
              <a:rPr 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700" dirty="0"/>
          </a:p>
        </p:txBody>
      </p:sp>
      <p:sp>
        <p:nvSpPr>
          <p:cNvPr id="23" name="Text 21"/>
          <p:cNvSpPr/>
          <p:nvPr/>
        </p:nvSpPr>
        <p:spPr>
          <a:xfrm>
            <a:off x="7132320" y="4526280"/>
            <a:ext cx="4251960" cy="457200"/>
          </a:xfrm>
          <a:prstGeom prst="rect">
            <a:avLst/>
          </a:prstGeom>
          <a:noFill/>
        </p:spPr>
        <p:txBody>
          <a:bodyPr wrap="square" rtlCol="0" anchor="ctr"/>
          <a:lstStyle/>
          <a:p>
            <a:pPr marL="0" indent="0">
              <a:buNone/>
            </a:pPr>
            <a:r>
              <a:rPr lang="en-US" alt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Multiple Sensor Parameters</a:t>
            </a:r>
            <a:endParaRPr lang="en-US" alt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endParaRPr>
          </a:p>
        </p:txBody>
      </p:sp>
      <p:sp>
        <p:nvSpPr>
          <p:cNvPr id="24" name="Text 22"/>
          <p:cNvSpPr/>
          <p:nvPr/>
        </p:nvSpPr>
        <p:spPr>
          <a:xfrm>
            <a:off x="6492240" y="5148072"/>
            <a:ext cx="4846320" cy="868680"/>
          </a:xfrm>
          <a:prstGeom prst="rect">
            <a:avLst/>
          </a:prstGeom>
          <a:noFill/>
        </p:spPr>
        <p:txBody>
          <a:bodyPr wrap="square" rtlCol="0" anchor="ctr"/>
          <a:lstStyle/>
          <a:p>
            <a:pPr marL="0" indent="0">
              <a:lnSpc>
                <a:spcPts val="1500"/>
              </a:lnSpc>
              <a:buNone/>
            </a:pPr>
            <a:r>
              <a:rPr lang="en-US" altLang="en-US" sz="1400" dirty="0">
                <a:solidFill>
                  <a:srgbClr val="5B6178"/>
                </a:solidFill>
                <a:latin typeface="Times New Roman" panose="02020603050405020304" charset="0"/>
                <a:ea typeface="Calibri" panose="020F0502020204030204" pitchFamily="34" charset="-122"/>
                <a:cs typeface="Times New Roman" panose="02020603050405020304" charset="0"/>
              </a:rPr>
              <a:t>Monitoring several machine parameters manually makes it difficult to identify combinations of conditions that may indicate an upcoming failure</a:t>
            </a:r>
            <a:r>
              <a:rPr lang="en-US" sz="1400" dirty="0">
                <a:solidFill>
                  <a:srgbClr val="5B6178"/>
                </a:solidFill>
                <a:latin typeface="Times New Roman" panose="02020603050405020304" charset="0"/>
                <a:ea typeface="Calibri" panose="020F0502020204030204" pitchFamily="34" charset="-122"/>
                <a:cs typeface="Times New Roman" panose="02020603050405020304" charset="0"/>
              </a:rPr>
              <a:t>.</a:t>
            </a:r>
            <a:endParaRPr lang="en-US" sz="1400" dirty="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p:spPr>
        <p:txBody>
          <a:bodyPr wrap="square" rtlCol="0" anchor="ctr"/>
          <a:lstStyle/>
          <a:p>
            <a:pPr marL="0" indent="0">
              <a:buNone/>
            </a:pPr>
            <a:r>
              <a:rPr lang="en-US" sz="1200" b="1" kern="0" spc="200" dirty="0">
                <a:solidFill>
                  <a:srgbClr val="4B4FE0"/>
                </a:solidFill>
                <a:latin typeface="Times New Roman" panose="02020603050405020304" charset="0"/>
                <a:ea typeface="Calibri" panose="020F0502020204030204" pitchFamily="34" charset="-122"/>
                <a:cs typeface="Times New Roman" panose="02020603050405020304" charset="0"/>
              </a:rPr>
              <a:t>PROPOSED SOLUTION</a:t>
            </a:r>
            <a:endParaRPr lang="en-US" sz="1200" dirty="0">
              <a:latin typeface="Times New Roman" panose="02020603050405020304" charset="0"/>
              <a:cs typeface="Times New Roman" panose="02020603050405020304" charset="0"/>
            </a:endParaRPr>
          </a:p>
        </p:txBody>
      </p:sp>
      <p:sp>
        <p:nvSpPr>
          <p:cNvPr id="3" name="Text 1"/>
          <p:cNvSpPr/>
          <p:nvPr/>
        </p:nvSpPr>
        <p:spPr>
          <a:xfrm>
            <a:off x="530352" y="658368"/>
            <a:ext cx="11064240" cy="822960"/>
          </a:xfrm>
          <a:prstGeom prst="rect">
            <a:avLst/>
          </a:prstGeom>
          <a:noFill/>
        </p:spPr>
        <p:txBody>
          <a:bodyPr wrap="square" rtlCol="0" anchor="ctr"/>
          <a:lstStyle/>
          <a:p>
            <a:pPr marL="0" indent="0">
              <a:buNone/>
            </a:pPr>
            <a:r>
              <a:rPr lang="en-US" sz="3000" b="1" dirty="0">
                <a:solidFill>
                  <a:srgbClr val="1C2140"/>
                </a:solidFill>
                <a:latin typeface="Times New Roman" panose="02020603050405020304" charset="0"/>
                <a:ea typeface="Century Schoolbook" panose="02040604050505020304" pitchFamily="34" charset="-122"/>
                <a:cs typeface="Times New Roman" panose="02020603050405020304" charset="0"/>
              </a:rPr>
              <a:t>ML-Powered </a:t>
            </a:r>
            <a:r>
              <a:rPr lang="en-US" altLang="en-US" sz="3000" b="1" dirty="0">
                <a:solidFill>
                  <a:srgbClr val="1C2140"/>
                </a:solidFill>
                <a:latin typeface="Times New Roman" panose="02020603050405020304" charset="0"/>
                <a:ea typeface="Century Schoolbook" panose="02040604050505020304" pitchFamily="34" charset="-122"/>
                <a:cs typeface="Times New Roman" panose="02020603050405020304" charset="0"/>
              </a:rPr>
              <a:t>Predictive Maintenance System</a:t>
            </a:r>
            <a:endParaRPr lang="en-US" altLang="en-US" sz="3000" b="1" dirty="0">
              <a:solidFill>
                <a:srgbClr val="1C2140"/>
              </a:solidFill>
              <a:latin typeface="Times New Roman" panose="02020603050405020304" charset="0"/>
              <a:ea typeface="Century Schoolbook" panose="02040604050505020304" pitchFamily="34" charset="-122"/>
              <a:cs typeface="Times New Roman" panose="02020603050405020304" charset="0"/>
            </a:endParaRPr>
          </a:p>
        </p:txBody>
      </p:sp>
      <p:sp>
        <p:nvSpPr>
          <p:cNvPr id="4" name="Text 2"/>
          <p:cNvSpPr/>
          <p:nvPr/>
        </p:nvSpPr>
        <p:spPr>
          <a:xfrm>
            <a:off x="548640" y="1417320"/>
            <a:ext cx="11064240" cy="594360"/>
          </a:xfrm>
          <a:prstGeom prst="rect">
            <a:avLst/>
          </a:prstGeom>
          <a:noFill/>
        </p:spPr>
        <p:txBody>
          <a:bodyPr wrap="square" rtlCol="0" anchor="ctr"/>
          <a:lstStyle/>
          <a:p>
            <a:pPr marL="0" indent="0">
              <a:lnSpc>
                <a:spcPts val="1800"/>
              </a:lnSpc>
              <a:buNone/>
            </a:pPr>
            <a:r>
              <a:rPr lang="en-US" altLang="en-US" dirty="0">
                <a:solidFill>
                  <a:srgbClr val="5B6178"/>
                </a:solidFill>
                <a:latin typeface="Times New Roman" panose="02020603050405020304" charset="0"/>
                <a:ea typeface="Calibri" panose="020F0502020204030204" pitchFamily="34" charset="-122"/>
                <a:cs typeface="Times New Roman" panose="02020603050405020304" charset="0"/>
              </a:rPr>
              <a:t>Our proposed system uses machine learning on historical machine sensor data to predict potential failures and provide machine health insights and maintenance recommendations.</a:t>
            </a:r>
            <a:endParaRPr lang="en-US" altLang="en-US" dirty="0">
              <a:solidFill>
                <a:srgbClr val="5B6178"/>
              </a:solidFill>
              <a:latin typeface="Times New Roman" panose="02020603050405020304" charset="0"/>
              <a:ea typeface="Calibri" panose="020F0502020204030204" pitchFamily="34" charset="-122"/>
              <a:cs typeface="Times New Roman" panose="02020603050405020304" charset="0"/>
            </a:endParaRPr>
          </a:p>
        </p:txBody>
      </p:sp>
      <p:sp>
        <p:nvSpPr>
          <p:cNvPr id="5" name="Shape 3"/>
          <p:cNvSpPr/>
          <p:nvPr/>
        </p:nvSpPr>
        <p:spPr>
          <a:xfrm>
            <a:off x="548640" y="2201545"/>
            <a:ext cx="2610485" cy="3698240"/>
          </a:xfrm>
          <a:prstGeom prst="roundRect">
            <a:avLst>
              <a:gd name="adj" fmla="val 2584"/>
            </a:avLst>
          </a:prstGeom>
          <a:solidFill>
            <a:srgbClr val="FFFFFF"/>
          </a:solidFill>
          <a:effectLst>
            <a:outerShdw blurRad="101600" dist="25400" dir="5400000" algn="bl" rotWithShape="0">
              <a:srgbClr val="5B6178">
                <a:alpha val="18000"/>
              </a:srgbClr>
            </a:outerShdw>
          </a:effectLst>
        </p:spPr>
      </p:sp>
      <p:sp>
        <p:nvSpPr>
          <p:cNvPr id="6" name="Shape 4"/>
          <p:cNvSpPr/>
          <p:nvPr/>
        </p:nvSpPr>
        <p:spPr>
          <a:xfrm>
            <a:off x="1465834" y="2514600"/>
            <a:ext cx="777240" cy="777240"/>
          </a:xfrm>
          <a:prstGeom prst="ellipse">
            <a:avLst/>
          </a:prstGeom>
          <a:solidFill>
            <a:srgbClr val="4B4FE0"/>
          </a:solidFill>
        </p:spPr>
      </p:sp>
      <p:sp>
        <p:nvSpPr>
          <p:cNvPr id="7" name="Text 5"/>
          <p:cNvSpPr/>
          <p:nvPr/>
        </p:nvSpPr>
        <p:spPr>
          <a:xfrm>
            <a:off x="1465834" y="2529840"/>
            <a:ext cx="777240" cy="777240"/>
          </a:xfrm>
          <a:prstGeom prst="rect">
            <a:avLst/>
          </a:prstGeom>
          <a:noFill/>
        </p:spPr>
        <p:txBody>
          <a:bodyPr wrap="square" rtlCol="0" anchor="ctr"/>
          <a:lstStyle/>
          <a:p>
            <a:pPr marL="0" indent="0" algn="ctr">
              <a:buNone/>
            </a:pPr>
            <a:r>
              <a:rPr lang="en-US" sz="1900" b="1" dirty="0">
                <a:solidFill>
                  <a:srgbClr val="FFFFFF"/>
                </a:solidFill>
                <a:latin typeface="Calibri" panose="020F0502020204030204" pitchFamily="34" charset="0"/>
                <a:ea typeface="Calibri" panose="020F0502020204030204" pitchFamily="34" charset="-122"/>
                <a:cs typeface="Calibri" panose="020F0502020204030204" pitchFamily="34" charset="-120"/>
              </a:rPr>
              <a:t>AI</a:t>
            </a:r>
            <a:endParaRPr lang="en-US" sz="1900" dirty="0"/>
          </a:p>
        </p:txBody>
      </p:sp>
      <p:sp>
        <p:nvSpPr>
          <p:cNvPr id="8" name="Text 6"/>
          <p:cNvSpPr/>
          <p:nvPr/>
        </p:nvSpPr>
        <p:spPr>
          <a:xfrm>
            <a:off x="578485" y="3474720"/>
            <a:ext cx="2668270" cy="685800"/>
          </a:xfrm>
          <a:prstGeom prst="rect">
            <a:avLst/>
          </a:prstGeom>
          <a:noFill/>
        </p:spPr>
        <p:txBody>
          <a:bodyPr wrap="square" rtlCol="0" anchor="ctr"/>
          <a:lstStyle/>
          <a:p>
            <a:pPr marL="0" indent="0" algn="ctr">
              <a:buNone/>
            </a:pPr>
            <a:r>
              <a:rPr lang="en-US" altLang="en-US" sz="2000" b="1" dirty="0">
                <a:solidFill>
                  <a:srgbClr val="1C2140"/>
                </a:solidFill>
                <a:latin typeface="Times New Roman" panose="02020603050405020304" charset="0"/>
                <a:ea typeface="Century Schoolbook" panose="02040604050505020304" pitchFamily="34" charset="-122"/>
                <a:cs typeface="Times New Roman" panose="02020603050405020304" charset="0"/>
              </a:rPr>
              <a:t>Machine Failure Prediction</a:t>
            </a:r>
            <a:endParaRPr lang="en-US" altLang="en-US" sz="2000" b="1" dirty="0">
              <a:solidFill>
                <a:srgbClr val="1C2140"/>
              </a:solidFill>
              <a:latin typeface="Times New Roman" panose="02020603050405020304" charset="0"/>
              <a:ea typeface="Century Schoolbook" panose="02040604050505020304" pitchFamily="34" charset="-122"/>
              <a:cs typeface="Times New Roman" panose="02020603050405020304" charset="0"/>
            </a:endParaRPr>
          </a:p>
        </p:txBody>
      </p:sp>
      <p:sp>
        <p:nvSpPr>
          <p:cNvPr id="9" name="Text 7"/>
          <p:cNvSpPr/>
          <p:nvPr/>
        </p:nvSpPr>
        <p:spPr>
          <a:xfrm>
            <a:off x="734060" y="4087495"/>
            <a:ext cx="2233295" cy="1661160"/>
          </a:xfrm>
          <a:prstGeom prst="rect">
            <a:avLst/>
          </a:prstGeom>
          <a:noFill/>
        </p:spPr>
        <p:txBody>
          <a:bodyPr wrap="square" rtlCol="0" anchor="ctr"/>
          <a:lstStyle/>
          <a:p>
            <a:pPr marL="0" indent="0" algn="l">
              <a:lnSpc>
                <a:spcPts val="1600"/>
              </a:lnSpc>
              <a:buNone/>
            </a:pPr>
            <a:r>
              <a:rPr lang="en-US" altLang="en-US" dirty="0">
                <a:solidFill>
                  <a:srgbClr val="5B6178"/>
                </a:solidFill>
                <a:latin typeface="Times New Roman" panose="02020603050405020304" charset="0"/>
                <a:ea typeface="Calibri" panose="020F0502020204030204" pitchFamily="34" charset="-122"/>
                <a:cs typeface="Times New Roman" panose="02020603050405020304" charset="0"/>
              </a:rPr>
              <a:t>A Random Forest Classifier analyzes machine sensor data and predicts whether the machine is likely to experience a failure</a:t>
            </a:r>
            <a:r>
              <a:rPr lang="en-US" dirty="0">
                <a:solidFill>
                  <a:srgbClr val="5B6178"/>
                </a:solidFill>
                <a:latin typeface="Times New Roman" panose="02020603050405020304" charset="0"/>
                <a:ea typeface="Calibri" panose="020F0502020204030204" pitchFamily="34" charset="-122"/>
                <a:cs typeface="Times New Roman" panose="02020603050405020304" charset="0"/>
              </a:rPr>
              <a:t>.</a:t>
            </a:r>
            <a:endParaRPr lang="en-US" dirty="0">
              <a:latin typeface="Times New Roman" panose="02020603050405020304" charset="0"/>
              <a:cs typeface="Times New Roman" panose="02020603050405020304" charset="0"/>
            </a:endParaRPr>
          </a:p>
        </p:txBody>
      </p:sp>
      <p:sp>
        <p:nvSpPr>
          <p:cNvPr id="10" name="Shape 8"/>
          <p:cNvSpPr/>
          <p:nvPr/>
        </p:nvSpPr>
        <p:spPr>
          <a:xfrm>
            <a:off x="3246755" y="2212975"/>
            <a:ext cx="2716530" cy="3702685"/>
          </a:xfrm>
          <a:prstGeom prst="roundRect">
            <a:avLst>
              <a:gd name="adj" fmla="val 2584"/>
            </a:avLst>
          </a:prstGeom>
          <a:solidFill>
            <a:srgbClr val="161B45"/>
          </a:solidFill>
          <a:effectLst>
            <a:outerShdw blurRad="101600" dist="25400" dir="5400000" algn="bl" rotWithShape="0">
              <a:srgbClr val="5B6178">
                <a:alpha val="18000"/>
              </a:srgbClr>
            </a:outerShdw>
          </a:effectLst>
        </p:spPr>
      </p:sp>
      <p:sp>
        <p:nvSpPr>
          <p:cNvPr id="11" name="Shape 9"/>
          <p:cNvSpPr/>
          <p:nvPr/>
        </p:nvSpPr>
        <p:spPr>
          <a:xfrm>
            <a:off x="4133088" y="2514600"/>
            <a:ext cx="777240" cy="777240"/>
          </a:xfrm>
          <a:prstGeom prst="ellipse">
            <a:avLst/>
          </a:prstGeom>
          <a:solidFill>
            <a:srgbClr val="34D1BF"/>
          </a:solidFill>
        </p:spPr>
      </p:sp>
      <p:sp>
        <p:nvSpPr>
          <p:cNvPr id="12" name="Text 10"/>
          <p:cNvSpPr/>
          <p:nvPr/>
        </p:nvSpPr>
        <p:spPr>
          <a:xfrm>
            <a:off x="4133088" y="2496185"/>
            <a:ext cx="777240" cy="777240"/>
          </a:xfrm>
          <a:prstGeom prst="rect">
            <a:avLst/>
          </a:prstGeom>
          <a:noFill/>
        </p:spPr>
        <p:txBody>
          <a:bodyPr wrap="square" rtlCol="0" anchor="ctr"/>
          <a:lstStyle/>
          <a:p>
            <a:pPr marL="0" indent="0" algn="ctr">
              <a:buNone/>
            </a:pPr>
            <a:r>
              <a:rPr lang="en-US" sz="1900" b="1" dirty="0">
                <a:solidFill>
                  <a:srgbClr val="161B45"/>
                </a:solidFill>
                <a:latin typeface="Calibri" panose="020F0502020204030204" pitchFamily="34" charset="0"/>
                <a:ea typeface="Calibri" panose="020F0502020204030204" pitchFamily="34" charset="-122"/>
                <a:cs typeface="Calibri" panose="020F0502020204030204" pitchFamily="34" charset="-120"/>
              </a:rPr>
              <a:t>MS</a:t>
            </a:r>
            <a:endParaRPr lang="en-US" sz="1900" dirty="0"/>
          </a:p>
        </p:txBody>
      </p:sp>
      <p:sp>
        <p:nvSpPr>
          <p:cNvPr id="13" name="Text 11"/>
          <p:cNvSpPr/>
          <p:nvPr/>
        </p:nvSpPr>
        <p:spPr>
          <a:xfrm>
            <a:off x="3246755" y="3474720"/>
            <a:ext cx="2716530" cy="685800"/>
          </a:xfrm>
          <a:prstGeom prst="rect">
            <a:avLst/>
          </a:prstGeom>
          <a:noFill/>
        </p:spPr>
        <p:txBody>
          <a:bodyPr wrap="square" rtlCol="0" anchor="ctr"/>
          <a:lstStyle/>
          <a:p>
            <a:pPr marL="0" indent="0" algn="ctr">
              <a:buNone/>
            </a:pPr>
            <a:r>
              <a:rPr lang="en-US" sz="2000" b="1" dirty="0">
                <a:solidFill>
                  <a:srgbClr val="FFFFFF"/>
                </a:solidFill>
                <a:latin typeface="Times New Roman" panose="02020603050405020304" charset="0"/>
                <a:ea typeface="Century Schoolbook" panose="02040604050505020304" pitchFamily="34" charset="-122"/>
                <a:cs typeface="Times New Roman" panose="02020603050405020304" charset="0"/>
              </a:rPr>
              <a:t> Multi-Sensor Analysis</a:t>
            </a:r>
            <a:endParaRPr lang="en-US" sz="2000" dirty="0">
              <a:latin typeface="Times New Roman" panose="02020603050405020304" charset="0"/>
              <a:cs typeface="Times New Roman" panose="02020603050405020304" charset="0"/>
            </a:endParaRPr>
          </a:p>
        </p:txBody>
      </p:sp>
      <p:sp>
        <p:nvSpPr>
          <p:cNvPr id="14" name="Text 12"/>
          <p:cNvSpPr/>
          <p:nvPr/>
        </p:nvSpPr>
        <p:spPr>
          <a:xfrm>
            <a:off x="3528060" y="4324985"/>
            <a:ext cx="2258060" cy="1574165"/>
          </a:xfrm>
          <a:prstGeom prst="rect">
            <a:avLst/>
          </a:prstGeom>
          <a:noFill/>
        </p:spPr>
        <p:txBody>
          <a:bodyPr wrap="square" rtlCol="0" anchor="ctr"/>
          <a:lstStyle/>
          <a:p>
            <a:pPr marL="0" indent="0" algn="l">
              <a:lnSpc>
                <a:spcPts val="1600"/>
              </a:lnSpc>
              <a:buNone/>
            </a:pPr>
            <a:r>
              <a:rPr lang="en-US" altLang="en-US" dirty="0">
                <a:solidFill>
                  <a:srgbClr val="C7CBF5"/>
                </a:solidFill>
                <a:latin typeface="Times New Roman" panose="02020603050405020304" charset="0"/>
                <a:ea typeface="Calibri" panose="020F0502020204030204" pitchFamily="34" charset="-122"/>
                <a:cs typeface="Times New Roman" panose="02020603050405020304" charset="0"/>
              </a:rPr>
              <a:t>The system analyzes machine type, air temperature, process temperature, rotational speed, torque, and tool wear to identify failure patterns.</a:t>
            </a:r>
            <a:endParaRPr lang="en-US" altLang="en-US" dirty="0">
              <a:solidFill>
                <a:srgbClr val="C7CBF5"/>
              </a:solidFill>
              <a:latin typeface="Times New Roman" panose="02020603050405020304" charset="0"/>
              <a:ea typeface="Calibri" panose="020F0502020204030204" pitchFamily="34" charset="-122"/>
              <a:cs typeface="Times New Roman" panose="02020603050405020304" charset="0"/>
            </a:endParaRPr>
          </a:p>
        </p:txBody>
      </p:sp>
      <p:sp>
        <p:nvSpPr>
          <p:cNvPr id="15" name="Shape 13"/>
          <p:cNvSpPr/>
          <p:nvPr/>
        </p:nvSpPr>
        <p:spPr>
          <a:xfrm>
            <a:off x="6050280" y="2212975"/>
            <a:ext cx="2533015" cy="3702685"/>
          </a:xfrm>
          <a:prstGeom prst="roundRect">
            <a:avLst>
              <a:gd name="adj" fmla="val 2584"/>
            </a:avLst>
          </a:prstGeom>
          <a:solidFill>
            <a:srgbClr val="FFFFFF"/>
          </a:solidFill>
          <a:effectLst>
            <a:outerShdw blurRad="101600" dist="25400" dir="5400000" algn="bl" rotWithShape="0">
              <a:srgbClr val="5B6178">
                <a:alpha val="18000"/>
              </a:srgbClr>
            </a:outerShdw>
          </a:effectLst>
        </p:spPr>
      </p:sp>
      <p:sp>
        <p:nvSpPr>
          <p:cNvPr id="16" name="Shape 14"/>
          <p:cNvSpPr/>
          <p:nvPr/>
        </p:nvSpPr>
        <p:spPr>
          <a:xfrm>
            <a:off x="6800977" y="2496185"/>
            <a:ext cx="777240" cy="777240"/>
          </a:xfrm>
          <a:prstGeom prst="ellipse">
            <a:avLst/>
          </a:prstGeom>
          <a:solidFill>
            <a:srgbClr val="4B4FE0"/>
          </a:solidFill>
        </p:spPr>
      </p:sp>
      <p:sp>
        <p:nvSpPr>
          <p:cNvPr id="17" name="Text 15"/>
          <p:cNvSpPr/>
          <p:nvPr/>
        </p:nvSpPr>
        <p:spPr>
          <a:xfrm>
            <a:off x="6800977" y="2529840"/>
            <a:ext cx="777240" cy="777240"/>
          </a:xfrm>
          <a:prstGeom prst="rect">
            <a:avLst/>
          </a:prstGeom>
          <a:noFill/>
        </p:spPr>
        <p:txBody>
          <a:bodyPr wrap="square" rtlCol="0" anchor="ctr"/>
          <a:lstStyle/>
          <a:p>
            <a:pPr marL="0" indent="0" algn="ctr">
              <a:buNone/>
            </a:pPr>
            <a:r>
              <a:rPr lang="en-US" sz="1900" b="1" dirty="0">
                <a:solidFill>
                  <a:srgbClr val="FFFFFF"/>
                </a:solidFill>
                <a:latin typeface="Calibri" panose="020F0502020204030204" pitchFamily="34" charset="0"/>
                <a:ea typeface="Calibri" panose="020F0502020204030204" pitchFamily="34" charset="-122"/>
                <a:cs typeface="Calibri" panose="020F0502020204030204" pitchFamily="34" charset="-120"/>
              </a:rPr>
              <a:t>RH</a:t>
            </a:r>
            <a:endParaRPr lang="en-US" sz="1900" dirty="0"/>
          </a:p>
        </p:txBody>
      </p:sp>
      <p:sp>
        <p:nvSpPr>
          <p:cNvPr id="18" name="Text 16"/>
          <p:cNvSpPr/>
          <p:nvPr/>
        </p:nvSpPr>
        <p:spPr>
          <a:xfrm>
            <a:off x="6049645" y="3503930"/>
            <a:ext cx="2534920" cy="685800"/>
          </a:xfrm>
          <a:prstGeom prst="rect">
            <a:avLst/>
          </a:prstGeom>
          <a:noFill/>
        </p:spPr>
        <p:txBody>
          <a:bodyPr wrap="square" rtlCol="0" anchor="ctr"/>
          <a:lstStyle/>
          <a:p>
            <a:pPr marL="0" indent="0" algn="ctr">
              <a:buNone/>
            </a:pPr>
            <a:r>
              <a:rPr lang="en-US" sz="2000" b="1" dirty="0">
                <a:solidFill>
                  <a:srgbClr val="1C2140"/>
                </a:solidFill>
                <a:latin typeface="Times New Roman" panose="02020603050405020304" charset="0"/>
                <a:ea typeface="Century Schoolbook" panose="02040604050505020304" pitchFamily="34" charset="-122"/>
                <a:cs typeface="Times New Roman" panose="02020603050405020304" charset="0"/>
              </a:rPr>
              <a:t>R</a:t>
            </a:r>
            <a:r>
              <a:rPr lang="en-US" altLang="en-US" sz="2000" b="1" dirty="0">
                <a:solidFill>
                  <a:srgbClr val="1C2140"/>
                </a:solidFill>
                <a:latin typeface="Times New Roman" panose="02020603050405020304" charset="0"/>
                <a:ea typeface="Century Schoolbook" panose="02040604050505020304" pitchFamily="34" charset="-122"/>
                <a:cs typeface="Times New Roman" panose="02020603050405020304" charset="0"/>
              </a:rPr>
              <a:t>isk &amp; Health Assessment</a:t>
            </a:r>
            <a:endParaRPr lang="en-US" altLang="en-US" sz="2000" b="1" dirty="0">
              <a:solidFill>
                <a:srgbClr val="1C2140"/>
              </a:solidFill>
              <a:latin typeface="Times New Roman" panose="02020603050405020304" charset="0"/>
              <a:ea typeface="Century Schoolbook" panose="02040604050505020304" pitchFamily="34" charset="-122"/>
              <a:cs typeface="Times New Roman" panose="02020603050405020304" charset="0"/>
            </a:endParaRPr>
          </a:p>
        </p:txBody>
      </p:sp>
      <p:sp>
        <p:nvSpPr>
          <p:cNvPr id="19" name="Text 17"/>
          <p:cNvSpPr/>
          <p:nvPr/>
        </p:nvSpPr>
        <p:spPr>
          <a:xfrm>
            <a:off x="6242685" y="4160520"/>
            <a:ext cx="2197735" cy="1917065"/>
          </a:xfrm>
          <a:prstGeom prst="rect">
            <a:avLst/>
          </a:prstGeom>
          <a:noFill/>
        </p:spPr>
        <p:txBody>
          <a:bodyPr wrap="square" rtlCol="0" anchor="ctr"/>
          <a:lstStyle/>
          <a:p>
            <a:pPr marL="0" indent="0" algn="l">
              <a:lnSpc>
                <a:spcPts val="1600"/>
              </a:lnSpc>
              <a:buNone/>
            </a:pPr>
            <a:r>
              <a:rPr lang="en-US" altLang="en-US" dirty="0">
                <a:solidFill>
                  <a:srgbClr val="5B6178"/>
                </a:solidFill>
                <a:latin typeface="Times New Roman" panose="02020603050405020304" charset="0"/>
                <a:ea typeface="Calibri" panose="020F0502020204030204" pitchFamily="34" charset="-122"/>
                <a:cs typeface="Times New Roman" panose="02020603050405020304" charset="0"/>
              </a:rPr>
              <a:t>The prediction is converted into a failure probability and machine health score, allowing the machine condition to be classified as low, medium, or high risk.</a:t>
            </a:r>
            <a:endParaRPr lang="en-US" altLang="en-US" dirty="0">
              <a:solidFill>
                <a:srgbClr val="5B6178"/>
              </a:solidFill>
              <a:latin typeface="Times New Roman" panose="02020603050405020304" charset="0"/>
              <a:ea typeface="Calibri" panose="020F0502020204030204" pitchFamily="34" charset="-122"/>
              <a:cs typeface="Times New Roman" panose="02020603050405020304" charset="0"/>
            </a:endParaRPr>
          </a:p>
        </p:txBody>
      </p:sp>
      <p:sp>
        <p:nvSpPr>
          <p:cNvPr id="21" name="Shape 8"/>
          <p:cNvSpPr/>
          <p:nvPr/>
        </p:nvSpPr>
        <p:spPr>
          <a:xfrm>
            <a:off x="8748395" y="2201545"/>
            <a:ext cx="2716530" cy="3729355"/>
          </a:xfrm>
          <a:prstGeom prst="roundRect">
            <a:avLst>
              <a:gd name="adj" fmla="val 2584"/>
            </a:avLst>
          </a:prstGeom>
          <a:solidFill>
            <a:srgbClr val="161B45"/>
          </a:solidFill>
          <a:effectLst>
            <a:outerShdw blurRad="101600" dist="25400" dir="5400000" algn="bl" rotWithShape="0">
              <a:srgbClr val="5B6178">
                <a:alpha val="18000"/>
              </a:srgbClr>
            </a:outerShdw>
          </a:effectLst>
        </p:spPr>
      </p:sp>
      <p:sp>
        <p:nvSpPr>
          <p:cNvPr id="22" name="Shape 9"/>
          <p:cNvSpPr/>
          <p:nvPr/>
        </p:nvSpPr>
        <p:spPr>
          <a:xfrm>
            <a:off x="9722993" y="2529840"/>
            <a:ext cx="777240" cy="777240"/>
          </a:xfrm>
          <a:prstGeom prst="ellipse">
            <a:avLst/>
          </a:prstGeom>
          <a:solidFill>
            <a:srgbClr val="34D1BF"/>
          </a:solidFill>
        </p:spPr>
        <p:txBody>
          <a:bodyPr/>
          <a:p>
            <a:endParaRPr lang="en-US"/>
          </a:p>
        </p:txBody>
      </p:sp>
      <p:sp>
        <p:nvSpPr>
          <p:cNvPr id="23" name="Text Box 22"/>
          <p:cNvSpPr txBox="1"/>
          <p:nvPr/>
        </p:nvSpPr>
        <p:spPr>
          <a:xfrm>
            <a:off x="8846820" y="3504565"/>
            <a:ext cx="2618105" cy="600710"/>
          </a:xfrm>
          <a:prstGeom prst="rect">
            <a:avLst/>
          </a:prstGeom>
          <a:noFill/>
        </p:spPr>
        <p:txBody>
          <a:bodyPr wrap="square" rtlCol="0">
            <a:noAutofit/>
          </a:bodyPr>
          <a:p>
            <a:pPr marL="0" indent="0" algn="ctr">
              <a:buNone/>
            </a:pPr>
            <a:r>
              <a:rPr lang="en-US" altLang="en-US" sz="2000" b="1" dirty="0">
                <a:solidFill>
                  <a:srgbClr val="FFFFFF"/>
                </a:solidFill>
                <a:latin typeface="Times New Roman" panose="02020603050405020304" charset="0"/>
                <a:ea typeface="Century Schoolbook" panose="02040604050505020304" pitchFamily="34" charset="-122"/>
                <a:cs typeface="Times New Roman" panose="02020603050405020304" charset="0"/>
                <a:sym typeface="+mn-ea"/>
              </a:rPr>
              <a:t>Maintenance Recommendation</a:t>
            </a:r>
            <a:endParaRPr lang="en-US" altLang="en-US" sz="2000" b="1" dirty="0">
              <a:solidFill>
                <a:srgbClr val="FFFFFF"/>
              </a:solidFill>
              <a:latin typeface="Times New Roman" panose="02020603050405020304" charset="0"/>
              <a:ea typeface="Century Schoolbook" panose="02040604050505020304" pitchFamily="34" charset="-122"/>
              <a:cs typeface="Times New Roman" panose="02020603050405020304" charset="0"/>
              <a:sym typeface="+mn-ea"/>
            </a:endParaRPr>
          </a:p>
        </p:txBody>
      </p:sp>
      <p:sp>
        <p:nvSpPr>
          <p:cNvPr id="24" name="Text Box 23"/>
          <p:cNvSpPr txBox="1"/>
          <p:nvPr/>
        </p:nvSpPr>
        <p:spPr>
          <a:xfrm>
            <a:off x="8989695" y="4217670"/>
            <a:ext cx="2265045" cy="1908175"/>
          </a:xfrm>
          <a:prstGeom prst="rect">
            <a:avLst/>
          </a:prstGeom>
          <a:noFill/>
        </p:spPr>
        <p:txBody>
          <a:bodyPr wrap="square" rtlCol="0">
            <a:noAutofit/>
          </a:bodyPr>
          <a:p>
            <a:pPr marL="0" indent="0" algn="l">
              <a:lnSpc>
                <a:spcPts val="1600"/>
              </a:lnSpc>
              <a:buNone/>
            </a:pPr>
            <a:r>
              <a:rPr lang="en-US" altLang="en-US" dirty="0">
                <a:solidFill>
                  <a:srgbClr val="C7CBF5"/>
                </a:solidFill>
                <a:latin typeface="Times New Roman" panose="02020603050405020304" charset="0"/>
                <a:ea typeface="Calibri" panose="020F0502020204030204" pitchFamily="34" charset="-122"/>
                <a:cs typeface="Times New Roman" panose="02020603050405020304" charset="0"/>
                <a:sym typeface="+mn-ea"/>
              </a:rPr>
              <a:t>Based on the predicted risk level, the system provides maintenance recommendations to help operators take appropriate preventive action.</a:t>
            </a:r>
            <a:endParaRPr lang="en-US" altLang="en-US" dirty="0">
              <a:solidFill>
                <a:srgbClr val="C7CBF5"/>
              </a:solidFill>
              <a:latin typeface="Times New Roman" panose="02020603050405020304" charset="0"/>
              <a:ea typeface="Calibri" panose="020F0502020204030204" pitchFamily="34" charset="-122"/>
              <a:cs typeface="Times New Roman" panose="02020603050405020304" charset="0"/>
              <a:sym typeface="+mn-ea"/>
            </a:endParaRPr>
          </a:p>
        </p:txBody>
      </p:sp>
      <p:sp>
        <p:nvSpPr>
          <p:cNvPr id="25" name="Text Box 24"/>
          <p:cNvSpPr txBox="1"/>
          <p:nvPr/>
        </p:nvSpPr>
        <p:spPr>
          <a:xfrm>
            <a:off x="9859645" y="2724785"/>
            <a:ext cx="525780" cy="368300"/>
          </a:xfrm>
          <a:prstGeom prst="rect">
            <a:avLst/>
          </a:prstGeom>
          <a:noFill/>
        </p:spPr>
        <p:txBody>
          <a:bodyPr wrap="square" rtlCol="0">
            <a:spAutoFit/>
          </a:bodyPr>
          <a:p>
            <a:pPr marL="0" indent="0" algn="ctr">
              <a:buNone/>
            </a:pPr>
            <a:r>
              <a:rPr lang="en-US" b="1" dirty="0">
                <a:solidFill>
                  <a:srgbClr val="161B45"/>
                </a:solidFill>
                <a:latin typeface="Calibri" panose="020F0502020204030204" pitchFamily="34" charset="0"/>
                <a:ea typeface="Calibri" panose="020F0502020204030204" pitchFamily="34" charset="-122"/>
                <a:cs typeface="Calibri" panose="020F0502020204030204" pitchFamily="34" charset="-120"/>
                <a:sym typeface="+mn-ea"/>
              </a:rPr>
              <a:t>MR</a:t>
            </a:r>
            <a:endParaRPr lang="en-US"/>
          </a:p>
        </p:txBody>
      </p:sp>
      <p:sp>
        <p:nvSpPr>
          <p:cNvPr id="26" name="Text Box 25"/>
          <p:cNvSpPr txBox="1"/>
          <p:nvPr/>
        </p:nvSpPr>
        <p:spPr>
          <a:xfrm>
            <a:off x="520065" y="5952490"/>
            <a:ext cx="11093450" cy="760095"/>
          </a:xfrm>
          <a:prstGeom prst="rect">
            <a:avLst/>
          </a:prstGeom>
          <a:noFill/>
        </p:spPr>
        <p:txBody>
          <a:bodyPr wrap="square" rtlCol="0">
            <a:noAutofit/>
          </a:bodyPr>
          <a:p>
            <a:r>
              <a:rPr lang="en-US" altLang="en-US">
                <a:latin typeface="Times New Roman" panose="02020603050405020304" charset="0"/>
                <a:cs typeface="Times New Roman" panose="02020603050405020304" charset="0"/>
              </a:rPr>
              <a:t>Flow: Sensor Data → Preprocessing → Random Forest → Failure Prediction → Health &amp; Risk Assessment → Maintenance Recommendation</a:t>
            </a:r>
            <a:endParaRPr lang="en-US">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384048"/>
            <a:ext cx="9144000" cy="184150"/>
          </a:xfrm>
          <a:prstGeom prst="rect">
            <a:avLst/>
          </a:prstGeom>
          <a:noFill/>
        </p:spPr>
        <p:txBody>
          <a:bodyPr wrap="square" lIns="0" tIns="0" rIns="0" bIns="0" anchor="t">
            <a:spAutoFit/>
          </a:bodyPr>
          <a:lstStyle/>
          <a:p>
            <a:pPr algn="l"/>
            <a:r>
              <a:rPr sz="1200" b="1" i="0" spc="200">
                <a:solidFill>
                  <a:srgbClr val="4B4FE0"/>
                </a:solidFill>
                <a:latin typeface="Times New Roman" panose="02020603050405020304" charset="0"/>
                <a:cs typeface="Times New Roman" panose="02020603050405020304" charset="0"/>
              </a:rPr>
              <a:t>DATASET</a:t>
            </a:r>
            <a:endParaRPr sz="1200" b="1" i="0" spc="200">
              <a:solidFill>
                <a:srgbClr val="4B4FE0"/>
              </a:solidFill>
              <a:latin typeface="Times New Roman" panose="02020603050405020304" charset="0"/>
              <a:cs typeface="Times New Roman" panose="02020603050405020304" charset="0"/>
            </a:endParaRPr>
          </a:p>
        </p:txBody>
      </p:sp>
      <p:sp>
        <p:nvSpPr>
          <p:cNvPr id="3" name="TextBox 2"/>
          <p:cNvSpPr txBox="1"/>
          <p:nvPr/>
        </p:nvSpPr>
        <p:spPr>
          <a:xfrm>
            <a:off x="530352" y="658368"/>
            <a:ext cx="11064240" cy="461645"/>
          </a:xfrm>
          <a:prstGeom prst="rect">
            <a:avLst/>
          </a:prstGeom>
          <a:noFill/>
        </p:spPr>
        <p:txBody>
          <a:bodyPr wrap="square" lIns="0" tIns="0" rIns="0" bIns="0" anchor="t">
            <a:spAutoFit/>
          </a:bodyPr>
          <a:lstStyle/>
          <a:p>
            <a:pPr algn="l">
              <a:lnSpc>
                <a:spcPct val="100000"/>
              </a:lnSpc>
            </a:pPr>
            <a:r>
              <a:rPr sz="3000" b="1" i="0">
                <a:solidFill>
                  <a:srgbClr val="1C2140"/>
                </a:solidFill>
                <a:latin typeface="Times New Roman" panose="02020603050405020304" charset="0"/>
                <a:cs typeface="Times New Roman" panose="02020603050405020304" charset="0"/>
              </a:rPr>
              <a:t>Dataset Used – AI4I 2020 Predictive Maintenance Dataset</a:t>
            </a:r>
            <a:endParaRPr sz="3000" b="1" i="0">
              <a:solidFill>
                <a:srgbClr val="1C2140"/>
              </a:solidFill>
              <a:latin typeface="Times New Roman" panose="02020603050405020304" charset="0"/>
              <a:cs typeface="Times New Roman" panose="02020603050405020304" charset="0"/>
            </a:endParaRPr>
          </a:p>
        </p:txBody>
      </p:sp>
      <p:sp>
        <p:nvSpPr>
          <p:cNvPr id="4" name="TextBox 3"/>
          <p:cNvSpPr txBox="1"/>
          <p:nvPr/>
        </p:nvSpPr>
        <p:spPr>
          <a:xfrm>
            <a:off x="548640" y="1210310"/>
            <a:ext cx="11433810" cy="839470"/>
          </a:xfrm>
          <a:prstGeom prst="rect">
            <a:avLst/>
          </a:prstGeom>
          <a:noFill/>
        </p:spPr>
        <p:txBody>
          <a:bodyPr wrap="square" lIns="0" tIns="0" rIns="0" bIns="0" anchor="t">
            <a:noAutofit/>
          </a:bodyPr>
          <a:lstStyle/>
          <a:p>
            <a:pPr algn="l">
              <a:lnSpc>
                <a:spcPct val="115000"/>
              </a:lnSpc>
            </a:pPr>
            <a:r>
              <a:rPr sz="1600" b="0" i="0">
                <a:solidFill>
                  <a:srgbClr val="5B6178"/>
                </a:solidFill>
                <a:latin typeface="Times New Roman" panose="02020603050405020304" charset="0"/>
                <a:cs typeface="Times New Roman" panose="02020603050405020304" charset="0"/>
              </a:rPr>
              <a:t>We use the AI4I 2020 Predictive Maintenance Dataset, a publicly available industrial dataset designed for predictive maintenance and machine failure detection. It contains 10,000 machine observations with realistic sensor readings, suitable for training ML models to identify failures before they occur.</a:t>
            </a:r>
            <a:endParaRPr sz="1600" b="0" i="0">
              <a:solidFill>
                <a:srgbClr val="5B6178"/>
              </a:solidFill>
              <a:latin typeface="Times New Roman" panose="02020603050405020304" charset="0"/>
              <a:cs typeface="Times New Roman" panose="02020603050405020304" charset="0"/>
            </a:endParaRPr>
          </a:p>
        </p:txBody>
      </p:sp>
      <p:sp>
        <p:nvSpPr>
          <p:cNvPr id="5" name="Rounded Rectangle 4"/>
          <p:cNvSpPr/>
          <p:nvPr/>
        </p:nvSpPr>
        <p:spPr>
          <a:xfrm>
            <a:off x="548640" y="2148840"/>
            <a:ext cx="2367280" cy="1847215"/>
          </a:xfrm>
          <a:prstGeom prst="roundRect">
            <a:avLst>
              <a:gd name="adj" fmla="val 4455"/>
            </a:avLst>
          </a:prstGeom>
          <a:solidFill>
            <a:srgbClr val="FFFFFF"/>
          </a:solidFill>
          <a:ln>
            <a:noFill/>
          </a:ln>
          <a:effectLst>
            <a:outerShdw blurRad="90000" dist="25000" dir="5400000" rotWithShape="0">
              <a:srgbClr val="5B6178">
                <a:alpha val="8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68096" y="2350008"/>
            <a:ext cx="457200" cy="457200"/>
          </a:xfrm>
          <a:prstGeom prst="ellipse">
            <a:avLst/>
          </a:prstGeom>
          <a:solidFill>
            <a:srgbClr val="4B4FE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Calibri" panose="020F0502020204030204"/>
              </a:rPr>
              <a:t>1</a:t>
            </a:r>
            <a:endParaRPr sz="1500" b="1">
              <a:solidFill>
                <a:srgbClr val="FFFFFF"/>
              </a:solidFill>
              <a:latin typeface="Calibri" panose="020F0502020204030204"/>
            </a:endParaRPr>
          </a:p>
        </p:txBody>
      </p:sp>
      <p:sp>
        <p:nvSpPr>
          <p:cNvPr id="7" name="TextBox 6"/>
          <p:cNvSpPr txBox="1"/>
          <p:nvPr/>
        </p:nvSpPr>
        <p:spPr>
          <a:xfrm>
            <a:off x="1371600" y="2423795"/>
            <a:ext cx="1506220" cy="309245"/>
          </a:xfrm>
          <a:prstGeom prst="rect">
            <a:avLst/>
          </a:prstGeom>
          <a:noFill/>
        </p:spPr>
        <p:txBody>
          <a:bodyPr wrap="square" lIns="0" tIns="0" rIns="0" bIns="0" anchor="t">
            <a:noAutofit/>
          </a:bodyPr>
          <a:lstStyle/>
          <a:p>
            <a:pPr algn="l"/>
            <a:r>
              <a:rPr sz="1600" b="1" i="0">
                <a:solidFill>
                  <a:srgbClr val="1C2140"/>
                </a:solidFill>
                <a:latin typeface="Times New Roman" panose="02020603050405020304" charset="0"/>
                <a:cs typeface="Times New Roman" panose="02020603050405020304" charset="0"/>
              </a:rPr>
              <a:t>Input Features</a:t>
            </a:r>
            <a:endParaRPr sz="1600" b="1" i="0">
              <a:solidFill>
                <a:srgbClr val="1C2140"/>
              </a:solidFill>
              <a:latin typeface="Times New Roman" panose="02020603050405020304" charset="0"/>
              <a:cs typeface="Times New Roman" panose="02020603050405020304" charset="0"/>
            </a:endParaRPr>
          </a:p>
        </p:txBody>
      </p:sp>
      <p:sp>
        <p:nvSpPr>
          <p:cNvPr id="8" name="TextBox 7"/>
          <p:cNvSpPr txBox="1"/>
          <p:nvPr/>
        </p:nvSpPr>
        <p:spPr>
          <a:xfrm>
            <a:off x="804545" y="2834640"/>
            <a:ext cx="2087245" cy="1002665"/>
          </a:xfrm>
          <a:prstGeom prst="rect">
            <a:avLst/>
          </a:prstGeom>
          <a:noFill/>
        </p:spPr>
        <p:txBody>
          <a:bodyPr wrap="square" lIns="0" tIns="0" rIns="0" bIns="0">
            <a:spAutoFit/>
          </a:bodyPr>
          <a:lstStyle/>
          <a:p>
            <a:pPr>
              <a:lnSpc>
                <a:spcPct val="102000"/>
              </a:lnSpc>
              <a:spcAft>
                <a:spcPts val="100"/>
              </a:spcAft>
            </a:pPr>
            <a:r>
              <a:rPr sz="1000">
                <a:solidFill>
                  <a:srgbClr val="5B6178"/>
                </a:solidFill>
                <a:latin typeface="Times New Roman" panose="02020603050405020304" charset="0"/>
                <a:cs typeface="Times New Roman" panose="02020603050405020304" charset="0"/>
              </a:rPr>
              <a:t>•  Air Temperature (K)</a:t>
            </a:r>
            <a:endParaRPr sz="1000">
              <a:solidFill>
                <a:srgbClr val="5B6178"/>
              </a:solidFill>
              <a:latin typeface="Times New Roman" panose="02020603050405020304" charset="0"/>
              <a:cs typeface="Times New Roman" panose="02020603050405020304" charset="0"/>
            </a:endParaRPr>
          </a:p>
          <a:p>
            <a:pPr>
              <a:lnSpc>
                <a:spcPct val="102000"/>
              </a:lnSpc>
              <a:spcAft>
                <a:spcPts val="100"/>
              </a:spcAft>
            </a:pPr>
            <a:r>
              <a:rPr sz="1000">
                <a:solidFill>
                  <a:srgbClr val="5B6178"/>
                </a:solidFill>
                <a:latin typeface="Times New Roman" panose="02020603050405020304" charset="0"/>
                <a:cs typeface="Times New Roman" panose="02020603050405020304" charset="0"/>
              </a:rPr>
              <a:t>•  Process Temperature (K)</a:t>
            </a:r>
            <a:endParaRPr sz="1000">
              <a:solidFill>
                <a:srgbClr val="5B6178"/>
              </a:solidFill>
              <a:latin typeface="Times New Roman" panose="02020603050405020304" charset="0"/>
              <a:cs typeface="Times New Roman" panose="02020603050405020304" charset="0"/>
            </a:endParaRPr>
          </a:p>
          <a:p>
            <a:pPr>
              <a:lnSpc>
                <a:spcPct val="102000"/>
              </a:lnSpc>
              <a:spcAft>
                <a:spcPts val="100"/>
              </a:spcAft>
            </a:pPr>
            <a:r>
              <a:rPr sz="1000">
                <a:solidFill>
                  <a:srgbClr val="5B6178"/>
                </a:solidFill>
                <a:latin typeface="Times New Roman" panose="02020603050405020304" charset="0"/>
                <a:cs typeface="Times New Roman" panose="02020603050405020304" charset="0"/>
              </a:rPr>
              <a:t>•  Rotational Speed (RPM)</a:t>
            </a:r>
            <a:endParaRPr sz="1000">
              <a:solidFill>
                <a:srgbClr val="5B6178"/>
              </a:solidFill>
              <a:latin typeface="Times New Roman" panose="02020603050405020304" charset="0"/>
              <a:cs typeface="Times New Roman" panose="02020603050405020304" charset="0"/>
            </a:endParaRPr>
          </a:p>
          <a:p>
            <a:pPr>
              <a:lnSpc>
                <a:spcPct val="102000"/>
              </a:lnSpc>
              <a:spcAft>
                <a:spcPts val="100"/>
              </a:spcAft>
            </a:pPr>
            <a:r>
              <a:rPr sz="1000">
                <a:solidFill>
                  <a:srgbClr val="5B6178"/>
                </a:solidFill>
                <a:latin typeface="Times New Roman" panose="02020603050405020304" charset="0"/>
                <a:cs typeface="Times New Roman" panose="02020603050405020304" charset="0"/>
              </a:rPr>
              <a:t>•  Torque (Nm)</a:t>
            </a:r>
            <a:endParaRPr sz="1000">
              <a:solidFill>
                <a:srgbClr val="5B6178"/>
              </a:solidFill>
              <a:latin typeface="Times New Roman" panose="02020603050405020304" charset="0"/>
              <a:cs typeface="Times New Roman" panose="02020603050405020304" charset="0"/>
            </a:endParaRPr>
          </a:p>
          <a:p>
            <a:pPr>
              <a:lnSpc>
                <a:spcPct val="102000"/>
              </a:lnSpc>
              <a:spcAft>
                <a:spcPts val="100"/>
              </a:spcAft>
            </a:pPr>
            <a:r>
              <a:rPr sz="1000">
                <a:solidFill>
                  <a:srgbClr val="5B6178"/>
                </a:solidFill>
                <a:latin typeface="Times New Roman" panose="02020603050405020304" charset="0"/>
                <a:cs typeface="Times New Roman" panose="02020603050405020304" charset="0"/>
              </a:rPr>
              <a:t>•  Tool Wear (Minutes)</a:t>
            </a:r>
            <a:endParaRPr sz="1000">
              <a:solidFill>
                <a:srgbClr val="5B6178"/>
              </a:solidFill>
              <a:latin typeface="Times New Roman" panose="02020603050405020304" charset="0"/>
              <a:cs typeface="Times New Roman" panose="02020603050405020304" charset="0"/>
            </a:endParaRPr>
          </a:p>
          <a:p>
            <a:pPr>
              <a:lnSpc>
                <a:spcPct val="102000"/>
              </a:lnSpc>
              <a:spcAft>
                <a:spcPts val="100"/>
              </a:spcAft>
            </a:pPr>
            <a:r>
              <a:rPr sz="1000">
                <a:solidFill>
                  <a:srgbClr val="5B6178"/>
                </a:solidFill>
                <a:latin typeface="Times New Roman" panose="02020603050405020304" charset="0"/>
                <a:cs typeface="Times New Roman" panose="02020603050405020304" charset="0"/>
              </a:rPr>
              <a:t>•  Machine Type (Low, Medium, High)</a:t>
            </a:r>
            <a:endParaRPr sz="1000">
              <a:solidFill>
                <a:srgbClr val="5B6178"/>
              </a:solidFill>
              <a:latin typeface="Times New Roman" panose="02020603050405020304" charset="0"/>
              <a:cs typeface="Times New Roman" panose="02020603050405020304" charset="0"/>
            </a:endParaRPr>
          </a:p>
        </p:txBody>
      </p:sp>
      <p:sp>
        <p:nvSpPr>
          <p:cNvPr id="9" name="Rounded Rectangle 8"/>
          <p:cNvSpPr/>
          <p:nvPr/>
        </p:nvSpPr>
        <p:spPr>
          <a:xfrm>
            <a:off x="3151505" y="2148840"/>
            <a:ext cx="2286635" cy="1847215"/>
          </a:xfrm>
          <a:prstGeom prst="roundRect">
            <a:avLst>
              <a:gd name="adj" fmla="val 4455"/>
            </a:avLst>
          </a:prstGeom>
          <a:solidFill>
            <a:srgbClr val="FFFFFF"/>
          </a:solidFill>
          <a:ln>
            <a:noFill/>
          </a:ln>
          <a:effectLst>
            <a:outerShdw blurRad="90000" dist="25000" dir="5400000" rotWithShape="0">
              <a:srgbClr val="5B6178">
                <a:alpha val="8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261106" y="2350008"/>
            <a:ext cx="457200" cy="457200"/>
          </a:xfrm>
          <a:prstGeom prst="ellipse">
            <a:avLst/>
          </a:prstGeom>
          <a:solidFill>
            <a:srgbClr val="8A6F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Calibri" panose="020F0502020204030204"/>
              </a:rPr>
              <a:t>2</a:t>
            </a:r>
            <a:endParaRPr sz="1500" b="1">
              <a:solidFill>
                <a:srgbClr val="FFFFFF"/>
              </a:solidFill>
              <a:latin typeface="Calibri" panose="020F0502020204030204"/>
            </a:endParaRPr>
          </a:p>
        </p:txBody>
      </p:sp>
      <p:sp>
        <p:nvSpPr>
          <p:cNvPr id="11" name="TextBox 10"/>
          <p:cNvSpPr txBox="1"/>
          <p:nvPr/>
        </p:nvSpPr>
        <p:spPr>
          <a:xfrm>
            <a:off x="3779520" y="2423795"/>
            <a:ext cx="1683385" cy="309880"/>
          </a:xfrm>
          <a:prstGeom prst="rect">
            <a:avLst/>
          </a:prstGeom>
          <a:noFill/>
        </p:spPr>
        <p:txBody>
          <a:bodyPr wrap="square" lIns="0" tIns="0" rIns="0" bIns="0" anchor="t">
            <a:noAutofit/>
          </a:bodyPr>
          <a:lstStyle/>
          <a:p>
            <a:pPr algn="l"/>
            <a:r>
              <a:rPr sz="1600" b="1" i="0">
                <a:solidFill>
                  <a:srgbClr val="1C2140"/>
                </a:solidFill>
                <a:latin typeface="Times New Roman" panose="02020603050405020304" charset="0"/>
                <a:cs typeface="Times New Roman" panose="02020603050405020304" charset="0"/>
              </a:rPr>
              <a:t>Target Variable</a:t>
            </a:r>
            <a:endParaRPr sz="1600" b="1" i="0">
              <a:solidFill>
                <a:srgbClr val="1C2140"/>
              </a:solidFill>
              <a:latin typeface="Times New Roman" panose="02020603050405020304" charset="0"/>
              <a:cs typeface="Times New Roman" panose="02020603050405020304" charset="0"/>
            </a:endParaRPr>
          </a:p>
        </p:txBody>
      </p:sp>
      <p:sp>
        <p:nvSpPr>
          <p:cNvPr id="12" name="TextBox 11"/>
          <p:cNvSpPr txBox="1"/>
          <p:nvPr/>
        </p:nvSpPr>
        <p:spPr>
          <a:xfrm>
            <a:off x="3447415" y="2833370"/>
            <a:ext cx="1689100" cy="523875"/>
          </a:xfrm>
          <a:prstGeom prst="rect">
            <a:avLst/>
          </a:prstGeom>
          <a:noFill/>
        </p:spPr>
        <p:txBody>
          <a:bodyPr wrap="square" lIns="0" tIns="0" rIns="0" bIns="0">
            <a:noAutofit/>
          </a:bodyPr>
          <a:lstStyle/>
          <a:p>
            <a:pPr>
              <a:lnSpc>
                <a:spcPct val="102000"/>
              </a:lnSpc>
              <a:spcAft>
                <a:spcPts val="100"/>
              </a:spcAft>
            </a:pPr>
            <a:r>
              <a:rPr sz="1000">
                <a:solidFill>
                  <a:srgbClr val="5B6178"/>
                </a:solidFill>
                <a:latin typeface="Times New Roman" panose="02020603050405020304" charset="0"/>
                <a:cs typeface="Times New Roman" panose="02020603050405020304" charset="0"/>
              </a:rPr>
              <a:t>•  Machine Failure </a:t>
            </a:r>
            <a:endParaRPr sz="1000">
              <a:solidFill>
                <a:srgbClr val="5B6178"/>
              </a:solidFill>
              <a:latin typeface="Times New Roman" panose="02020603050405020304" charset="0"/>
              <a:cs typeface="Times New Roman" panose="02020603050405020304" charset="0"/>
            </a:endParaRPr>
          </a:p>
          <a:p>
            <a:pPr>
              <a:lnSpc>
                <a:spcPct val="102000"/>
              </a:lnSpc>
              <a:spcAft>
                <a:spcPts val="100"/>
              </a:spcAft>
            </a:pPr>
            <a:r>
              <a:rPr sz="1000">
                <a:solidFill>
                  <a:srgbClr val="5B6178"/>
                </a:solidFill>
                <a:latin typeface="Times New Roman" panose="02020603050405020304" charset="0"/>
                <a:cs typeface="Times New Roman" panose="02020603050405020304" charset="0"/>
              </a:rPr>
              <a:t> </a:t>
            </a:r>
            <a:r>
              <a:rPr lang="en-US" sz="1000">
                <a:solidFill>
                  <a:srgbClr val="5B6178"/>
                </a:solidFill>
                <a:latin typeface="Times New Roman" panose="02020603050405020304" charset="0"/>
                <a:cs typeface="Times New Roman" panose="02020603050405020304" charset="0"/>
              </a:rPr>
              <a:t>  0 = No Failure</a:t>
            </a:r>
            <a:endParaRPr lang="en-US" sz="1000">
              <a:solidFill>
                <a:srgbClr val="5B6178"/>
              </a:solidFill>
              <a:latin typeface="Times New Roman" panose="02020603050405020304" charset="0"/>
              <a:cs typeface="Times New Roman" panose="02020603050405020304" charset="0"/>
            </a:endParaRPr>
          </a:p>
          <a:p>
            <a:pPr>
              <a:lnSpc>
                <a:spcPct val="102000"/>
              </a:lnSpc>
              <a:spcAft>
                <a:spcPts val="100"/>
              </a:spcAft>
            </a:pPr>
            <a:r>
              <a:rPr lang="en-US" sz="1000">
                <a:solidFill>
                  <a:srgbClr val="5B6178"/>
                </a:solidFill>
                <a:latin typeface="Times New Roman" panose="02020603050405020304" charset="0"/>
                <a:cs typeface="Times New Roman" panose="02020603050405020304" charset="0"/>
              </a:rPr>
              <a:t>   1 = Failure</a:t>
            </a:r>
            <a:endParaRPr lang="en-US" sz="1000">
              <a:solidFill>
                <a:srgbClr val="5B6178"/>
              </a:solidFill>
              <a:latin typeface="Times New Roman" panose="02020603050405020304" charset="0"/>
              <a:cs typeface="Times New Roman" panose="02020603050405020304" charset="0"/>
            </a:endParaRPr>
          </a:p>
        </p:txBody>
      </p:sp>
      <p:sp>
        <p:nvSpPr>
          <p:cNvPr id="13" name="Rounded Rectangle 12"/>
          <p:cNvSpPr/>
          <p:nvPr/>
        </p:nvSpPr>
        <p:spPr>
          <a:xfrm>
            <a:off x="548640" y="4142105"/>
            <a:ext cx="2343150" cy="1847215"/>
          </a:xfrm>
          <a:prstGeom prst="roundRect">
            <a:avLst>
              <a:gd name="adj" fmla="val 4455"/>
            </a:avLst>
          </a:prstGeom>
          <a:solidFill>
            <a:srgbClr val="FFFFFF"/>
          </a:solidFill>
          <a:ln>
            <a:noFill/>
          </a:ln>
          <a:effectLst>
            <a:outerShdw blurRad="90000" dist="25000" dir="5400000" rotWithShape="0">
              <a:srgbClr val="5B6178">
                <a:alpha val="8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68096" y="4343400"/>
            <a:ext cx="457200" cy="457200"/>
          </a:xfrm>
          <a:prstGeom prst="ellipse">
            <a:avLst/>
          </a:prstGeom>
          <a:solidFill>
            <a:srgbClr val="5C63E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Calibri" panose="020F0502020204030204"/>
              </a:rPr>
              <a:t>3</a:t>
            </a:r>
            <a:endParaRPr sz="1500" b="1">
              <a:solidFill>
                <a:srgbClr val="FFFFFF"/>
              </a:solidFill>
              <a:latin typeface="Calibri" panose="020F0502020204030204"/>
            </a:endParaRPr>
          </a:p>
        </p:txBody>
      </p:sp>
      <p:sp>
        <p:nvSpPr>
          <p:cNvPr id="15" name="TextBox 14"/>
          <p:cNvSpPr txBox="1"/>
          <p:nvPr/>
        </p:nvSpPr>
        <p:spPr>
          <a:xfrm>
            <a:off x="1357630" y="4429760"/>
            <a:ext cx="1355725" cy="370840"/>
          </a:xfrm>
          <a:prstGeom prst="rect">
            <a:avLst/>
          </a:prstGeom>
          <a:noFill/>
        </p:spPr>
        <p:txBody>
          <a:bodyPr wrap="square" lIns="0" tIns="0" rIns="0" bIns="0" anchor="t">
            <a:noAutofit/>
          </a:bodyPr>
          <a:lstStyle/>
          <a:p>
            <a:pPr algn="l"/>
            <a:r>
              <a:rPr sz="1600" b="1" i="0">
                <a:solidFill>
                  <a:srgbClr val="1C2140"/>
                </a:solidFill>
                <a:latin typeface="Times New Roman" panose="02020603050405020304" charset="0"/>
                <a:cs typeface="Times New Roman" panose="02020603050405020304" charset="0"/>
              </a:rPr>
              <a:t>Failure Types</a:t>
            </a:r>
            <a:endParaRPr sz="1600" b="1" i="0">
              <a:solidFill>
                <a:srgbClr val="1C2140"/>
              </a:solidFill>
              <a:latin typeface="Times New Roman" panose="02020603050405020304" charset="0"/>
              <a:cs typeface="Times New Roman" panose="02020603050405020304" charset="0"/>
            </a:endParaRPr>
          </a:p>
        </p:txBody>
      </p:sp>
      <p:sp>
        <p:nvSpPr>
          <p:cNvPr id="16" name="TextBox 15"/>
          <p:cNvSpPr txBox="1"/>
          <p:nvPr/>
        </p:nvSpPr>
        <p:spPr>
          <a:xfrm>
            <a:off x="804545" y="4827905"/>
            <a:ext cx="1750060" cy="802640"/>
          </a:xfrm>
          <a:prstGeom prst="rect">
            <a:avLst/>
          </a:prstGeom>
          <a:noFill/>
        </p:spPr>
        <p:txBody>
          <a:bodyPr wrap="square" lIns="0" tIns="0" rIns="0" bIns="0">
            <a:noAutofit/>
          </a:bodyPr>
          <a:lstStyle/>
          <a:p>
            <a:pPr>
              <a:lnSpc>
                <a:spcPct val="102000"/>
              </a:lnSpc>
              <a:spcAft>
                <a:spcPts val="100"/>
              </a:spcAft>
            </a:pPr>
            <a:r>
              <a:rPr sz="1000">
                <a:solidFill>
                  <a:srgbClr val="5B6178"/>
                </a:solidFill>
                <a:latin typeface="Times New Roman" panose="02020603050405020304" charset="0"/>
                <a:cs typeface="Times New Roman" panose="02020603050405020304" charset="0"/>
              </a:rPr>
              <a:t>•  Tool Wear Failure (TWF)</a:t>
            </a:r>
            <a:endParaRPr sz="1000">
              <a:solidFill>
                <a:srgbClr val="5B6178"/>
              </a:solidFill>
              <a:latin typeface="Times New Roman" panose="02020603050405020304" charset="0"/>
              <a:cs typeface="Times New Roman" panose="02020603050405020304" charset="0"/>
            </a:endParaRPr>
          </a:p>
          <a:p>
            <a:pPr>
              <a:lnSpc>
                <a:spcPct val="102000"/>
              </a:lnSpc>
              <a:spcAft>
                <a:spcPts val="100"/>
              </a:spcAft>
            </a:pPr>
            <a:r>
              <a:rPr sz="1000">
                <a:solidFill>
                  <a:srgbClr val="5B6178"/>
                </a:solidFill>
                <a:latin typeface="Times New Roman" panose="02020603050405020304" charset="0"/>
                <a:cs typeface="Times New Roman" panose="02020603050405020304" charset="0"/>
              </a:rPr>
              <a:t>•  Heat Dissipation Failure (HDF)</a:t>
            </a:r>
            <a:endParaRPr sz="1000">
              <a:solidFill>
                <a:srgbClr val="5B6178"/>
              </a:solidFill>
              <a:latin typeface="Times New Roman" panose="02020603050405020304" charset="0"/>
              <a:cs typeface="Times New Roman" panose="02020603050405020304" charset="0"/>
            </a:endParaRPr>
          </a:p>
          <a:p>
            <a:pPr>
              <a:lnSpc>
                <a:spcPct val="102000"/>
              </a:lnSpc>
              <a:spcAft>
                <a:spcPts val="100"/>
              </a:spcAft>
            </a:pPr>
            <a:r>
              <a:rPr sz="1000">
                <a:solidFill>
                  <a:srgbClr val="5B6178"/>
                </a:solidFill>
                <a:latin typeface="Times New Roman" panose="02020603050405020304" charset="0"/>
                <a:cs typeface="Times New Roman" panose="02020603050405020304" charset="0"/>
              </a:rPr>
              <a:t>•  Power Failure (PWF)</a:t>
            </a:r>
            <a:endParaRPr sz="1000">
              <a:solidFill>
                <a:srgbClr val="5B6178"/>
              </a:solidFill>
              <a:latin typeface="Times New Roman" panose="02020603050405020304" charset="0"/>
              <a:cs typeface="Times New Roman" panose="02020603050405020304" charset="0"/>
            </a:endParaRPr>
          </a:p>
          <a:p>
            <a:pPr>
              <a:lnSpc>
                <a:spcPct val="102000"/>
              </a:lnSpc>
              <a:spcAft>
                <a:spcPts val="100"/>
              </a:spcAft>
            </a:pPr>
            <a:r>
              <a:rPr sz="1000">
                <a:solidFill>
                  <a:srgbClr val="5B6178"/>
                </a:solidFill>
                <a:latin typeface="Times New Roman" panose="02020603050405020304" charset="0"/>
                <a:cs typeface="Times New Roman" panose="02020603050405020304" charset="0"/>
              </a:rPr>
              <a:t>•  Overstrain Failure (OSF)</a:t>
            </a:r>
            <a:endParaRPr sz="1000">
              <a:solidFill>
                <a:srgbClr val="5B6178"/>
              </a:solidFill>
              <a:latin typeface="Times New Roman" panose="02020603050405020304" charset="0"/>
              <a:cs typeface="Times New Roman" panose="02020603050405020304" charset="0"/>
            </a:endParaRPr>
          </a:p>
          <a:p>
            <a:pPr>
              <a:lnSpc>
                <a:spcPct val="102000"/>
              </a:lnSpc>
              <a:spcAft>
                <a:spcPts val="100"/>
              </a:spcAft>
            </a:pPr>
            <a:r>
              <a:rPr sz="1000">
                <a:solidFill>
                  <a:srgbClr val="5B6178"/>
                </a:solidFill>
                <a:latin typeface="Times New Roman" panose="02020603050405020304" charset="0"/>
                <a:cs typeface="Times New Roman" panose="02020603050405020304" charset="0"/>
              </a:rPr>
              <a:t>•  Random Failure (RNF)</a:t>
            </a:r>
            <a:endParaRPr sz="1000">
              <a:solidFill>
                <a:srgbClr val="5B6178"/>
              </a:solidFill>
              <a:latin typeface="Times New Roman" panose="02020603050405020304" charset="0"/>
              <a:cs typeface="Times New Roman" panose="02020603050405020304" charset="0"/>
            </a:endParaRPr>
          </a:p>
        </p:txBody>
      </p:sp>
      <p:sp>
        <p:nvSpPr>
          <p:cNvPr id="17" name="Rounded Rectangle 16"/>
          <p:cNvSpPr/>
          <p:nvPr/>
        </p:nvSpPr>
        <p:spPr>
          <a:xfrm>
            <a:off x="3162300" y="4142105"/>
            <a:ext cx="2275840" cy="1847215"/>
          </a:xfrm>
          <a:prstGeom prst="roundRect">
            <a:avLst>
              <a:gd name="adj" fmla="val 4455"/>
            </a:avLst>
          </a:prstGeom>
          <a:solidFill>
            <a:srgbClr val="FFFFFF"/>
          </a:solidFill>
          <a:ln>
            <a:noFill/>
          </a:ln>
          <a:effectLst>
            <a:outerShdw blurRad="90000" dist="25000" dir="5400000" rotWithShape="0">
              <a:srgbClr val="5B6178">
                <a:alpha val="8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264916" y="4384040"/>
            <a:ext cx="457200" cy="457200"/>
          </a:xfrm>
          <a:prstGeom prst="ellipse">
            <a:avLst/>
          </a:prstGeom>
          <a:solidFill>
            <a:srgbClr val="3A3F9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Calibri" panose="020F0502020204030204"/>
              </a:rPr>
              <a:t>4</a:t>
            </a:r>
            <a:endParaRPr sz="1500" b="1">
              <a:solidFill>
                <a:srgbClr val="FFFFFF"/>
              </a:solidFill>
              <a:latin typeface="Calibri" panose="020F0502020204030204"/>
            </a:endParaRPr>
          </a:p>
        </p:txBody>
      </p:sp>
      <p:sp>
        <p:nvSpPr>
          <p:cNvPr id="19" name="TextBox 18"/>
          <p:cNvSpPr txBox="1"/>
          <p:nvPr/>
        </p:nvSpPr>
        <p:spPr>
          <a:xfrm>
            <a:off x="3779520" y="4384040"/>
            <a:ext cx="1555750" cy="428625"/>
          </a:xfrm>
          <a:prstGeom prst="rect">
            <a:avLst/>
          </a:prstGeom>
          <a:noFill/>
        </p:spPr>
        <p:txBody>
          <a:bodyPr wrap="square" lIns="0" tIns="0" rIns="0" bIns="0" anchor="t">
            <a:noAutofit/>
          </a:bodyPr>
          <a:lstStyle/>
          <a:p>
            <a:pPr algn="l"/>
            <a:r>
              <a:rPr sz="1600" b="1" i="0">
                <a:solidFill>
                  <a:srgbClr val="1C2140"/>
                </a:solidFill>
                <a:latin typeface="Times New Roman" panose="02020603050405020304" charset="0"/>
                <a:cs typeface="Times New Roman" panose="02020603050405020304" charset="0"/>
              </a:rPr>
              <a:t>Why We Chose </a:t>
            </a:r>
            <a:endParaRPr sz="1600" b="1" i="0">
              <a:solidFill>
                <a:srgbClr val="1C2140"/>
              </a:solidFill>
              <a:latin typeface="Times New Roman" panose="02020603050405020304" charset="0"/>
              <a:cs typeface="Times New Roman" panose="02020603050405020304" charset="0"/>
            </a:endParaRPr>
          </a:p>
          <a:p>
            <a:pPr algn="l"/>
            <a:r>
              <a:rPr sz="1600" b="1" i="0">
                <a:solidFill>
                  <a:srgbClr val="1C2140"/>
                </a:solidFill>
                <a:latin typeface="Times New Roman" panose="02020603050405020304" charset="0"/>
                <a:cs typeface="Times New Roman" panose="02020603050405020304" charset="0"/>
              </a:rPr>
              <a:t>This Dataset</a:t>
            </a:r>
            <a:endParaRPr sz="1600" b="1" i="0">
              <a:solidFill>
                <a:srgbClr val="1C2140"/>
              </a:solidFill>
              <a:latin typeface="Times New Roman" panose="02020603050405020304" charset="0"/>
              <a:cs typeface="Times New Roman" panose="02020603050405020304" charset="0"/>
            </a:endParaRPr>
          </a:p>
        </p:txBody>
      </p:sp>
      <p:sp>
        <p:nvSpPr>
          <p:cNvPr id="20" name="TextBox 19"/>
          <p:cNvSpPr txBox="1"/>
          <p:nvPr/>
        </p:nvSpPr>
        <p:spPr>
          <a:xfrm>
            <a:off x="3252470" y="4878070"/>
            <a:ext cx="2276475" cy="1111885"/>
          </a:xfrm>
          <a:prstGeom prst="rect">
            <a:avLst/>
          </a:prstGeom>
          <a:noFill/>
        </p:spPr>
        <p:txBody>
          <a:bodyPr wrap="square" lIns="0" tIns="0" rIns="0" bIns="0">
            <a:noAutofit/>
          </a:bodyPr>
          <a:lstStyle/>
          <a:p>
            <a:pPr>
              <a:lnSpc>
                <a:spcPct val="102000"/>
              </a:lnSpc>
              <a:spcAft>
                <a:spcPts val="100"/>
              </a:spcAft>
            </a:pPr>
            <a:r>
              <a:rPr sz="1000">
                <a:solidFill>
                  <a:srgbClr val="5B6178"/>
                </a:solidFill>
                <a:latin typeface="Times New Roman" panose="02020603050405020304" charset="0"/>
                <a:cs typeface="Times New Roman" panose="02020603050405020304" charset="0"/>
              </a:rPr>
              <a:t>•  Specifically designed for predictive maintenance</a:t>
            </a:r>
            <a:endParaRPr sz="1000">
              <a:solidFill>
                <a:srgbClr val="5B6178"/>
              </a:solidFill>
              <a:latin typeface="Times New Roman" panose="02020603050405020304" charset="0"/>
              <a:cs typeface="Times New Roman" panose="02020603050405020304" charset="0"/>
            </a:endParaRPr>
          </a:p>
          <a:p>
            <a:pPr>
              <a:lnSpc>
                <a:spcPct val="102000"/>
              </a:lnSpc>
              <a:spcAft>
                <a:spcPts val="100"/>
              </a:spcAft>
            </a:pPr>
            <a:r>
              <a:rPr sz="1000">
                <a:solidFill>
                  <a:srgbClr val="5B6178"/>
                </a:solidFill>
                <a:latin typeface="Times New Roman" panose="02020603050405020304" charset="0"/>
                <a:cs typeface="Times New Roman" panose="02020603050405020304" charset="0"/>
              </a:rPr>
              <a:t>•  Contains real</a:t>
            </a:r>
            <a:r>
              <a:rPr lang="en-US" sz="1000">
                <a:solidFill>
                  <a:srgbClr val="5B6178"/>
                </a:solidFill>
                <a:latin typeface="Times New Roman" panose="02020603050405020304" charset="0"/>
                <a:cs typeface="Times New Roman" panose="02020603050405020304" charset="0"/>
              </a:rPr>
              <a:t>istic</a:t>
            </a:r>
            <a:r>
              <a:rPr sz="1000">
                <a:solidFill>
                  <a:srgbClr val="5B6178"/>
                </a:solidFill>
                <a:latin typeface="Times New Roman" panose="02020603050405020304" charset="0"/>
                <a:cs typeface="Times New Roman" panose="02020603050405020304" charset="0"/>
              </a:rPr>
              <a:t> industrial sensor data</a:t>
            </a:r>
            <a:endParaRPr sz="1000">
              <a:solidFill>
                <a:srgbClr val="5B6178"/>
              </a:solidFill>
              <a:latin typeface="Times New Roman" panose="02020603050405020304" charset="0"/>
              <a:cs typeface="Times New Roman" panose="02020603050405020304" charset="0"/>
            </a:endParaRPr>
          </a:p>
          <a:p>
            <a:pPr>
              <a:lnSpc>
                <a:spcPct val="102000"/>
              </a:lnSpc>
              <a:spcAft>
                <a:spcPts val="100"/>
              </a:spcAft>
            </a:pPr>
            <a:r>
              <a:rPr sz="1000">
                <a:solidFill>
                  <a:srgbClr val="5B6178"/>
                </a:solidFill>
                <a:latin typeface="Times New Roman" panose="02020603050405020304" charset="0"/>
                <a:cs typeface="Times New Roman" panose="02020603050405020304" charset="0"/>
              </a:rPr>
              <a:t>•  Includes multiple failure </a:t>
            </a:r>
            <a:r>
              <a:rPr lang="en-US" sz="1000">
                <a:solidFill>
                  <a:srgbClr val="5B6178"/>
                </a:solidFill>
                <a:latin typeface="Times New Roman" panose="02020603050405020304" charset="0"/>
                <a:cs typeface="Times New Roman" panose="02020603050405020304" charset="0"/>
              </a:rPr>
              <a:t>conditons</a:t>
            </a:r>
            <a:endParaRPr sz="1000">
              <a:solidFill>
                <a:srgbClr val="5B6178"/>
              </a:solidFill>
              <a:latin typeface="Times New Roman" panose="02020603050405020304" charset="0"/>
              <a:cs typeface="Times New Roman" panose="02020603050405020304" charset="0"/>
            </a:endParaRPr>
          </a:p>
          <a:p>
            <a:pPr>
              <a:lnSpc>
                <a:spcPct val="102000"/>
              </a:lnSpc>
              <a:spcAft>
                <a:spcPts val="100"/>
              </a:spcAft>
            </a:pPr>
            <a:r>
              <a:rPr sz="1000">
                <a:solidFill>
                  <a:srgbClr val="5B6178"/>
                </a:solidFill>
                <a:latin typeface="Times New Roman" panose="02020603050405020304" charset="0"/>
                <a:cs typeface="Times New Roman" panose="02020603050405020304" charset="0"/>
              </a:rPr>
              <a:t>•  Ideal for building and evaluating ML models</a:t>
            </a:r>
            <a:endParaRPr sz="1000">
              <a:solidFill>
                <a:srgbClr val="5B6178"/>
              </a:solidFill>
              <a:latin typeface="Times New Roman" panose="02020603050405020304" charset="0"/>
              <a:cs typeface="Times New Roman" panose="02020603050405020304" charset="0"/>
            </a:endParaRPr>
          </a:p>
        </p:txBody>
      </p:sp>
      <p:pic>
        <p:nvPicPr>
          <p:cNvPr id="23" name="Image 0" descr="/home/claude/proj2/cropped/failure_dist.png"/>
          <p:cNvPicPr>
            <a:picLocks noChangeAspect="1"/>
          </p:cNvPicPr>
          <p:nvPr/>
        </p:nvPicPr>
        <p:blipFill>
          <a:blip r:embed="rId1"/>
          <a:srcRect l="16362" t="25646" r="45085" b="2719"/>
          <a:stretch>
            <a:fillRect/>
          </a:stretch>
        </p:blipFill>
        <p:spPr>
          <a:xfrm>
            <a:off x="7190105" y="3812540"/>
            <a:ext cx="3403600" cy="3045460"/>
          </a:xfrm>
          <a:prstGeom prst="rect">
            <a:avLst/>
          </a:prstGeom>
        </p:spPr>
      </p:pic>
      <p:pic>
        <p:nvPicPr>
          <p:cNvPr id="27" name="Picture 26" descr="Screenshot (74)"/>
          <p:cNvPicPr>
            <a:picLocks noChangeAspect="1"/>
          </p:cNvPicPr>
          <p:nvPr/>
        </p:nvPicPr>
        <p:blipFill>
          <a:blip r:embed="rId2"/>
          <a:srcRect l="16001" t="32568" r="40270" b="43003"/>
          <a:stretch>
            <a:fillRect/>
          </a:stretch>
        </p:blipFill>
        <p:spPr>
          <a:xfrm>
            <a:off x="6079490" y="2011680"/>
            <a:ext cx="5881370" cy="182689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p:spPr>
        <p:txBody>
          <a:bodyPr wrap="square" rtlCol="0" anchor="ctr"/>
          <a:lstStyle/>
          <a:p>
            <a:pPr marL="0" indent="0">
              <a:buNone/>
            </a:pPr>
            <a:r>
              <a:rPr lang="en-US" sz="1200" b="1" kern="0" spc="200" dirty="0">
                <a:solidFill>
                  <a:srgbClr val="4B4FE0"/>
                </a:solidFill>
                <a:latin typeface="Times New Roman" panose="02020603050405020304" charset="0"/>
                <a:ea typeface="Calibri" panose="020F0502020204030204" pitchFamily="34" charset="-122"/>
                <a:cs typeface="Times New Roman" panose="02020603050405020304" charset="0"/>
              </a:rPr>
              <a:t>WORKFLOW</a:t>
            </a:r>
            <a:endParaRPr lang="en-US" sz="1200" dirty="0">
              <a:latin typeface="Times New Roman" panose="02020603050405020304" charset="0"/>
              <a:cs typeface="Times New Roman" panose="02020603050405020304" charset="0"/>
            </a:endParaRPr>
          </a:p>
        </p:txBody>
      </p:sp>
      <p:sp>
        <p:nvSpPr>
          <p:cNvPr id="3" name="Text 1"/>
          <p:cNvSpPr/>
          <p:nvPr/>
        </p:nvSpPr>
        <p:spPr>
          <a:xfrm>
            <a:off x="530352" y="658368"/>
            <a:ext cx="11064240" cy="822960"/>
          </a:xfrm>
          <a:prstGeom prst="rect">
            <a:avLst/>
          </a:prstGeom>
          <a:noFill/>
        </p:spPr>
        <p:txBody>
          <a:bodyPr wrap="square" rtlCol="0" anchor="ctr"/>
          <a:lstStyle/>
          <a:p>
            <a:pPr marL="0" indent="0">
              <a:buNone/>
            </a:pPr>
            <a:r>
              <a:rPr lang="en-US" sz="3000" b="1" dirty="0">
                <a:solidFill>
                  <a:srgbClr val="1C2140"/>
                </a:solidFill>
                <a:latin typeface="Times New Roman" panose="02020603050405020304" charset="0"/>
                <a:ea typeface="Century Schoolbook" panose="02040604050505020304" pitchFamily="34" charset="-122"/>
                <a:cs typeface="Times New Roman" panose="02020603050405020304" charset="0"/>
              </a:rPr>
              <a:t>System Workflow: End-to-End Predictive Maintenance</a:t>
            </a:r>
            <a:endParaRPr lang="en-US" sz="3000" dirty="0">
              <a:latin typeface="Times New Roman" panose="02020603050405020304" charset="0"/>
              <a:cs typeface="Times New Roman" panose="02020603050405020304" charset="0"/>
            </a:endParaRPr>
          </a:p>
        </p:txBody>
      </p:sp>
      <p:sp>
        <p:nvSpPr>
          <p:cNvPr id="4" name="Text 2"/>
          <p:cNvSpPr/>
          <p:nvPr/>
        </p:nvSpPr>
        <p:spPr>
          <a:xfrm>
            <a:off x="548640" y="1417320"/>
            <a:ext cx="11064240" cy="548640"/>
          </a:xfrm>
          <a:prstGeom prst="rect">
            <a:avLst/>
          </a:prstGeom>
          <a:noFill/>
        </p:spPr>
        <p:txBody>
          <a:bodyPr wrap="square" rtlCol="0" anchor="ctr"/>
          <a:lstStyle/>
          <a:p>
            <a:pPr marL="0" indent="0">
              <a:lnSpc>
                <a:spcPts val="1800"/>
              </a:lnSpc>
              <a:buNone/>
            </a:pPr>
            <a:r>
              <a:rPr lang="en-US" dirty="0">
                <a:solidFill>
                  <a:srgbClr val="5B6178"/>
                </a:solidFill>
                <a:latin typeface="Times New Roman" panose="02020603050405020304" charset="0"/>
                <a:ea typeface="Calibri" panose="020F0502020204030204" pitchFamily="34" charset="-122"/>
                <a:cs typeface="Times New Roman" panose="02020603050405020304" charset="0"/>
              </a:rPr>
              <a:t>The smart failure detection pipeline follows a structured, automated workflow, from raw data ingestion all the way to alert generation and feedback-driven model improvement.</a:t>
            </a:r>
            <a:endParaRPr lang="en-US" dirty="0">
              <a:latin typeface="Times New Roman" panose="02020603050405020304" charset="0"/>
              <a:cs typeface="Times New Roman" panose="02020603050405020304" charset="0"/>
            </a:endParaRPr>
          </a:p>
        </p:txBody>
      </p:sp>
      <p:sp>
        <p:nvSpPr>
          <p:cNvPr id="5" name="Shape 3"/>
          <p:cNvSpPr/>
          <p:nvPr/>
        </p:nvSpPr>
        <p:spPr>
          <a:xfrm>
            <a:off x="548640" y="2148840"/>
            <a:ext cx="11064240" cy="960120"/>
          </a:xfrm>
          <a:prstGeom prst="roundRect">
            <a:avLst>
              <a:gd name="adj" fmla="val 7619"/>
            </a:avLst>
          </a:prstGeom>
          <a:solidFill>
            <a:srgbClr val="FFFFFF"/>
          </a:solidFill>
          <a:effectLst>
            <a:outerShdw blurRad="76200" dist="25400" dir="5400000" algn="bl" rotWithShape="0">
              <a:srgbClr val="5B6178">
                <a:alpha val="14000"/>
              </a:srgbClr>
            </a:outerShdw>
          </a:effectLst>
        </p:spPr>
      </p:sp>
      <p:sp>
        <p:nvSpPr>
          <p:cNvPr id="6" name="Shape 4"/>
          <p:cNvSpPr/>
          <p:nvPr/>
        </p:nvSpPr>
        <p:spPr>
          <a:xfrm>
            <a:off x="749808" y="2354580"/>
            <a:ext cx="548640" cy="548640"/>
          </a:xfrm>
          <a:prstGeom prst="ellipse">
            <a:avLst/>
          </a:prstGeom>
          <a:solidFill>
            <a:srgbClr val="4B4FE0"/>
          </a:solidFill>
        </p:spPr>
      </p:sp>
      <p:sp>
        <p:nvSpPr>
          <p:cNvPr id="7" name="Text 5"/>
          <p:cNvSpPr/>
          <p:nvPr/>
        </p:nvSpPr>
        <p:spPr>
          <a:xfrm>
            <a:off x="749808" y="2354580"/>
            <a:ext cx="548640" cy="548640"/>
          </a:xfrm>
          <a:prstGeom prst="rect">
            <a:avLst/>
          </a:prstGeom>
          <a:noFill/>
        </p:spPr>
        <p:txBody>
          <a:bodyPr wrap="square"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800" dirty="0"/>
          </a:p>
        </p:txBody>
      </p:sp>
      <p:sp>
        <p:nvSpPr>
          <p:cNvPr id="8" name="Text 6"/>
          <p:cNvSpPr/>
          <p:nvPr/>
        </p:nvSpPr>
        <p:spPr>
          <a:xfrm>
            <a:off x="1600200" y="2258568"/>
            <a:ext cx="9601200" cy="329184"/>
          </a:xfrm>
          <a:prstGeom prst="rect">
            <a:avLst/>
          </a:prstGeom>
          <a:noFill/>
        </p:spPr>
        <p:txBody>
          <a:bodyPr wrap="square" rtlCol="0" anchor="ctr"/>
          <a:lstStyle/>
          <a:p>
            <a:pPr marL="0" indent="0">
              <a:buNone/>
            </a:pPr>
            <a:r>
              <a:rPr 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Data Collection &amp; Dataset Preparation</a:t>
            </a:r>
            <a:endParaRPr lang="en-US" sz="1600" dirty="0">
              <a:latin typeface="Times New Roman" panose="02020603050405020304" charset="0"/>
              <a:cs typeface="Times New Roman" panose="02020603050405020304" charset="0"/>
            </a:endParaRPr>
          </a:p>
        </p:txBody>
      </p:sp>
      <p:sp>
        <p:nvSpPr>
          <p:cNvPr id="9" name="Text 7"/>
          <p:cNvSpPr/>
          <p:nvPr/>
        </p:nvSpPr>
        <p:spPr>
          <a:xfrm>
            <a:off x="1600200" y="2606040"/>
            <a:ext cx="9692640" cy="438912"/>
          </a:xfrm>
          <a:prstGeom prst="rect">
            <a:avLst/>
          </a:prstGeom>
          <a:noFill/>
        </p:spPr>
        <p:txBody>
          <a:bodyPr wrap="square" rtlCol="0" anchor="ctr"/>
          <a:lstStyle/>
          <a:p>
            <a:pPr marL="0" indent="0">
              <a:lnSpc>
                <a:spcPts val="1300"/>
              </a:lnSpc>
              <a:buNone/>
            </a:pPr>
            <a:r>
              <a:rPr lang="en-US" altLang="en-US" sz="1400" dirty="0">
                <a:solidFill>
                  <a:srgbClr val="5B6178"/>
                </a:solidFill>
                <a:latin typeface="Times New Roman" panose="02020603050405020304" charset="0"/>
                <a:ea typeface="Calibri" panose="020F0502020204030204" pitchFamily="34" charset="-122"/>
                <a:cs typeface="Times New Roman" panose="02020603050405020304" charset="0"/>
              </a:rPr>
              <a:t>We use the AI4I 2020 Predictive Maintenance Dataset containing 10,000 machine records with parameters such as temperature, rotational speed, torque, tool wear, and machine type.</a:t>
            </a:r>
            <a:endParaRPr lang="en-US" altLang="en-US" sz="1400" dirty="0">
              <a:solidFill>
                <a:srgbClr val="5B6178"/>
              </a:solidFill>
              <a:latin typeface="Times New Roman" panose="02020603050405020304" charset="0"/>
              <a:ea typeface="Calibri" panose="020F0502020204030204" pitchFamily="34" charset="-122"/>
              <a:cs typeface="Times New Roman" panose="02020603050405020304" charset="0"/>
            </a:endParaRPr>
          </a:p>
        </p:txBody>
      </p:sp>
      <p:sp>
        <p:nvSpPr>
          <p:cNvPr id="10" name="Shape 8"/>
          <p:cNvSpPr/>
          <p:nvPr/>
        </p:nvSpPr>
        <p:spPr>
          <a:xfrm>
            <a:off x="548640" y="3236976"/>
            <a:ext cx="11064240" cy="960120"/>
          </a:xfrm>
          <a:prstGeom prst="roundRect">
            <a:avLst>
              <a:gd name="adj" fmla="val 7619"/>
            </a:avLst>
          </a:prstGeom>
          <a:solidFill>
            <a:srgbClr val="FFFFFF"/>
          </a:solidFill>
          <a:effectLst>
            <a:outerShdw blurRad="76200" dist="25400" dir="5400000" algn="bl" rotWithShape="0">
              <a:srgbClr val="5B6178">
                <a:alpha val="14000"/>
              </a:srgbClr>
            </a:outerShdw>
          </a:effectLst>
        </p:spPr>
      </p:sp>
      <p:sp>
        <p:nvSpPr>
          <p:cNvPr id="11" name="Shape 9"/>
          <p:cNvSpPr/>
          <p:nvPr/>
        </p:nvSpPr>
        <p:spPr>
          <a:xfrm>
            <a:off x="749808" y="3442716"/>
            <a:ext cx="548640" cy="548640"/>
          </a:xfrm>
          <a:prstGeom prst="ellipse">
            <a:avLst/>
          </a:prstGeom>
          <a:solidFill>
            <a:srgbClr val="4B4FE0"/>
          </a:solidFill>
        </p:spPr>
      </p:sp>
      <p:sp>
        <p:nvSpPr>
          <p:cNvPr id="12" name="Text 10"/>
          <p:cNvSpPr/>
          <p:nvPr/>
        </p:nvSpPr>
        <p:spPr>
          <a:xfrm>
            <a:off x="749808" y="3442716"/>
            <a:ext cx="548640" cy="548640"/>
          </a:xfrm>
          <a:prstGeom prst="rect">
            <a:avLst/>
          </a:prstGeom>
          <a:noFill/>
        </p:spPr>
        <p:txBody>
          <a:bodyPr wrap="square"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800" dirty="0"/>
          </a:p>
        </p:txBody>
      </p:sp>
      <p:sp>
        <p:nvSpPr>
          <p:cNvPr id="13" name="Text 11"/>
          <p:cNvSpPr/>
          <p:nvPr/>
        </p:nvSpPr>
        <p:spPr>
          <a:xfrm>
            <a:off x="1600200" y="3346704"/>
            <a:ext cx="9601200" cy="329184"/>
          </a:xfrm>
          <a:prstGeom prst="rect">
            <a:avLst/>
          </a:prstGeom>
          <a:noFill/>
        </p:spPr>
        <p:txBody>
          <a:bodyPr wrap="square" rtlCol="0" anchor="ctr"/>
          <a:lstStyle/>
          <a:p>
            <a:pPr marL="0" indent="0">
              <a:buNone/>
            </a:pPr>
            <a:r>
              <a:rPr 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Data Preprocessing &amp; Feature Engineering</a:t>
            </a:r>
            <a:endParaRPr lang="en-US" sz="1600" dirty="0">
              <a:latin typeface="Times New Roman" panose="02020603050405020304" charset="0"/>
              <a:cs typeface="Times New Roman" panose="02020603050405020304" charset="0"/>
            </a:endParaRPr>
          </a:p>
        </p:txBody>
      </p:sp>
      <p:sp>
        <p:nvSpPr>
          <p:cNvPr id="14" name="Text 12"/>
          <p:cNvSpPr/>
          <p:nvPr/>
        </p:nvSpPr>
        <p:spPr>
          <a:xfrm>
            <a:off x="1600200" y="3694176"/>
            <a:ext cx="9692640" cy="438912"/>
          </a:xfrm>
          <a:prstGeom prst="rect">
            <a:avLst/>
          </a:prstGeom>
          <a:noFill/>
        </p:spPr>
        <p:txBody>
          <a:bodyPr wrap="square" rtlCol="0" anchor="ctr"/>
          <a:lstStyle/>
          <a:p>
            <a:pPr marL="0" indent="0">
              <a:lnSpc>
                <a:spcPts val="1300"/>
              </a:lnSpc>
              <a:buNone/>
            </a:pPr>
            <a:r>
              <a:rPr lang="en-US" altLang="en-US" sz="1400" dirty="0">
                <a:solidFill>
                  <a:srgbClr val="5B6178"/>
                </a:solidFill>
                <a:latin typeface="Times New Roman" panose="02020603050405020304" charset="0"/>
                <a:ea typeface="Calibri" panose="020F0502020204030204" pitchFamily="34" charset="-122"/>
                <a:cs typeface="Times New Roman" panose="02020603050405020304" charset="0"/>
              </a:rPr>
              <a:t>The dataset is cleaned and prepared by handling data inconsistencies, converting machine type into numerical values, selecting relevant features, splitting the data into training and testing sets, and applying StandardScaler.</a:t>
            </a:r>
            <a:endParaRPr lang="en-US" altLang="en-US" sz="1400" dirty="0">
              <a:solidFill>
                <a:srgbClr val="5B6178"/>
              </a:solidFill>
              <a:latin typeface="Times New Roman" panose="02020603050405020304" charset="0"/>
              <a:ea typeface="Calibri" panose="020F0502020204030204" pitchFamily="34" charset="-122"/>
              <a:cs typeface="Times New Roman" panose="02020603050405020304" charset="0"/>
            </a:endParaRPr>
          </a:p>
        </p:txBody>
      </p:sp>
      <p:sp>
        <p:nvSpPr>
          <p:cNvPr id="15" name="Shape 13"/>
          <p:cNvSpPr/>
          <p:nvPr/>
        </p:nvSpPr>
        <p:spPr>
          <a:xfrm>
            <a:off x="548640" y="4325112"/>
            <a:ext cx="11064240" cy="960120"/>
          </a:xfrm>
          <a:prstGeom prst="roundRect">
            <a:avLst>
              <a:gd name="adj" fmla="val 7619"/>
            </a:avLst>
          </a:prstGeom>
          <a:solidFill>
            <a:srgbClr val="FFFFFF"/>
          </a:solidFill>
          <a:effectLst>
            <a:outerShdw blurRad="76200" dist="25400" dir="5400000" algn="bl" rotWithShape="0">
              <a:srgbClr val="5B6178">
                <a:alpha val="14000"/>
              </a:srgbClr>
            </a:outerShdw>
          </a:effectLst>
        </p:spPr>
      </p:sp>
      <p:sp>
        <p:nvSpPr>
          <p:cNvPr id="16" name="Shape 14"/>
          <p:cNvSpPr/>
          <p:nvPr/>
        </p:nvSpPr>
        <p:spPr>
          <a:xfrm>
            <a:off x="749808" y="4530852"/>
            <a:ext cx="548640" cy="548640"/>
          </a:xfrm>
          <a:prstGeom prst="ellipse">
            <a:avLst/>
          </a:prstGeom>
          <a:solidFill>
            <a:srgbClr val="4B4FE0"/>
          </a:solidFill>
        </p:spPr>
      </p:sp>
      <p:sp>
        <p:nvSpPr>
          <p:cNvPr id="17" name="Text 15"/>
          <p:cNvSpPr/>
          <p:nvPr/>
        </p:nvSpPr>
        <p:spPr>
          <a:xfrm>
            <a:off x="749808" y="4530852"/>
            <a:ext cx="548640" cy="548640"/>
          </a:xfrm>
          <a:prstGeom prst="rect">
            <a:avLst/>
          </a:prstGeom>
          <a:noFill/>
        </p:spPr>
        <p:txBody>
          <a:bodyPr wrap="square"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800" dirty="0"/>
          </a:p>
        </p:txBody>
      </p:sp>
      <p:sp>
        <p:nvSpPr>
          <p:cNvPr id="18" name="Text 16"/>
          <p:cNvSpPr/>
          <p:nvPr/>
        </p:nvSpPr>
        <p:spPr>
          <a:xfrm>
            <a:off x="1600200" y="4434840"/>
            <a:ext cx="9601200" cy="329184"/>
          </a:xfrm>
          <a:prstGeom prst="rect">
            <a:avLst/>
          </a:prstGeom>
          <a:noFill/>
        </p:spPr>
        <p:txBody>
          <a:bodyPr wrap="square" rtlCol="0" anchor="ctr"/>
          <a:lstStyle/>
          <a:p>
            <a:pPr marL="0" indent="0">
              <a:buNone/>
            </a:pPr>
            <a:r>
              <a:rPr 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Machine Learning Model Training </a:t>
            </a:r>
            <a:endParaRPr lang="en-US" sz="1600" dirty="0">
              <a:latin typeface="Times New Roman" panose="02020603050405020304" charset="0"/>
              <a:cs typeface="Times New Roman" panose="02020603050405020304" charset="0"/>
            </a:endParaRPr>
          </a:p>
        </p:txBody>
      </p:sp>
      <p:sp>
        <p:nvSpPr>
          <p:cNvPr id="19" name="Text 17"/>
          <p:cNvSpPr/>
          <p:nvPr/>
        </p:nvSpPr>
        <p:spPr>
          <a:xfrm>
            <a:off x="1600200" y="4782312"/>
            <a:ext cx="9692640" cy="438912"/>
          </a:xfrm>
          <a:prstGeom prst="rect">
            <a:avLst/>
          </a:prstGeom>
          <a:noFill/>
        </p:spPr>
        <p:txBody>
          <a:bodyPr wrap="square" rtlCol="0" anchor="ctr"/>
          <a:lstStyle/>
          <a:p>
            <a:pPr marL="0" indent="0">
              <a:lnSpc>
                <a:spcPts val="1300"/>
              </a:lnSpc>
              <a:buNone/>
            </a:pPr>
            <a:r>
              <a:rPr lang="en-US" altLang="en-US" sz="1400" dirty="0">
                <a:solidFill>
                  <a:srgbClr val="5B6178"/>
                </a:solidFill>
                <a:latin typeface="Times New Roman" panose="02020603050405020304" charset="0"/>
                <a:ea typeface="Calibri" panose="020F0502020204030204" pitchFamily="34" charset="-122"/>
                <a:cs typeface="Times New Roman" panose="02020603050405020304" charset="0"/>
              </a:rPr>
              <a:t>Different supervised machine-learning approaches are evaluated, and the Random Forest Classifier is used as the final model to learn patterns between machine parameters and failure conditions. The trained model and scaler are saved using Joblib.</a:t>
            </a:r>
            <a:endParaRPr lang="en-US" altLang="en-US" sz="1400" dirty="0">
              <a:solidFill>
                <a:srgbClr val="5B6178"/>
              </a:solidFill>
              <a:latin typeface="Times New Roman" panose="02020603050405020304" charset="0"/>
              <a:ea typeface="Calibri" panose="020F0502020204030204" pitchFamily="34" charset="-122"/>
              <a:cs typeface="Times New Roman" panose="02020603050405020304" charset="0"/>
            </a:endParaRPr>
          </a:p>
        </p:txBody>
      </p:sp>
      <p:sp>
        <p:nvSpPr>
          <p:cNvPr id="20" name="Shape 18"/>
          <p:cNvSpPr/>
          <p:nvPr/>
        </p:nvSpPr>
        <p:spPr>
          <a:xfrm>
            <a:off x="548640" y="5413248"/>
            <a:ext cx="11064240" cy="960120"/>
          </a:xfrm>
          <a:prstGeom prst="roundRect">
            <a:avLst>
              <a:gd name="adj" fmla="val 7619"/>
            </a:avLst>
          </a:prstGeom>
          <a:solidFill>
            <a:srgbClr val="FFFFFF"/>
          </a:solidFill>
          <a:effectLst>
            <a:outerShdw blurRad="76200" dist="25400" dir="5400000" algn="bl" rotWithShape="0">
              <a:srgbClr val="5B6178">
                <a:alpha val="14000"/>
              </a:srgbClr>
            </a:outerShdw>
          </a:effectLst>
        </p:spPr>
      </p:sp>
      <p:sp>
        <p:nvSpPr>
          <p:cNvPr id="21" name="Shape 19"/>
          <p:cNvSpPr/>
          <p:nvPr/>
        </p:nvSpPr>
        <p:spPr>
          <a:xfrm>
            <a:off x="749808" y="5618988"/>
            <a:ext cx="548640" cy="548640"/>
          </a:xfrm>
          <a:prstGeom prst="ellipse">
            <a:avLst/>
          </a:prstGeom>
          <a:solidFill>
            <a:srgbClr val="4B4FE0"/>
          </a:solidFill>
        </p:spPr>
      </p:sp>
      <p:sp>
        <p:nvSpPr>
          <p:cNvPr id="22" name="Text 20"/>
          <p:cNvSpPr/>
          <p:nvPr/>
        </p:nvSpPr>
        <p:spPr>
          <a:xfrm>
            <a:off x="749808" y="5618988"/>
            <a:ext cx="548640" cy="548640"/>
          </a:xfrm>
          <a:prstGeom prst="rect">
            <a:avLst/>
          </a:prstGeom>
          <a:noFill/>
        </p:spPr>
        <p:txBody>
          <a:bodyPr wrap="square"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800" dirty="0"/>
          </a:p>
        </p:txBody>
      </p:sp>
      <p:sp>
        <p:nvSpPr>
          <p:cNvPr id="23" name="Text 21"/>
          <p:cNvSpPr/>
          <p:nvPr/>
        </p:nvSpPr>
        <p:spPr>
          <a:xfrm>
            <a:off x="1600200" y="5522976"/>
            <a:ext cx="9601200" cy="329184"/>
          </a:xfrm>
          <a:prstGeom prst="rect">
            <a:avLst/>
          </a:prstGeom>
          <a:noFill/>
        </p:spPr>
        <p:txBody>
          <a:bodyPr wrap="square" rtlCol="0" anchor="ctr"/>
          <a:lstStyle/>
          <a:p>
            <a:pPr marL="0" indent="0">
              <a:buNone/>
            </a:pPr>
            <a:r>
              <a:rPr 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Failure Prediction &amp; Dashboard</a:t>
            </a:r>
            <a:endParaRPr lang="en-US" sz="1600" dirty="0">
              <a:latin typeface="Times New Roman" panose="02020603050405020304" charset="0"/>
              <a:cs typeface="Times New Roman" panose="02020603050405020304" charset="0"/>
            </a:endParaRPr>
          </a:p>
        </p:txBody>
      </p:sp>
      <p:sp>
        <p:nvSpPr>
          <p:cNvPr id="24" name="Text 22"/>
          <p:cNvSpPr/>
          <p:nvPr/>
        </p:nvSpPr>
        <p:spPr>
          <a:xfrm>
            <a:off x="1600200" y="5870448"/>
            <a:ext cx="9692640" cy="438912"/>
          </a:xfrm>
          <a:prstGeom prst="rect">
            <a:avLst/>
          </a:prstGeom>
          <a:noFill/>
        </p:spPr>
        <p:txBody>
          <a:bodyPr wrap="square" rtlCol="0" anchor="ctr"/>
          <a:lstStyle/>
          <a:p>
            <a:pPr marL="0" indent="0">
              <a:lnSpc>
                <a:spcPts val="1300"/>
              </a:lnSpc>
              <a:buNone/>
            </a:pPr>
            <a:r>
              <a:rPr lang="en-US" altLang="en-US" sz="1400" dirty="0">
                <a:solidFill>
                  <a:srgbClr val="5B6178"/>
                </a:solidFill>
                <a:latin typeface="Times New Roman" panose="02020603050405020304" charset="0"/>
                <a:ea typeface="Calibri" panose="020F0502020204030204" pitchFamily="34" charset="-122"/>
                <a:cs typeface="Times New Roman" panose="02020603050405020304" charset="0"/>
              </a:rPr>
              <a:t>The trained model takes machine sensor inputs through the Streamlit dashboard and predicts normal or failure conditions. It also displays the failure probability, machine health score, risk level, and maintenance recommendation, while storing prediction results in the history.</a:t>
            </a:r>
            <a:endParaRPr lang="en-US" altLang="en-US" sz="1400" dirty="0">
              <a:solidFill>
                <a:srgbClr val="5B6178"/>
              </a:solidFill>
              <a:latin typeface="Times New Roman" panose="02020603050405020304" charset="0"/>
              <a:ea typeface="Calibri" panose="020F0502020204030204" pitchFamily="34" charset="-122"/>
              <a:cs typeface="Times New Roman" panose="02020603050405020304" charset="0"/>
            </a:endParaRPr>
          </a:p>
        </p:txBody>
      </p:sp>
      <p:sp>
        <p:nvSpPr>
          <p:cNvPr id="25" name="Text 23"/>
          <p:cNvSpPr/>
          <p:nvPr/>
        </p:nvSpPr>
        <p:spPr>
          <a:xfrm>
            <a:off x="548640" y="6510528"/>
            <a:ext cx="7315200" cy="274320"/>
          </a:xfrm>
          <a:prstGeom prst="rect">
            <a:avLst/>
          </a:prstGeom>
          <a:noFill/>
        </p:spPr>
        <p:txBody>
          <a:bodyPr wrap="square" rtlCol="0" anchor="ctr"/>
          <a:lstStyle/>
          <a:p>
            <a:pPr marL="0" indent="0">
              <a:buNone/>
            </a:pP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8229600" cy="310896"/>
          </a:xfrm>
          <a:prstGeom prst="rect">
            <a:avLst/>
          </a:prstGeom>
          <a:noFill/>
        </p:spPr>
        <p:txBody>
          <a:bodyPr wrap="square" rtlCol="0" anchor="ctr"/>
          <a:lstStyle/>
          <a:p>
            <a:pPr marL="0" indent="0">
              <a:buNone/>
            </a:pPr>
            <a:r>
              <a:rPr lang="en-US" sz="1200" b="1" kern="0" spc="200" dirty="0">
                <a:solidFill>
                  <a:srgbClr val="1657E0"/>
                </a:solidFill>
                <a:latin typeface="Times New Roman" panose="02020603050405020304" charset="0"/>
                <a:ea typeface="Calibri" panose="020F0502020204030204" pitchFamily="34" charset="-122"/>
                <a:cs typeface="Times New Roman" panose="02020603050405020304" charset="0"/>
              </a:rPr>
              <a:t>DATA PREPROCESSING</a:t>
            </a:r>
            <a:endParaRPr lang="en-US" sz="1200" dirty="0">
              <a:latin typeface="Times New Roman" panose="02020603050405020304" charset="0"/>
              <a:cs typeface="Times New Roman" panose="02020603050405020304" charset="0"/>
            </a:endParaRPr>
          </a:p>
        </p:txBody>
      </p:sp>
      <p:sp>
        <p:nvSpPr>
          <p:cNvPr id="3" name="Text 1"/>
          <p:cNvSpPr/>
          <p:nvPr/>
        </p:nvSpPr>
        <p:spPr>
          <a:xfrm>
            <a:off x="530352" y="640080"/>
            <a:ext cx="11155680" cy="868680"/>
          </a:xfrm>
          <a:prstGeom prst="rect">
            <a:avLst/>
          </a:prstGeom>
          <a:noFill/>
        </p:spPr>
        <p:txBody>
          <a:bodyPr wrap="square" rtlCol="0" anchor="ctr"/>
          <a:lstStyle/>
          <a:p>
            <a:pPr marL="0" indent="0">
              <a:buNone/>
            </a:pPr>
            <a:r>
              <a:rPr lang="en-US" sz="3000" b="1" dirty="0">
                <a:solidFill>
                  <a:srgbClr val="0F1B33"/>
                </a:solidFill>
                <a:latin typeface="Times New Roman" panose="02020603050405020304" charset="0"/>
                <a:ea typeface="Segoe UI" panose="020B0502040204020203" pitchFamily="34" charset="-122"/>
                <a:cs typeface="Times New Roman" panose="02020603050405020304" charset="0"/>
              </a:rPr>
              <a:t>Preparing Data for Reliable Model Training</a:t>
            </a:r>
            <a:endParaRPr lang="en-US" sz="3000" dirty="0">
              <a:latin typeface="Times New Roman" panose="02020603050405020304" charset="0"/>
              <a:cs typeface="Times New Roman" panose="02020603050405020304" charset="0"/>
            </a:endParaRPr>
          </a:p>
        </p:txBody>
      </p:sp>
      <p:sp>
        <p:nvSpPr>
          <p:cNvPr id="4" name="Text 2"/>
          <p:cNvSpPr/>
          <p:nvPr/>
        </p:nvSpPr>
        <p:spPr>
          <a:xfrm>
            <a:off x="548640" y="1417320"/>
            <a:ext cx="11064240" cy="457200"/>
          </a:xfrm>
          <a:prstGeom prst="rect">
            <a:avLst/>
          </a:prstGeom>
          <a:noFill/>
        </p:spPr>
        <p:txBody>
          <a:bodyPr wrap="square" rtlCol="0" anchor="ctr"/>
          <a:lstStyle/>
          <a:p>
            <a:pPr marL="0" indent="0">
              <a:buNone/>
            </a:pPr>
            <a:r>
              <a:rPr lang="en-US" dirty="0">
                <a:solidFill>
                  <a:srgbClr val="56607A"/>
                </a:solidFill>
                <a:latin typeface="Times New Roman" panose="02020603050405020304" charset="0"/>
                <a:ea typeface="Calibri" panose="020F0502020204030204" pitchFamily="34" charset="-122"/>
                <a:cs typeface="Times New Roman" panose="02020603050405020304" charset="0"/>
              </a:rPr>
              <a:t>Clean, well-structured data is the foundation of every accurate prediction.</a:t>
            </a:r>
            <a:endParaRPr lang="en-US" dirty="0">
              <a:latin typeface="Times New Roman" panose="02020603050405020304" charset="0"/>
              <a:cs typeface="Times New Roman" panose="02020603050405020304" charset="0"/>
            </a:endParaRPr>
          </a:p>
        </p:txBody>
      </p:sp>
      <p:sp>
        <p:nvSpPr>
          <p:cNvPr id="5" name="Shape 3"/>
          <p:cNvSpPr/>
          <p:nvPr/>
        </p:nvSpPr>
        <p:spPr>
          <a:xfrm>
            <a:off x="548640" y="2103120"/>
            <a:ext cx="6309360" cy="786384"/>
          </a:xfrm>
          <a:prstGeom prst="roundRect">
            <a:avLst>
              <a:gd name="adj" fmla="val 10465"/>
            </a:avLst>
          </a:prstGeom>
          <a:solidFill>
            <a:srgbClr val="FFFFFF"/>
          </a:solidFill>
          <a:effectLst>
            <a:outerShdw blurRad="101600" dist="25400" dir="5400000" algn="bl" rotWithShape="0">
              <a:srgbClr val="3A4A7A">
                <a:alpha val="16000"/>
              </a:srgbClr>
            </a:outerShdw>
          </a:effectLst>
        </p:spPr>
      </p:sp>
      <p:sp>
        <p:nvSpPr>
          <p:cNvPr id="6" name="Shape 4"/>
          <p:cNvSpPr/>
          <p:nvPr/>
        </p:nvSpPr>
        <p:spPr>
          <a:xfrm>
            <a:off x="713232" y="2276856"/>
            <a:ext cx="438912" cy="438912"/>
          </a:xfrm>
          <a:prstGeom prst="ellipse">
            <a:avLst/>
          </a:prstGeom>
          <a:solidFill>
            <a:srgbClr val="1657E0"/>
          </a:solidFill>
        </p:spPr>
      </p:sp>
      <p:sp>
        <p:nvSpPr>
          <p:cNvPr id="7" name="Text 5"/>
          <p:cNvSpPr/>
          <p:nvPr/>
        </p:nvSpPr>
        <p:spPr>
          <a:xfrm>
            <a:off x="713232" y="2276856"/>
            <a:ext cx="438912" cy="438912"/>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400" dirty="0"/>
          </a:p>
        </p:txBody>
      </p:sp>
      <p:sp>
        <p:nvSpPr>
          <p:cNvPr id="8" name="Text 6"/>
          <p:cNvSpPr/>
          <p:nvPr/>
        </p:nvSpPr>
        <p:spPr>
          <a:xfrm>
            <a:off x="1325880" y="2176272"/>
            <a:ext cx="5349240" cy="274320"/>
          </a:xfrm>
          <a:prstGeom prst="rect">
            <a:avLst/>
          </a:prstGeom>
          <a:noFill/>
        </p:spPr>
        <p:txBody>
          <a:bodyPr wrap="square" rtlCol="0" anchor="ctr"/>
          <a:lstStyle/>
          <a:p>
            <a:pPr marL="0" indent="0">
              <a:buNone/>
            </a:pPr>
            <a:r>
              <a:rPr lang="en-US" sz="1250" b="1" dirty="0">
                <a:solidFill>
                  <a:srgbClr val="0F1B33"/>
                </a:solidFill>
                <a:latin typeface="Segoe UI" panose="020B0502040204020203" pitchFamily="34" charset="0"/>
                <a:ea typeface="Segoe UI" panose="020B0502040204020203" pitchFamily="34" charset="-122"/>
                <a:cs typeface="Segoe UI" panose="020B0502040204020203" pitchFamily="34" charset="-120"/>
              </a:rPr>
              <a:t>Missing Value Treatment</a:t>
            </a:r>
            <a:endParaRPr lang="en-US" sz="1250" dirty="0"/>
          </a:p>
        </p:txBody>
      </p:sp>
      <p:sp>
        <p:nvSpPr>
          <p:cNvPr id="9" name="Text 7"/>
          <p:cNvSpPr/>
          <p:nvPr/>
        </p:nvSpPr>
        <p:spPr>
          <a:xfrm>
            <a:off x="1325880" y="2468880"/>
            <a:ext cx="5349240" cy="384048"/>
          </a:xfrm>
          <a:prstGeom prst="rect">
            <a:avLst/>
          </a:prstGeom>
          <a:noFill/>
        </p:spPr>
        <p:txBody>
          <a:bodyPr wrap="square" rtlCol="0" anchor="ctr"/>
          <a:lstStyle/>
          <a:p>
            <a:pPr marL="0" indent="0">
              <a:lnSpc>
                <a:spcPts val="1200"/>
              </a:lnSpc>
              <a:buNone/>
            </a:pPr>
            <a:r>
              <a:rPr lang="en-US" altLang="en-US" sz="970" dirty="0">
                <a:solidFill>
                  <a:srgbClr val="56607A"/>
                </a:solidFill>
                <a:latin typeface="Calibri" panose="020F0502020204030204" pitchFamily="34" charset="0"/>
                <a:ea typeface="Calibri" panose="020F0502020204030204" pitchFamily="34" charset="-122"/>
                <a:cs typeface="Calibri" panose="020F0502020204030204" pitchFamily="34" charset="-120"/>
              </a:rPr>
              <a:t>The dataset was checked for missing, null, and inconsistent values to ensure the data was complete and reliable before model training.</a:t>
            </a:r>
            <a:r>
              <a:rPr lang="en-US" sz="970" dirty="0">
                <a:solidFill>
                  <a:srgbClr val="56607A"/>
                </a:solidFill>
                <a:latin typeface="Calibri" panose="020F0502020204030204" pitchFamily="34" charset="0"/>
                <a:ea typeface="Calibri" panose="020F0502020204030204" pitchFamily="34" charset="-122"/>
                <a:cs typeface="Calibri" panose="020F0502020204030204" pitchFamily="34" charset="-120"/>
              </a:rPr>
              <a:t>.</a:t>
            </a:r>
            <a:endParaRPr lang="en-US" sz="970" dirty="0"/>
          </a:p>
        </p:txBody>
      </p:sp>
      <p:sp>
        <p:nvSpPr>
          <p:cNvPr id="10" name="Shape 8"/>
          <p:cNvSpPr/>
          <p:nvPr/>
        </p:nvSpPr>
        <p:spPr>
          <a:xfrm>
            <a:off x="548640" y="2962656"/>
            <a:ext cx="6309360" cy="786384"/>
          </a:xfrm>
          <a:prstGeom prst="roundRect">
            <a:avLst>
              <a:gd name="adj" fmla="val 10465"/>
            </a:avLst>
          </a:prstGeom>
          <a:solidFill>
            <a:srgbClr val="FFFFFF"/>
          </a:solidFill>
          <a:effectLst>
            <a:outerShdw blurRad="101600" dist="25400" dir="5400000" algn="bl" rotWithShape="0">
              <a:srgbClr val="3A4A7A">
                <a:alpha val="16000"/>
              </a:srgbClr>
            </a:outerShdw>
          </a:effectLst>
        </p:spPr>
      </p:sp>
      <p:sp>
        <p:nvSpPr>
          <p:cNvPr id="11" name="Shape 9"/>
          <p:cNvSpPr/>
          <p:nvPr/>
        </p:nvSpPr>
        <p:spPr>
          <a:xfrm>
            <a:off x="713232" y="3136392"/>
            <a:ext cx="438912" cy="438912"/>
          </a:xfrm>
          <a:prstGeom prst="ellipse">
            <a:avLst/>
          </a:prstGeom>
          <a:solidFill>
            <a:srgbClr val="1657E0"/>
          </a:solidFill>
        </p:spPr>
      </p:sp>
      <p:sp>
        <p:nvSpPr>
          <p:cNvPr id="12" name="Text 10"/>
          <p:cNvSpPr/>
          <p:nvPr/>
        </p:nvSpPr>
        <p:spPr>
          <a:xfrm>
            <a:off x="713232" y="3136392"/>
            <a:ext cx="438912" cy="438912"/>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400" dirty="0"/>
          </a:p>
        </p:txBody>
      </p:sp>
      <p:sp>
        <p:nvSpPr>
          <p:cNvPr id="13" name="Text 11"/>
          <p:cNvSpPr/>
          <p:nvPr/>
        </p:nvSpPr>
        <p:spPr>
          <a:xfrm>
            <a:off x="1325880" y="3035808"/>
            <a:ext cx="5349240" cy="274320"/>
          </a:xfrm>
          <a:prstGeom prst="rect">
            <a:avLst/>
          </a:prstGeom>
          <a:noFill/>
        </p:spPr>
        <p:txBody>
          <a:bodyPr wrap="square" rtlCol="0" anchor="ctr"/>
          <a:lstStyle/>
          <a:p>
            <a:pPr marL="0" indent="0">
              <a:buNone/>
            </a:pPr>
            <a:r>
              <a:rPr lang="en-US" sz="1250" b="1" dirty="0">
                <a:solidFill>
                  <a:srgbClr val="0F1B33"/>
                </a:solidFill>
                <a:latin typeface="Segoe UI" panose="020B0502040204020203" pitchFamily="34" charset="0"/>
                <a:ea typeface="Segoe UI" panose="020B0502040204020203" pitchFamily="34" charset="-122"/>
                <a:cs typeface="Segoe UI" panose="020B0502040204020203" pitchFamily="34" charset="-120"/>
              </a:rPr>
              <a:t>Categorical Encoding</a:t>
            </a:r>
            <a:endParaRPr lang="en-US" sz="1250" dirty="0"/>
          </a:p>
        </p:txBody>
      </p:sp>
      <p:sp>
        <p:nvSpPr>
          <p:cNvPr id="14" name="Text 12"/>
          <p:cNvSpPr/>
          <p:nvPr/>
        </p:nvSpPr>
        <p:spPr>
          <a:xfrm>
            <a:off x="1325880" y="3328416"/>
            <a:ext cx="5349240" cy="384048"/>
          </a:xfrm>
          <a:prstGeom prst="rect">
            <a:avLst/>
          </a:prstGeom>
          <a:noFill/>
        </p:spPr>
        <p:txBody>
          <a:bodyPr wrap="square" rtlCol="0" anchor="ctr"/>
          <a:lstStyle/>
          <a:p>
            <a:pPr marL="0" indent="0">
              <a:lnSpc>
                <a:spcPts val="1200"/>
              </a:lnSpc>
              <a:buNone/>
            </a:pPr>
            <a:r>
              <a:rPr lang="en-US" altLang="en-US" sz="970" dirty="0">
                <a:solidFill>
                  <a:srgbClr val="56607A"/>
                </a:solidFill>
                <a:latin typeface="Calibri" panose="020F0502020204030204" pitchFamily="34" charset="0"/>
                <a:ea typeface="Calibri" panose="020F0502020204030204" pitchFamily="34" charset="-122"/>
                <a:cs typeface="Calibri" panose="020F0502020204030204" pitchFamily="34" charset="-120"/>
              </a:rPr>
              <a:t>The Machine Type feature containing L, M, and H categories was converted into numerical values so that it could be processed by the machine-learning model</a:t>
            </a:r>
            <a:r>
              <a:rPr lang="en-US" sz="970" dirty="0">
                <a:solidFill>
                  <a:srgbClr val="56607A"/>
                </a:solidFill>
                <a:latin typeface="Calibri" panose="020F0502020204030204" pitchFamily="34" charset="0"/>
                <a:ea typeface="Calibri" panose="020F0502020204030204" pitchFamily="34" charset="-122"/>
                <a:cs typeface="Calibri" panose="020F0502020204030204" pitchFamily="34" charset="-120"/>
              </a:rPr>
              <a:t>.</a:t>
            </a:r>
            <a:endParaRPr lang="en-US" sz="970" dirty="0"/>
          </a:p>
        </p:txBody>
      </p:sp>
      <p:sp>
        <p:nvSpPr>
          <p:cNvPr id="15" name="Shape 13"/>
          <p:cNvSpPr/>
          <p:nvPr/>
        </p:nvSpPr>
        <p:spPr>
          <a:xfrm>
            <a:off x="548640" y="3822192"/>
            <a:ext cx="6309360" cy="786384"/>
          </a:xfrm>
          <a:prstGeom prst="roundRect">
            <a:avLst>
              <a:gd name="adj" fmla="val 10465"/>
            </a:avLst>
          </a:prstGeom>
          <a:solidFill>
            <a:srgbClr val="FFFFFF"/>
          </a:solidFill>
          <a:effectLst>
            <a:outerShdw blurRad="101600" dist="25400" dir="5400000" algn="bl" rotWithShape="0">
              <a:srgbClr val="3A4A7A">
                <a:alpha val="16000"/>
              </a:srgbClr>
            </a:outerShdw>
          </a:effectLst>
        </p:spPr>
      </p:sp>
      <p:sp>
        <p:nvSpPr>
          <p:cNvPr id="16" name="Shape 14"/>
          <p:cNvSpPr/>
          <p:nvPr/>
        </p:nvSpPr>
        <p:spPr>
          <a:xfrm>
            <a:off x="713232" y="3995928"/>
            <a:ext cx="438912" cy="438912"/>
          </a:xfrm>
          <a:prstGeom prst="ellipse">
            <a:avLst/>
          </a:prstGeom>
          <a:solidFill>
            <a:srgbClr val="1657E0"/>
          </a:solidFill>
        </p:spPr>
      </p:sp>
      <p:sp>
        <p:nvSpPr>
          <p:cNvPr id="17" name="Text 15"/>
          <p:cNvSpPr/>
          <p:nvPr/>
        </p:nvSpPr>
        <p:spPr>
          <a:xfrm>
            <a:off x="713232" y="3995928"/>
            <a:ext cx="438912" cy="438912"/>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400" dirty="0"/>
          </a:p>
        </p:txBody>
      </p:sp>
      <p:sp>
        <p:nvSpPr>
          <p:cNvPr id="18" name="Text 16"/>
          <p:cNvSpPr/>
          <p:nvPr/>
        </p:nvSpPr>
        <p:spPr>
          <a:xfrm>
            <a:off x="1325880" y="3895344"/>
            <a:ext cx="5349240" cy="274320"/>
          </a:xfrm>
          <a:prstGeom prst="rect">
            <a:avLst/>
          </a:prstGeom>
          <a:noFill/>
        </p:spPr>
        <p:txBody>
          <a:bodyPr wrap="square" rtlCol="0" anchor="ctr"/>
          <a:lstStyle/>
          <a:p>
            <a:pPr marL="0" indent="0">
              <a:buNone/>
            </a:pPr>
            <a:r>
              <a:rPr lang="en-US" sz="1250" b="1" dirty="0">
                <a:solidFill>
                  <a:srgbClr val="0F1B33"/>
                </a:solidFill>
                <a:latin typeface="Segoe UI" panose="020B0502040204020203" pitchFamily="34" charset="0"/>
                <a:ea typeface="Segoe UI" panose="020B0502040204020203" pitchFamily="34" charset="-122"/>
                <a:cs typeface="Segoe UI" panose="020B0502040204020203" pitchFamily="34" charset="-120"/>
              </a:rPr>
              <a:t>Feature Selection</a:t>
            </a:r>
            <a:endParaRPr lang="en-US" sz="1250" dirty="0"/>
          </a:p>
        </p:txBody>
      </p:sp>
      <p:sp>
        <p:nvSpPr>
          <p:cNvPr id="19" name="Text 17"/>
          <p:cNvSpPr/>
          <p:nvPr/>
        </p:nvSpPr>
        <p:spPr>
          <a:xfrm>
            <a:off x="1325880" y="4187952"/>
            <a:ext cx="5349240" cy="384048"/>
          </a:xfrm>
          <a:prstGeom prst="rect">
            <a:avLst/>
          </a:prstGeom>
          <a:noFill/>
        </p:spPr>
        <p:txBody>
          <a:bodyPr wrap="square" rtlCol="0" anchor="ctr"/>
          <a:lstStyle/>
          <a:p>
            <a:pPr marL="0" indent="0">
              <a:lnSpc>
                <a:spcPts val="1200"/>
              </a:lnSpc>
              <a:buNone/>
            </a:pPr>
            <a:r>
              <a:rPr lang="en-US" altLang="en-US" sz="970" dirty="0">
                <a:solidFill>
                  <a:srgbClr val="56607A"/>
                </a:solidFill>
                <a:latin typeface="Calibri" panose="020F0502020204030204" pitchFamily="34" charset="0"/>
                <a:ea typeface="Calibri" panose="020F0502020204030204" pitchFamily="34" charset="-122"/>
                <a:cs typeface="Calibri" panose="020F0502020204030204" pitchFamily="34" charset="-120"/>
              </a:rPr>
              <a:t>Relevant machine parameters such as temperature, rotational speed, torque, and tool wear were selected based on their usefulness in predicting machine failure.</a:t>
            </a:r>
            <a:endParaRPr lang="en-US" altLang="en-US" sz="970" dirty="0">
              <a:solidFill>
                <a:srgbClr val="56607A"/>
              </a:solidFill>
              <a:latin typeface="Calibri" panose="020F0502020204030204" pitchFamily="34" charset="0"/>
              <a:ea typeface="Calibri" panose="020F0502020204030204" pitchFamily="34" charset="-122"/>
              <a:cs typeface="Calibri" panose="020F0502020204030204" pitchFamily="34" charset="-120"/>
            </a:endParaRPr>
          </a:p>
        </p:txBody>
      </p:sp>
      <p:sp>
        <p:nvSpPr>
          <p:cNvPr id="20" name="Shape 18"/>
          <p:cNvSpPr/>
          <p:nvPr/>
        </p:nvSpPr>
        <p:spPr>
          <a:xfrm>
            <a:off x="548640" y="4681728"/>
            <a:ext cx="6309360" cy="786384"/>
          </a:xfrm>
          <a:prstGeom prst="roundRect">
            <a:avLst>
              <a:gd name="adj" fmla="val 10465"/>
            </a:avLst>
          </a:prstGeom>
          <a:solidFill>
            <a:srgbClr val="FFFFFF"/>
          </a:solidFill>
          <a:effectLst>
            <a:outerShdw blurRad="101600" dist="25400" dir="5400000" algn="bl" rotWithShape="0">
              <a:srgbClr val="3A4A7A">
                <a:alpha val="16000"/>
              </a:srgbClr>
            </a:outerShdw>
          </a:effectLst>
        </p:spPr>
      </p:sp>
      <p:sp>
        <p:nvSpPr>
          <p:cNvPr id="21" name="Shape 19"/>
          <p:cNvSpPr/>
          <p:nvPr/>
        </p:nvSpPr>
        <p:spPr>
          <a:xfrm>
            <a:off x="713232" y="4855464"/>
            <a:ext cx="438912" cy="438912"/>
          </a:xfrm>
          <a:prstGeom prst="ellipse">
            <a:avLst/>
          </a:prstGeom>
          <a:solidFill>
            <a:srgbClr val="1657E0"/>
          </a:solidFill>
        </p:spPr>
      </p:sp>
      <p:sp>
        <p:nvSpPr>
          <p:cNvPr id="22" name="Text 20"/>
          <p:cNvSpPr/>
          <p:nvPr/>
        </p:nvSpPr>
        <p:spPr>
          <a:xfrm>
            <a:off x="713232" y="4855464"/>
            <a:ext cx="438912" cy="438912"/>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400" dirty="0"/>
          </a:p>
        </p:txBody>
      </p:sp>
      <p:sp>
        <p:nvSpPr>
          <p:cNvPr id="23" name="Text 21"/>
          <p:cNvSpPr/>
          <p:nvPr/>
        </p:nvSpPr>
        <p:spPr>
          <a:xfrm>
            <a:off x="1325880" y="4754880"/>
            <a:ext cx="5349240" cy="274320"/>
          </a:xfrm>
          <a:prstGeom prst="rect">
            <a:avLst/>
          </a:prstGeom>
          <a:noFill/>
        </p:spPr>
        <p:txBody>
          <a:bodyPr wrap="square" rtlCol="0" anchor="ctr"/>
          <a:lstStyle/>
          <a:p>
            <a:pPr marL="0" indent="0">
              <a:buNone/>
            </a:pPr>
            <a:r>
              <a:rPr lang="en-US" sz="1250" b="1" dirty="0">
                <a:solidFill>
                  <a:srgbClr val="0F1B33"/>
                </a:solidFill>
                <a:latin typeface="Segoe UI" panose="020B0502040204020203" pitchFamily="34" charset="0"/>
                <a:ea typeface="Segoe UI" panose="020B0502040204020203" pitchFamily="34" charset="-122"/>
                <a:cs typeface="Segoe UI" panose="020B0502040204020203" pitchFamily="34" charset="-120"/>
              </a:rPr>
              <a:t>Train-Test Split</a:t>
            </a:r>
            <a:endParaRPr lang="en-US" sz="1250" dirty="0"/>
          </a:p>
        </p:txBody>
      </p:sp>
      <p:sp>
        <p:nvSpPr>
          <p:cNvPr id="24" name="Text 22"/>
          <p:cNvSpPr/>
          <p:nvPr/>
        </p:nvSpPr>
        <p:spPr>
          <a:xfrm>
            <a:off x="1325880" y="5047488"/>
            <a:ext cx="5349240" cy="384048"/>
          </a:xfrm>
          <a:prstGeom prst="rect">
            <a:avLst/>
          </a:prstGeom>
          <a:noFill/>
        </p:spPr>
        <p:txBody>
          <a:bodyPr wrap="square" rtlCol="0" anchor="ctr"/>
          <a:lstStyle/>
          <a:p>
            <a:pPr marL="0" indent="0">
              <a:lnSpc>
                <a:spcPts val="1200"/>
              </a:lnSpc>
              <a:buNone/>
            </a:pPr>
            <a:r>
              <a:rPr lang="en-US" altLang="en-US" sz="970" dirty="0">
                <a:solidFill>
                  <a:srgbClr val="56607A"/>
                </a:solidFill>
                <a:latin typeface="Calibri" panose="020F0502020204030204" pitchFamily="34" charset="0"/>
                <a:ea typeface="Calibri" panose="020F0502020204030204" pitchFamily="34" charset="-122"/>
                <a:cs typeface="Calibri" panose="020F0502020204030204" pitchFamily="34" charset="-120"/>
              </a:rPr>
              <a:t>The prepared dataset was divided into training and testing sets so that the model could learn from one portion of the data and be evaluated on unseen data</a:t>
            </a:r>
            <a:r>
              <a:rPr lang="en-US" sz="970" dirty="0">
                <a:solidFill>
                  <a:srgbClr val="56607A"/>
                </a:solidFill>
                <a:latin typeface="Calibri" panose="020F0502020204030204" pitchFamily="34" charset="0"/>
                <a:ea typeface="Calibri" panose="020F0502020204030204" pitchFamily="34" charset="-122"/>
                <a:cs typeface="Calibri" panose="020F0502020204030204" pitchFamily="34" charset="-120"/>
              </a:rPr>
              <a:t>.</a:t>
            </a:r>
            <a:endParaRPr lang="en-US" sz="970" dirty="0"/>
          </a:p>
        </p:txBody>
      </p:sp>
      <p:sp>
        <p:nvSpPr>
          <p:cNvPr id="25" name="Shape 23"/>
          <p:cNvSpPr/>
          <p:nvPr/>
        </p:nvSpPr>
        <p:spPr>
          <a:xfrm>
            <a:off x="548640" y="5541264"/>
            <a:ext cx="6309360" cy="786384"/>
          </a:xfrm>
          <a:prstGeom prst="roundRect">
            <a:avLst>
              <a:gd name="adj" fmla="val 10465"/>
            </a:avLst>
          </a:prstGeom>
          <a:solidFill>
            <a:srgbClr val="FFFFFF"/>
          </a:solidFill>
          <a:effectLst>
            <a:outerShdw blurRad="101600" dist="25400" dir="5400000" algn="bl" rotWithShape="0">
              <a:srgbClr val="3A4A7A">
                <a:alpha val="16000"/>
              </a:srgbClr>
            </a:outerShdw>
          </a:effectLst>
        </p:spPr>
      </p:sp>
      <p:sp>
        <p:nvSpPr>
          <p:cNvPr id="26" name="Shape 24"/>
          <p:cNvSpPr/>
          <p:nvPr/>
        </p:nvSpPr>
        <p:spPr>
          <a:xfrm>
            <a:off x="713232" y="5715000"/>
            <a:ext cx="438912" cy="438912"/>
          </a:xfrm>
          <a:prstGeom prst="ellipse">
            <a:avLst/>
          </a:prstGeom>
          <a:solidFill>
            <a:srgbClr val="1657E0"/>
          </a:solidFill>
        </p:spPr>
      </p:sp>
      <p:sp>
        <p:nvSpPr>
          <p:cNvPr id="27" name="Text 25"/>
          <p:cNvSpPr/>
          <p:nvPr/>
        </p:nvSpPr>
        <p:spPr>
          <a:xfrm>
            <a:off x="713232" y="5715000"/>
            <a:ext cx="438912" cy="438912"/>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400" dirty="0"/>
          </a:p>
        </p:txBody>
      </p:sp>
      <p:sp>
        <p:nvSpPr>
          <p:cNvPr id="28" name="Text 26"/>
          <p:cNvSpPr/>
          <p:nvPr/>
        </p:nvSpPr>
        <p:spPr>
          <a:xfrm>
            <a:off x="1325880" y="5614416"/>
            <a:ext cx="5349240" cy="274320"/>
          </a:xfrm>
          <a:prstGeom prst="rect">
            <a:avLst/>
          </a:prstGeom>
          <a:noFill/>
        </p:spPr>
        <p:txBody>
          <a:bodyPr wrap="square" rtlCol="0" anchor="ctr"/>
          <a:lstStyle/>
          <a:p>
            <a:pPr marL="0" indent="0">
              <a:buNone/>
            </a:pPr>
            <a:r>
              <a:rPr lang="en-US" sz="1250" b="1" dirty="0">
                <a:solidFill>
                  <a:srgbClr val="0F1B33"/>
                </a:solidFill>
                <a:latin typeface="Segoe UI" panose="020B0502040204020203" pitchFamily="34" charset="0"/>
                <a:ea typeface="Segoe UI" panose="020B0502040204020203" pitchFamily="34" charset="-122"/>
                <a:cs typeface="Segoe UI" panose="020B0502040204020203" pitchFamily="34" charset="-120"/>
              </a:rPr>
              <a:t>Feature Scaling</a:t>
            </a:r>
            <a:endParaRPr lang="en-US" sz="1250" dirty="0"/>
          </a:p>
        </p:txBody>
      </p:sp>
      <p:sp>
        <p:nvSpPr>
          <p:cNvPr id="29" name="Text 27"/>
          <p:cNvSpPr/>
          <p:nvPr/>
        </p:nvSpPr>
        <p:spPr>
          <a:xfrm>
            <a:off x="1325880" y="5907024"/>
            <a:ext cx="5349240" cy="384048"/>
          </a:xfrm>
          <a:prstGeom prst="rect">
            <a:avLst/>
          </a:prstGeom>
          <a:noFill/>
        </p:spPr>
        <p:txBody>
          <a:bodyPr wrap="square" rtlCol="0" anchor="ctr"/>
          <a:lstStyle/>
          <a:p>
            <a:pPr marL="0" indent="0">
              <a:lnSpc>
                <a:spcPts val="1200"/>
              </a:lnSpc>
              <a:buNone/>
            </a:pPr>
            <a:r>
              <a:rPr lang="en-US" altLang="en-US" sz="970" dirty="0">
                <a:solidFill>
                  <a:srgbClr val="56607A"/>
                </a:solidFill>
                <a:latin typeface="Calibri" panose="020F0502020204030204" pitchFamily="34" charset="0"/>
                <a:ea typeface="Calibri" panose="020F0502020204030204" pitchFamily="34" charset="-122"/>
                <a:cs typeface="Calibri" panose="020F0502020204030204" pitchFamily="34" charset="-120"/>
              </a:rPr>
              <a:t>StandardScaler was applied to normalize the numerical feature values and put them on a comparable scale before passing them to the machine-learning model.</a:t>
            </a:r>
            <a:endParaRPr lang="en-US" sz="970" dirty="0"/>
          </a:p>
        </p:txBody>
      </p:sp>
      <p:sp>
        <p:nvSpPr>
          <p:cNvPr id="30" name="Shape 28"/>
          <p:cNvSpPr/>
          <p:nvPr/>
        </p:nvSpPr>
        <p:spPr>
          <a:xfrm>
            <a:off x="7086600" y="1907540"/>
            <a:ext cx="4914900" cy="4617720"/>
          </a:xfrm>
          <a:prstGeom prst="roundRect">
            <a:avLst>
              <a:gd name="adj" fmla="val 1978"/>
            </a:avLst>
          </a:prstGeom>
          <a:solidFill>
            <a:srgbClr val="FFFFFF"/>
          </a:solidFill>
          <a:effectLst>
            <a:outerShdw blurRad="101600" dist="25400" dir="5400000" algn="bl" rotWithShape="0">
              <a:srgbClr val="3A4A7A">
                <a:alpha val="16000"/>
              </a:srgbClr>
            </a:outerShdw>
          </a:effectLst>
        </p:spPr>
      </p:sp>
      <p:sp>
        <p:nvSpPr>
          <p:cNvPr id="31" name="Text 29"/>
          <p:cNvSpPr/>
          <p:nvPr/>
        </p:nvSpPr>
        <p:spPr>
          <a:xfrm>
            <a:off x="7285482" y="1897253"/>
            <a:ext cx="4114800" cy="292608"/>
          </a:xfrm>
          <a:prstGeom prst="rect">
            <a:avLst/>
          </a:prstGeom>
          <a:noFill/>
        </p:spPr>
        <p:txBody>
          <a:bodyPr wrap="square" rtlCol="0" anchor="ctr"/>
          <a:lstStyle/>
          <a:p>
            <a:pPr marL="0" indent="0" algn="ctr">
              <a:buNone/>
            </a:pPr>
            <a:r>
              <a:rPr lang="en-US" sz="1300" b="1" dirty="0">
                <a:solidFill>
                  <a:srgbClr val="0F1B33"/>
                </a:solidFill>
                <a:latin typeface="Segoe UI" panose="020B0502040204020203" pitchFamily="34" charset="0"/>
                <a:ea typeface="Segoe UI" panose="020B0502040204020203" pitchFamily="34" charset="-122"/>
                <a:cs typeface="Segoe UI" panose="020B0502040204020203" pitchFamily="34" charset="-120"/>
              </a:rPr>
              <a:t>            Correlation Matrix</a:t>
            </a:r>
            <a:endParaRPr lang="en-US" sz="1300" dirty="0"/>
          </a:p>
        </p:txBody>
      </p:sp>
      <p:pic>
        <p:nvPicPr>
          <p:cNvPr id="32" name="Image 0" descr="/home/claude/proj2/cropped/correlation_matrix.png"/>
          <p:cNvPicPr>
            <a:picLocks noChangeAspect="1"/>
          </p:cNvPicPr>
          <p:nvPr/>
        </p:nvPicPr>
        <p:blipFill>
          <a:blip r:embed="rId1"/>
          <a:srcRect l="23567" r="21483" b="4598"/>
          <a:stretch>
            <a:fillRect/>
          </a:stretch>
        </p:blipFill>
        <p:spPr>
          <a:xfrm>
            <a:off x="7085965" y="2234565"/>
            <a:ext cx="4914265" cy="42386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8229600" cy="310896"/>
          </a:xfrm>
          <a:prstGeom prst="rect">
            <a:avLst/>
          </a:prstGeom>
          <a:noFill/>
        </p:spPr>
        <p:txBody>
          <a:bodyPr wrap="square" rtlCol="0" anchor="ctr"/>
          <a:lstStyle/>
          <a:p>
            <a:pPr marL="0" indent="0">
              <a:buNone/>
            </a:pPr>
            <a:r>
              <a:rPr lang="en-US" sz="1200" b="1" kern="0" spc="200" dirty="0">
                <a:solidFill>
                  <a:srgbClr val="1657E0"/>
                </a:solidFill>
                <a:latin typeface="Times New Roman" panose="02020603050405020304" charset="0"/>
                <a:ea typeface="Calibri" panose="020F0502020204030204" pitchFamily="34" charset="-122"/>
                <a:cs typeface="Times New Roman" panose="02020603050405020304" charset="0"/>
              </a:rPr>
              <a:t>MACHINE LEARNING MODELS</a:t>
            </a:r>
            <a:endParaRPr lang="en-US" sz="1200" dirty="0">
              <a:latin typeface="Times New Roman" panose="02020603050405020304" charset="0"/>
              <a:cs typeface="Times New Roman" panose="02020603050405020304" charset="0"/>
            </a:endParaRPr>
          </a:p>
        </p:txBody>
      </p:sp>
      <p:sp>
        <p:nvSpPr>
          <p:cNvPr id="3" name="Text 1"/>
          <p:cNvSpPr/>
          <p:nvPr/>
        </p:nvSpPr>
        <p:spPr>
          <a:xfrm>
            <a:off x="530352" y="640080"/>
            <a:ext cx="11155680" cy="868680"/>
          </a:xfrm>
          <a:prstGeom prst="rect">
            <a:avLst/>
          </a:prstGeom>
          <a:noFill/>
        </p:spPr>
        <p:txBody>
          <a:bodyPr wrap="square" rtlCol="0" anchor="ctr"/>
          <a:lstStyle/>
          <a:p>
            <a:pPr marL="0" indent="0">
              <a:buNone/>
            </a:pPr>
            <a:r>
              <a:rPr lang="en-US" sz="3000" b="1" dirty="0">
                <a:solidFill>
                  <a:srgbClr val="0F1B33"/>
                </a:solidFill>
                <a:latin typeface="Times New Roman" panose="02020603050405020304" charset="0"/>
                <a:ea typeface="Segoe UI" panose="020B0502040204020203" pitchFamily="34" charset="-122"/>
                <a:cs typeface="Times New Roman" panose="02020603050405020304" charset="0"/>
              </a:rPr>
              <a:t>Comparing Models to Find the Best Predictor</a:t>
            </a:r>
            <a:endParaRPr lang="en-US" sz="3000" dirty="0">
              <a:latin typeface="Times New Roman" panose="02020603050405020304" charset="0"/>
              <a:cs typeface="Times New Roman" panose="02020603050405020304" charset="0"/>
            </a:endParaRPr>
          </a:p>
        </p:txBody>
      </p:sp>
      <p:sp>
        <p:nvSpPr>
          <p:cNvPr id="4" name="Text 2"/>
          <p:cNvSpPr/>
          <p:nvPr/>
        </p:nvSpPr>
        <p:spPr>
          <a:xfrm>
            <a:off x="548640" y="1322705"/>
            <a:ext cx="6909435" cy="551815"/>
          </a:xfrm>
          <a:prstGeom prst="rect">
            <a:avLst/>
          </a:prstGeom>
          <a:noFill/>
        </p:spPr>
        <p:txBody>
          <a:bodyPr wrap="square" rtlCol="0" anchor="ctr"/>
          <a:lstStyle/>
          <a:p>
            <a:pPr marL="0" indent="0">
              <a:buNone/>
            </a:pPr>
            <a:r>
              <a:rPr lang="en-US" altLang="en-US" dirty="0">
                <a:solidFill>
                  <a:srgbClr val="56607A"/>
                </a:solidFill>
                <a:latin typeface="Times New Roman" panose="02020603050405020304" charset="0"/>
                <a:ea typeface="Calibri" panose="020F0502020204030204" pitchFamily="34" charset="-122"/>
                <a:cs typeface="Times New Roman" panose="02020603050405020304" charset="0"/>
              </a:rPr>
              <a:t>Multiple classification models were trained and compared using their predictive performance, with Random Forest selected as the final model.</a:t>
            </a:r>
            <a:endParaRPr lang="en-US" altLang="en-US" dirty="0">
              <a:solidFill>
                <a:srgbClr val="56607A"/>
              </a:solidFill>
              <a:latin typeface="Times New Roman" panose="02020603050405020304" charset="0"/>
              <a:ea typeface="Calibri" panose="020F0502020204030204" pitchFamily="34" charset="-122"/>
              <a:cs typeface="Times New Roman" panose="02020603050405020304" charset="0"/>
            </a:endParaRPr>
          </a:p>
        </p:txBody>
      </p:sp>
      <p:sp>
        <p:nvSpPr>
          <p:cNvPr id="5" name="Shape 3"/>
          <p:cNvSpPr/>
          <p:nvPr/>
        </p:nvSpPr>
        <p:spPr>
          <a:xfrm>
            <a:off x="548640" y="2148840"/>
            <a:ext cx="6309360" cy="841248"/>
          </a:xfrm>
          <a:prstGeom prst="roundRect">
            <a:avLst>
              <a:gd name="adj" fmla="val 9783"/>
            </a:avLst>
          </a:prstGeom>
          <a:solidFill>
            <a:srgbClr val="FFFFFF"/>
          </a:solidFill>
          <a:effectLst>
            <a:outerShdw blurRad="101600" dist="25400" dir="5400000" algn="bl" rotWithShape="0">
              <a:srgbClr val="3A4A7A">
                <a:alpha val="16000"/>
              </a:srgbClr>
            </a:outerShdw>
          </a:effectLst>
        </p:spPr>
      </p:sp>
      <p:sp>
        <p:nvSpPr>
          <p:cNvPr id="6" name="Text 4"/>
          <p:cNvSpPr/>
          <p:nvPr/>
        </p:nvSpPr>
        <p:spPr>
          <a:xfrm>
            <a:off x="822960" y="2240280"/>
            <a:ext cx="3291840" cy="365760"/>
          </a:xfrm>
          <a:prstGeom prst="rect">
            <a:avLst/>
          </a:prstGeom>
          <a:noFill/>
        </p:spPr>
        <p:txBody>
          <a:bodyPr wrap="square" rtlCol="0" anchor="ctr"/>
          <a:lstStyle/>
          <a:p>
            <a:pPr marL="0" indent="0">
              <a:buNone/>
            </a:pPr>
            <a:r>
              <a:rPr lang="en-US" sz="1450" b="1" dirty="0">
                <a:solidFill>
                  <a:srgbClr val="0F1B33"/>
                </a:solidFill>
                <a:latin typeface="Segoe UI" panose="020B0502040204020203" pitchFamily="34" charset="0"/>
                <a:ea typeface="Segoe UI" panose="020B0502040204020203" pitchFamily="34" charset="-122"/>
                <a:cs typeface="Segoe UI" panose="020B0502040204020203" pitchFamily="34" charset="-120"/>
              </a:rPr>
              <a:t>Logistic Regression</a:t>
            </a:r>
            <a:endParaRPr lang="en-US" sz="1450" dirty="0"/>
          </a:p>
        </p:txBody>
      </p:sp>
      <p:sp>
        <p:nvSpPr>
          <p:cNvPr id="7" name="Text 5"/>
          <p:cNvSpPr/>
          <p:nvPr/>
        </p:nvSpPr>
        <p:spPr>
          <a:xfrm>
            <a:off x="4114800" y="2148840"/>
            <a:ext cx="1463040" cy="841248"/>
          </a:xfrm>
          <a:prstGeom prst="rect">
            <a:avLst/>
          </a:prstGeom>
          <a:noFill/>
        </p:spPr>
        <p:txBody>
          <a:bodyPr wrap="square" rtlCol="0" anchor="ctr"/>
          <a:lstStyle/>
          <a:p>
            <a:pPr marL="0" indent="0" algn="r">
              <a:buNone/>
            </a:pPr>
            <a:r>
              <a:rPr lang="en-US" sz="2000" b="1" dirty="0">
                <a:solidFill>
                  <a:srgbClr val="1657E0"/>
                </a:solidFill>
                <a:latin typeface="Segoe UI" panose="020B0502040204020203" pitchFamily="34" charset="0"/>
                <a:ea typeface="Segoe UI" panose="020B0502040204020203" pitchFamily="34" charset="-122"/>
                <a:cs typeface="Segoe UI" panose="020B0502040204020203" pitchFamily="34" charset="-120"/>
              </a:rPr>
              <a:t>97.30%</a:t>
            </a:r>
            <a:endParaRPr lang="en-US" sz="2000" dirty="0"/>
          </a:p>
        </p:txBody>
      </p:sp>
      <p:sp>
        <p:nvSpPr>
          <p:cNvPr id="8" name="Text 6"/>
          <p:cNvSpPr/>
          <p:nvPr/>
        </p:nvSpPr>
        <p:spPr>
          <a:xfrm>
            <a:off x="822960" y="2587752"/>
            <a:ext cx="3291840" cy="274320"/>
          </a:xfrm>
          <a:prstGeom prst="rect">
            <a:avLst/>
          </a:prstGeom>
          <a:noFill/>
        </p:spPr>
        <p:txBody>
          <a:bodyPr wrap="square" rtlCol="0" anchor="ctr"/>
          <a:lstStyle/>
          <a:p>
            <a:pPr marL="0" indent="0">
              <a:buNone/>
            </a:pPr>
            <a:r>
              <a:rPr lang="en-US" sz="1000" dirty="0">
                <a:solidFill>
                  <a:srgbClr val="56607A"/>
                </a:solidFill>
                <a:latin typeface="Calibri" panose="020F0502020204030204" pitchFamily="34" charset="0"/>
                <a:ea typeface="Calibri" panose="020F0502020204030204" pitchFamily="34" charset="-122"/>
                <a:cs typeface="Calibri" panose="020F0502020204030204" pitchFamily="34" charset="-120"/>
              </a:rPr>
              <a:t>Accuracy</a:t>
            </a:r>
            <a:endParaRPr lang="en-US" sz="1000" dirty="0"/>
          </a:p>
        </p:txBody>
      </p:sp>
      <p:sp>
        <p:nvSpPr>
          <p:cNvPr id="9" name="Shape 7"/>
          <p:cNvSpPr/>
          <p:nvPr/>
        </p:nvSpPr>
        <p:spPr>
          <a:xfrm>
            <a:off x="548640" y="3099816"/>
            <a:ext cx="6309360" cy="841248"/>
          </a:xfrm>
          <a:prstGeom prst="roundRect">
            <a:avLst>
              <a:gd name="adj" fmla="val 9783"/>
            </a:avLst>
          </a:prstGeom>
          <a:solidFill>
            <a:srgbClr val="FFFFFF"/>
          </a:solidFill>
          <a:effectLst>
            <a:outerShdw blurRad="101600" dist="25400" dir="5400000" algn="bl" rotWithShape="0">
              <a:srgbClr val="3A4A7A">
                <a:alpha val="16000"/>
              </a:srgbClr>
            </a:outerShdw>
          </a:effectLst>
        </p:spPr>
      </p:sp>
      <p:sp>
        <p:nvSpPr>
          <p:cNvPr id="10" name="Text 8"/>
          <p:cNvSpPr/>
          <p:nvPr/>
        </p:nvSpPr>
        <p:spPr>
          <a:xfrm>
            <a:off x="822960" y="3191256"/>
            <a:ext cx="3291840" cy="365760"/>
          </a:xfrm>
          <a:prstGeom prst="rect">
            <a:avLst/>
          </a:prstGeom>
          <a:noFill/>
        </p:spPr>
        <p:txBody>
          <a:bodyPr wrap="square" rtlCol="0" anchor="ctr"/>
          <a:lstStyle/>
          <a:p>
            <a:pPr marL="0" indent="0">
              <a:buNone/>
            </a:pPr>
            <a:r>
              <a:rPr lang="en-US" sz="1450" b="1" dirty="0">
                <a:solidFill>
                  <a:srgbClr val="0F1B33"/>
                </a:solidFill>
                <a:latin typeface="Segoe UI" panose="020B0502040204020203" pitchFamily="34" charset="0"/>
                <a:ea typeface="Segoe UI" panose="020B0502040204020203" pitchFamily="34" charset="-122"/>
                <a:cs typeface="Segoe UI" panose="020B0502040204020203" pitchFamily="34" charset="-120"/>
              </a:rPr>
              <a:t>Decision Tree</a:t>
            </a:r>
            <a:endParaRPr lang="en-US" sz="1450" dirty="0"/>
          </a:p>
        </p:txBody>
      </p:sp>
      <p:sp>
        <p:nvSpPr>
          <p:cNvPr id="11" name="Text 9"/>
          <p:cNvSpPr/>
          <p:nvPr/>
        </p:nvSpPr>
        <p:spPr>
          <a:xfrm>
            <a:off x="4114800" y="3099816"/>
            <a:ext cx="1463040" cy="841248"/>
          </a:xfrm>
          <a:prstGeom prst="rect">
            <a:avLst/>
          </a:prstGeom>
          <a:noFill/>
        </p:spPr>
        <p:txBody>
          <a:bodyPr wrap="square" rtlCol="0" anchor="ctr"/>
          <a:lstStyle/>
          <a:p>
            <a:pPr marL="0" indent="0" algn="r">
              <a:buNone/>
            </a:pPr>
            <a:r>
              <a:rPr lang="en-US" sz="2000" b="1" dirty="0">
                <a:solidFill>
                  <a:srgbClr val="1657E0"/>
                </a:solidFill>
                <a:latin typeface="Segoe UI" panose="020B0502040204020203" pitchFamily="34" charset="0"/>
                <a:ea typeface="Segoe UI" panose="020B0502040204020203" pitchFamily="34" charset="-122"/>
                <a:cs typeface="Segoe UI" panose="020B0502040204020203" pitchFamily="34" charset="-120"/>
              </a:rPr>
              <a:t>97.85%</a:t>
            </a:r>
            <a:endParaRPr lang="en-US" sz="2000" dirty="0"/>
          </a:p>
        </p:txBody>
      </p:sp>
      <p:sp>
        <p:nvSpPr>
          <p:cNvPr id="12" name="Text 10"/>
          <p:cNvSpPr/>
          <p:nvPr/>
        </p:nvSpPr>
        <p:spPr>
          <a:xfrm>
            <a:off x="822960" y="3538728"/>
            <a:ext cx="3291840" cy="274320"/>
          </a:xfrm>
          <a:prstGeom prst="rect">
            <a:avLst/>
          </a:prstGeom>
          <a:noFill/>
        </p:spPr>
        <p:txBody>
          <a:bodyPr wrap="square" rtlCol="0" anchor="ctr"/>
          <a:lstStyle/>
          <a:p>
            <a:pPr marL="0" indent="0">
              <a:buNone/>
            </a:pPr>
            <a:r>
              <a:rPr lang="en-US" sz="1000" dirty="0">
                <a:solidFill>
                  <a:srgbClr val="56607A"/>
                </a:solidFill>
                <a:latin typeface="Calibri" panose="020F0502020204030204" pitchFamily="34" charset="0"/>
                <a:ea typeface="Calibri" panose="020F0502020204030204" pitchFamily="34" charset="-122"/>
                <a:cs typeface="Calibri" panose="020F0502020204030204" pitchFamily="34" charset="-120"/>
              </a:rPr>
              <a:t>Accuracy</a:t>
            </a:r>
            <a:endParaRPr lang="en-US" sz="1000" dirty="0"/>
          </a:p>
        </p:txBody>
      </p:sp>
      <p:sp>
        <p:nvSpPr>
          <p:cNvPr id="13" name="Shape 11"/>
          <p:cNvSpPr/>
          <p:nvPr/>
        </p:nvSpPr>
        <p:spPr>
          <a:xfrm>
            <a:off x="548640" y="4050792"/>
            <a:ext cx="6309360" cy="841248"/>
          </a:xfrm>
          <a:prstGeom prst="roundRect">
            <a:avLst>
              <a:gd name="adj" fmla="val 9783"/>
            </a:avLst>
          </a:prstGeom>
          <a:solidFill>
            <a:srgbClr val="0A1E4A"/>
          </a:solidFill>
          <a:ln w="19050">
            <a:solidFill>
              <a:srgbClr val="17A566"/>
            </a:solidFill>
            <a:prstDash val="solid"/>
          </a:ln>
          <a:effectLst>
            <a:outerShdw blurRad="101600" dist="25400" dir="5400000" algn="bl" rotWithShape="0">
              <a:srgbClr val="3A4A7A">
                <a:alpha val="16000"/>
              </a:srgbClr>
            </a:outerShdw>
          </a:effectLst>
        </p:spPr>
      </p:sp>
      <p:sp>
        <p:nvSpPr>
          <p:cNvPr id="14" name="Text 12"/>
          <p:cNvSpPr/>
          <p:nvPr/>
        </p:nvSpPr>
        <p:spPr>
          <a:xfrm>
            <a:off x="822960" y="4142232"/>
            <a:ext cx="3291840" cy="365760"/>
          </a:xfrm>
          <a:prstGeom prst="rect">
            <a:avLst/>
          </a:prstGeom>
          <a:noFill/>
        </p:spPr>
        <p:txBody>
          <a:bodyPr wrap="square" rtlCol="0" anchor="ctr"/>
          <a:lstStyle/>
          <a:p>
            <a:pPr marL="0" indent="0">
              <a:buNone/>
            </a:pPr>
            <a:r>
              <a:rPr lang="en-US" sz="1450" b="1" dirty="0">
                <a:solidFill>
                  <a:srgbClr val="FFFFFF"/>
                </a:solidFill>
                <a:latin typeface="Segoe UI" panose="020B0502040204020203" pitchFamily="34" charset="0"/>
                <a:ea typeface="Segoe UI" panose="020B0502040204020203" pitchFamily="34" charset="-122"/>
                <a:cs typeface="Segoe UI" panose="020B0502040204020203" pitchFamily="34" charset="-120"/>
              </a:rPr>
              <a:t>Random Forest</a:t>
            </a:r>
            <a:endParaRPr lang="en-US" sz="1450" dirty="0"/>
          </a:p>
        </p:txBody>
      </p:sp>
      <p:sp>
        <p:nvSpPr>
          <p:cNvPr id="15" name="Text 13"/>
          <p:cNvSpPr/>
          <p:nvPr/>
        </p:nvSpPr>
        <p:spPr>
          <a:xfrm>
            <a:off x="4114800" y="4050792"/>
            <a:ext cx="1463040" cy="841248"/>
          </a:xfrm>
          <a:prstGeom prst="rect">
            <a:avLst/>
          </a:prstGeom>
          <a:noFill/>
        </p:spPr>
        <p:txBody>
          <a:bodyPr wrap="square" rtlCol="0" anchor="ctr"/>
          <a:lstStyle/>
          <a:p>
            <a:pPr marL="0" indent="0" algn="r">
              <a:buNone/>
            </a:pPr>
            <a:r>
              <a:rPr lang="en-US" sz="2000" b="1" dirty="0">
                <a:solidFill>
                  <a:srgbClr val="22D3EE"/>
                </a:solidFill>
                <a:latin typeface="Segoe UI" panose="020B0502040204020203" pitchFamily="34" charset="0"/>
                <a:ea typeface="Segoe UI" panose="020B0502040204020203" pitchFamily="34" charset="-122"/>
                <a:cs typeface="Segoe UI" panose="020B0502040204020203" pitchFamily="34" charset="-120"/>
              </a:rPr>
              <a:t>98.40%</a:t>
            </a:r>
            <a:endParaRPr lang="en-US" sz="2000" dirty="0"/>
          </a:p>
        </p:txBody>
      </p:sp>
      <p:sp>
        <p:nvSpPr>
          <p:cNvPr id="16" name="Shape 14"/>
          <p:cNvSpPr/>
          <p:nvPr/>
        </p:nvSpPr>
        <p:spPr>
          <a:xfrm>
            <a:off x="4526280" y="4270248"/>
            <a:ext cx="1737360" cy="402336"/>
          </a:xfrm>
          <a:prstGeom prst="roundRect">
            <a:avLst>
              <a:gd name="adj" fmla="val 50000"/>
            </a:avLst>
          </a:prstGeom>
          <a:solidFill>
            <a:srgbClr val="17A566"/>
          </a:solidFill>
        </p:spPr>
      </p:sp>
      <p:sp>
        <p:nvSpPr>
          <p:cNvPr id="17" name="Text 15"/>
          <p:cNvSpPr/>
          <p:nvPr/>
        </p:nvSpPr>
        <p:spPr>
          <a:xfrm>
            <a:off x="4526280" y="4270248"/>
            <a:ext cx="1737360" cy="402336"/>
          </a:xfrm>
          <a:prstGeom prst="rect">
            <a:avLst/>
          </a:prstGeom>
          <a:noFill/>
        </p:spPr>
        <p:txBody>
          <a:bodyPr wrap="square"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 SELECTED</a:t>
            </a:r>
            <a:endParaRPr lang="en-US" sz="1050" dirty="0"/>
          </a:p>
        </p:txBody>
      </p:sp>
      <p:sp>
        <p:nvSpPr>
          <p:cNvPr id="18" name="Shape 16"/>
          <p:cNvSpPr/>
          <p:nvPr/>
        </p:nvSpPr>
        <p:spPr>
          <a:xfrm>
            <a:off x="548640" y="5001768"/>
            <a:ext cx="6309360" cy="841248"/>
          </a:xfrm>
          <a:prstGeom prst="roundRect">
            <a:avLst>
              <a:gd name="adj" fmla="val 9783"/>
            </a:avLst>
          </a:prstGeom>
          <a:solidFill>
            <a:srgbClr val="FFFFFF"/>
          </a:solidFill>
          <a:effectLst>
            <a:outerShdw blurRad="101600" dist="25400" dir="5400000" algn="bl" rotWithShape="0">
              <a:srgbClr val="3A4A7A">
                <a:alpha val="16000"/>
              </a:srgbClr>
            </a:outerShdw>
          </a:effectLst>
        </p:spPr>
      </p:sp>
      <p:sp>
        <p:nvSpPr>
          <p:cNvPr id="19" name="Text 17"/>
          <p:cNvSpPr/>
          <p:nvPr/>
        </p:nvSpPr>
        <p:spPr>
          <a:xfrm>
            <a:off x="822960" y="5093208"/>
            <a:ext cx="3291840" cy="365760"/>
          </a:xfrm>
          <a:prstGeom prst="rect">
            <a:avLst/>
          </a:prstGeom>
          <a:noFill/>
        </p:spPr>
        <p:txBody>
          <a:bodyPr wrap="square" rtlCol="0" anchor="ctr"/>
          <a:lstStyle/>
          <a:p>
            <a:pPr marL="0" indent="0">
              <a:buNone/>
            </a:pPr>
            <a:r>
              <a:rPr lang="en-US" sz="1450" b="1" dirty="0">
                <a:solidFill>
                  <a:srgbClr val="0F1B33"/>
                </a:solidFill>
                <a:latin typeface="Segoe UI" panose="020B0502040204020203" pitchFamily="34" charset="0"/>
                <a:ea typeface="Segoe UI" panose="020B0502040204020203" pitchFamily="34" charset="-122"/>
                <a:cs typeface="Segoe UI" panose="020B0502040204020203" pitchFamily="34" charset="-120"/>
              </a:rPr>
              <a:t>SVM</a:t>
            </a:r>
            <a:endParaRPr lang="en-US" sz="1450" dirty="0"/>
          </a:p>
        </p:txBody>
      </p:sp>
      <p:sp>
        <p:nvSpPr>
          <p:cNvPr id="20" name="Text 18"/>
          <p:cNvSpPr/>
          <p:nvPr/>
        </p:nvSpPr>
        <p:spPr>
          <a:xfrm>
            <a:off x="4114800" y="5001768"/>
            <a:ext cx="1463040" cy="841248"/>
          </a:xfrm>
          <a:prstGeom prst="rect">
            <a:avLst/>
          </a:prstGeom>
          <a:noFill/>
        </p:spPr>
        <p:txBody>
          <a:bodyPr wrap="square" rtlCol="0" anchor="ctr"/>
          <a:lstStyle/>
          <a:p>
            <a:pPr marL="0" indent="0" algn="r">
              <a:buNone/>
            </a:pPr>
            <a:r>
              <a:rPr lang="en-US" sz="2000" b="1" dirty="0">
                <a:solidFill>
                  <a:srgbClr val="1657E0"/>
                </a:solidFill>
                <a:latin typeface="Segoe UI" panose="020B0502040204020203" pitchFamily="34" charset="0"/>
                <a:ea typeface="Segoe UI" panose="020B0502040204020203" pitchFamily="34" charset="-122"/>
                <a:cs typeface="Segoe UI" panose="020B0502040204020203" pitchFamily="34" charset="-120"/>
              </a:rPr>
              <a:t>97.70%</a:t>
            </a:r>
            <a:endParaRPr lang="en-US" sz="2000" dirty="0"/>
          </a:p>
        </p:txBody>
      </p:sp>
      <p:sp>
        <p:nvSpPr>
          <p:cNvPr id="21" name="Text 19"/>
          <p:cNvSpPr/>
          <p:nvPr/>
        </p:nvSpPr>
        <p:spPr>
          <a:xfrm>
            <a:off x="822960" y="5440680"/>
            <a:ext cx="3291840" cy="274320"/>
          </a:xfrm>
          <a:prstGeom prst="rect">
            <a:avLst/>
          </a:prstGeom>
          <a:noFill/>
        </p:spPr>
        <p:txBody>
          <a:bodyPr wrap="square" rtlCol="0" anchor="ctr"/>
          <a:lstStyle/>
          <a:p>
            <a:pPr marL="0" indent="0">
              <a:buNone/>
            </a:pPr>
            <a:r>
              <a:rPr lang="en-US" sz="1000" dirty="0">
                <a:solidFill>
                  <a:srgbClr val="56607A"/>
                </a:solidFill>
                <a:latin typeface="Calibri" panose="020F0502020204030204" pitchFamily="34" charset="0"/>
                <a:ea typeface="Calibri" panose="020F0502020204030204" pitchFamily="34" charset="-122"/>
                <a:cs typeface="Calibri" panose="020F0502020204030204" pitchFamily="34" charset="-120"/>
              </a:rPr>
              <a:t>Accuracy</a:t>
            </a:r>
            <a:endParaRPr lang="en-US" sz="1000" dirty="0"/>
          </a:p>
        </p:txBody>
      </p:sp>
      <p:pic>
        <p:nvPicPr>
          <p:cNvPr id="24" name="Image 0" descr="/home/claude/proj2/cropped/feat_importance_chart.png"/>
          <p:cNvPicPr>
            <a:picLocks noChangeAspect="1"/>
          </p:cNvPicPr>
          <p:nvPr/>
        </p:nvPicPr>
        <p:blipFill>
          <a:blip r:embed="rId1"/>
          <a:srcRect l="12293" t="1430" r="26522" b="7131"/>
          <a:stretch>
            <a:fillRect/>
          </a:stretch>
        </p:blipFill>
        <p:spPr>
          <a:xfrm>
            <a:off x="7404735" y="2838450"/>
            <a:ext cx="4787265" cy="3884295"/>
          </a:xfrm>
          <a:prstGeom prst="rect">
            <a:avLst/>
          </a:prstGeom>
        </p:spPr>
      </p:pic>
      <p:pic>
        <p:nvPicPr>
          <p:cNvPr id="28" name="Picture 27" descr="Screenshot (84)"/>
          <p:cNvPicPr>
            <a:picLocks noChangeAspect="1"/>
          </p:cNvPicPr>
          <p:nvPr/>
        </p:nvPicPr>
        <p:blipFill>
          <a:blip r:embed="rId2"/>
          <a:srcRect l="11570" t="12660" r="39501" b="17368"/>
          <a:stretch>
            <a:fillRect/>
          </a:stretch>
        </p:blipFill>
        <p:spPr>
          <a:xfrm>
            <a:off x="8170545" y="640715"/>
            <a:ext cx="3811270" cy="21977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p:spPr>
        <p:txBody>
          <a:bodyPr wrap="square" rtlCol="0" anchor="ctr"/>
          <a:lstStyle/>
          <a:p>
            <a:pPr marL="0" indent="0">
              <a:buNone/>
            </a:pPr>
            <a:r>
              <a:rPr lang="en-US" sz="1200" b="1" kern="0" spc="200" dirty="0">
                <a:solidFill>
                  <a:srgbClr val="4B4FE0"/>
                </a:solidFill>
                <a:latin typeface="Times New Roman" panose="02020603050405020304" charset="0"/>
                <a:ea typeface="Calibri" panose="020F0502020204030204" pitchFamily="34" charset="-122"/>
                <a:cs typeface="Times New Roman" panose="02020603050405020304" charset="0"/>
              </a:rPr>
              <a:t>TECHNOLOGY STACK</a:t>
            </a:r>
            <a:endParaRPr lang="en-US" sz="1200" dirty="0">
              <a:latin typeface="Times New Roman" panose="02020603050405020304" charset="0"/>
              <a:cs typeface="Times New Roman" panose="02020603050405020304" charset="0"/>
            </a:endParaRPr>
          </a:p>
        </p:txBody>
      </p:sp>
      <p:sp>
        <p:nvSpPr>
          <p:cNvPr id="3" name="Text 1"/>
          <p:cNvSpPr/>
          <p:nvPr/>
        </p:nvSpPr>
        <p:spPr>
          <a:xfrm>
            <a:off x="530352" y="658368"/>
            <a:ext cx="11064240" cy="822960"/>
          </a:xfrm>
          <a:prstGeom prst="rect">
            <a:avLst/>
          </a:prstGeom>
          <a:noFill/>
        </p:spPr>
        <p:txBody>
          <a:bodyPr wrap="square" rtlCol="0" anchor="ctr"/>
          <a:lstStyle/>
          <a:p>
            <a:pPr marL="0" indent="0">
              <a:buNone/>
            </a:pPr>
            <a:r>
              <a:rPr lang="en-US" sz="3000" b="1" dirty="0">
                <a:solidFill>
                  <a:srgbClr val="1C2140"/>
                </a:solidFill>
                <a:latin typeface="Times New Roman" panose="02020603050405020304" charset="0"/>
                <a:ea typeface="Century Schoolbook" panose="02040604050505020304" pitchFamily="34" charset="-122"/>
                <a:cs typeface="Times New Roman" panose="02020603050405020304" charset="0"/>
              </a:rPr>
              <a:t>Tools &amp; Technologies Used</a:t>
            </a:r>
            <a:endParaRPr lang="en-US" sz="3000" dirty="0">
              <a:latin typeface="Times New Roman" panose="02020603050405020304" charset="0"/>
              <a:cs typeface="Times New Roman" panose="02020603050405020304" charset="0"/>
            </a:endParaRPr>
          </a:p>
        </p:txBody>
      </p:sp>
      <p:sp>
        <p:nvSpPr>
          <p:cNvPr id="4" name="Text 2"/>
          <p:cNvSpPr/>
          <p:nvPr/>
        </p:nvSpPr>
        <p:spPr>
          <a:xfrm>
            <a:off x="548640" y="1417320"/>
            <a:ext cx="11064240" cy="548640"/>
          </a:xfrm>
          <a:prstGeom prst="rect">
            <a:avLst/>
          </a:prstGeom>
          <a:noFill/>
        </p:spPr>
        <p:txBody>
          <a:bodyPr wrap="square" rtlCol="0" anchor="ctr"/>
          <a:lstStyle/>
          <a:p>
            <a:pPr marL="0" indent="0">
              <a:lnSpc>
                <a:spcPts val="1800"/>
              </a:lnSpc>
              <a:buNone/>
            </a:pPr>
            <a:r>
              <a:rPr lang="en-US" dirty="0">
                <a:solidFill>
                  <a:srgbClr val="5B6178"/>
                </a:solidFill>
                <a:latin typeface="Times New Roman" panose="02020603050405020304" charset="0"/>
                <a:ea typeface="Calibri" panose="020F0502020204030204" pitchFamily="34" charset="-122"/>
                <a:cs typeface="Times New Roman" panose="02020603050405020304" charset="0"/>
              </a:rPr>
              <a:t>The system is built on industry-standard open-source and cloud-native technologies, ensuring scalability, reliability, and ease of integration with existing enterprise infrastructure.</a:t>
            </a:r>
            <a:endParaRPr lang="en-US" dirty="0">
              <a:latin typeface="Times New Roman" panose="02020603050405020304" charset="0"/>
              <a:cs typeface="Times New Roman" panose="02020603050405020304" charset="0"/>
            </a:endParaRPr>
          </a:p>
        </p:txBody>
      </p:sp>
      <p:sp>
        <p:nvSpPr>
          <p:cNvPr id="5" name="Text 3"/>
          <p:cNvSpPr/>
          <p:nvPr/>
        </p:nvSpPr>
        <p:spPr>
          <a:xfrm>
            <a:off x="548640" y="2148840"/>
            <a:ext cx="5394960" cy="274320"/>
          </a:xfrm>
          <a:prstGeom prst="rect">
            <a:avLst/>
          </a:prstGeom>
          <a:noFill/>
        </p:spPr>
        <p:txBody>
          <a:bodyPr wrap="square" rtlCol="0" anchor="ctr"/>
          <a:lstStyle/>
          <a:p>
            <a:pPr marL="0" indent="0">
              <a:buNone/>
            </a:pPr>
            <a:r>
              <a:rPr lang="en-US" sz="1600" b="1" kern="0" spc="150" dirty="0">
                <a:solidFill>
                  <a:srgbClr val="4B4FE0"/>
                </a:solidFill>
                <a:latin typeface="Times New Roman" panose="02020603050405020304" charset="0"/>
                <a:ea typeface="Calibri" panose="020F0502020204030204" pitchFamily="34" charset="-122"/>
                <a:cs typeface="Times New Roman" panose="02020603050405020304" charset="0"/>
              </a:rPr>
              <a:t>DATA &amp; ML INFRASTRUCTURE</a:t>
            </a:r>
            <a:endParaRPr lang="en-US" sz="1600" dirty="0">
              <a:latin typeface="Times New Roman" panose="02020603050405020304" charset="0"/>
              <a:cs typeface="Times New Roman" panose="02020603050405020304" charset="0"/>
            </a:endParaRPr>
          </a:p>
        </p:txBody>
      </p:sp>
      <p:sp>
        <p:nvSpPr>
          <p:cNvPr id="6" name="Text 4"/>
          <p:cNvSpPr/>
          <p:nvPr/>
        </p:nvSpPr>
        <p:spPr>
          <a:xfrm>
            <a:off x="6217920" y="2148840"/>
            <a:ext cx="5394960" cy="274320"/>
          </a:xfrm>
          <a:prstGeom prst="rect">
            <a:avLst/>
          </a:prstGeom>
          <a:noFill/>
        </p:spPr>
        <p:txBody>
          <a:bodyPr wrap="square" rtlCol="0" anchor="ctr"/>
          <a:lstStyle/>
          <a:p>
            <a:pPr marL="0" indent="0">
              <a:buNone/>
            </a:pPr>
            <a:r>
              <a:rPr lang="en-US" sz="1600" b="1" kern="0" spc="150" dirty="0">
                <a:solidFill>
                  <a:srgbClr val="4B4FE0"/>
                </a:solidFill>
                <a:latin typeface="Times New Roman" panose="02020603050405020304" charset="0"/>
                <a:ea typeface="Calibri" panose="020F0502020204030204" pitchFamily="34" charset="-122"/>
                <a:cs typeface="Times New Roman" panose="02020603050405020304" charset="0"/>
              </a:rPr>
              <a:t>DASHBOARD &amp; VISUALIZTION</a:t>
            </a:r>
            <a:endParaRPr lang="en-US" sz="1600" dirty="0">
              <a:latin typeface="Times New Roman" panose="02020603050405020304" charset="0"/>
              <a:cs typeface="Times New Roman" panose="02020603050405020304" charset="0"/>
            </a:endParaRPr>
          </a:p>
        </p:txBody>
      </p:sp>
      <p:sp>
        <p:nvSpPr>
          <p:cNvPr id="7" name="Shape 5"/>
          <p:cNvSpPr/>
          <p:nvPr/>
        </p:nvSpPr>
        <p:spPr>
          <a:xfrm>
            <a:off x="548640" y="2514600"/>
            <a:ext cx="5394960" cy="1170432"/>
          </a:xfrm>
          <a:prstGeom prst="roundRect">
            <a:avLst>
              <a:gd name="adj" fmla="val 6250"/>
            </a:avLst>
          </a:prstGeom>
          <a:solidFill>
            <a:srgbClr val="FFFFFF"/>
          </a:solidFill>
          <a:effectLst>
            <a:outerShdw blurRad="76200" dist="25400" dir="5400000" algn="bl" rotWithShape="0">
              <a:srgbClr val="5B6178">
                <a:alpha val="14000"/>
              </a:srgbClr>
            </a:outerShdw>
          </a:effectLst>
        </p:spPr>
      </p:sp>
      <p:sp>
        <p:nvSpPr>
          <p:cNvPr id="8" name="Shape 6"/>
          <p:cNvSpPr/>
          <p:nvPr/>
        </p:nvSpPr>
        <p:spPr>
          <a:xfrm>
            <a:off x="749808" y="2697480"/>
            <a:ext cx="82296" cy="804672"/>
          </a:xfrm>
          <a:prstGeom prst="roundRect">
            <a:avLst>
              <a:gd name="adj" fmla="val 44444"/>
            </a:avLst>
          </a:prstGeom>
          <a:solidFill>
            <a:srgbClr val="8A6FF0"/>
          </a:solidFill>
        </p:spPr>
      </p:sp>
      <p:sp>
        <p:nvSpPr>
          <p:cNvPr id="9" name="Text 7"/>
          <p:cNvSpPr/>
          <p:nvPr/>
        </p:nvSpPr>
        <p:spPr>
          <a:xfrm>
            <a:off x="987552" y="2642616"/>
            <a:ext cx="4800600" cy="310896"/>
          </a:xfrm>
          <a:prstGeom prst="rect">
            <a:avLst/>
          </a:prstGeom>
          <a:noFill/>
        </p:spPr>
        <p:txBody>
          <a:bodyPr wrap="square" rtlCol="0" anchor="ctr"/>
          <a:lstStyle/>
          <a:p>
            <a:pPr marL="0" indent="0">
              <a:buNone/>
            </a:pPr>
            <a:r>
              <a:rPr lang="en-US" alt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Python &amp; Pandas</a:t>
            </a:r>
            <a:endParaRPr lang="en-US" alt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endParaRPr>
          </a:p>
        </p:txBody>
      </p:sp>
      <p:sp>
        <p:nvSpPr>
          <p:cNvPr id="10" name="Text 8"/>
          <p:cNvSpPr/>
          <p:nvPr/>
        </p:nvSpPr>
        <p:spPr>
          <a:xfrm>
            <a:off x="987552" y="2971800"/>
            <a:ext cx="4800600" cy="621792"/>
          </a:xfrm>
          <a:prstGeom prst="rect">
            <a:avLst/>
          </a:prstGeom>
          <a:noFill/>
        </p:spPr>
        <p:txBody>
          <a:bodyPr wrap="square" rtlCol="0" anchor="ctr"/>
          <a:lstStyle/>
          <a:p>
            <a:pPr marL="0" indent="0">
              <a:lnSpc>
                <a:spcPts val="1400"/>
              </a:lnSpc>
              <a:buNone/>
            </a:pPr>
            <a:r>
              <a:rPr lang="en-US" altLang="en-US" sz="1400" dirty="0">
                <a:solidFill>
                  <a:srgbClr val="5B6178"/>
                </a:solidFill>
                <a:latin typeface="Times New Roman" panose="02020603050405020304" charset="0"/>
                <a:ea typeface="Calibri" panose="020F0502020204030204" pitchFamily="34" charset="-122"/>
                <a:cs typeface="Times New Roman" panose="02020603050405020304" charset="0"/>
              </a:rPr>
              <a:t>Used for data loading, cleaning, preprocessing, feature preparation, and dataset analysis.</a:t>
            </a:r>
            <a:endParaRPr lang="en-US" altLang="en-US" sz="1400" dirty="0">
              <a:solidFill>
                <a:srgbClr val="5B6178"/>
              </a:solidFill>
              <a:latin typeface="Times New Roman" panose="02020603050405020304" charset="0"/>
              <a:ea typeface="Calibri" panose="020F0502020204030204" pitchFamily="34" charset="-122"/>
              <a:cs typeface="Times New Roman" panose="02020603050405020304" charset="0"/>
            </a:endParaRPr>
          </a:p>
        </p:txBody>
      </p:sp>
      <p:sp>
        <p:nvSpPr>
          <p:cNvPr id="11" name="Shape 9"/>
          <p:cNvSpPr/>
          <p:nvPr/>
        </p:nvSpPr>
        <p:spPr>
          <a:xfrm>
            <a:off x="548640" y="3813048"/>
            <a:ext cx="5394960" cy="1170432"/>
          </a:xfrm>
          <a:prstGeom prst="roundRect">
            <a:avLst>
              <a:gd name="adj" fmla="val 6250"/>
            </a:avLst>
          </a:prstGeom>
          <a:solidFill>
            <a:srgbClr val="FFFFFF"/>
          </a:solidFill>
          <a:effectLst>
            <a:outerShdw blurRad="76200" dist="25400" dir="5400000" algn="bl" rotWithShape="0">
              <a:srgbClr val="5B6178">
                <a:alpha val="14000"/>
              </a:srgbClr>
            </a:outerShdw>
          </a:effectLst>
        </p:spPr>
      </p:sp>
      <p:sp>
        <p:nvSpPr>
          <p:cNvPr id="12" name="Shape 10"/>
          <p:cNvSpPr/>
          <p:nvPr/>
        </p:nvSpPr>
        <p:spPr>
          <a:xfrm>
            <a:off x="749808" y="3995928"/>
            <a:ext cx="82296" cy="804672"/>
          </a:xfrm>
          <a:prstGeom prst="roundRect">
            <a:avLst>
              <a:gd name="adj" fmla="val 44444"/>
            </a:avLst>
          </a:prstGeom>
          <a:solidFill>
            <a:srgbClr val="8A6FF0"/>
          </a:solidFill>
        </p:spPr>
      </p:sp>
      <p:sp>
        <p:nvSpPr>
          <p:cNvPr id="13" name="Text 11"/>
          <p:cNvSpPr/>
          <p:nvPr/>
        </p:nvSpPr>
        <p:spPr>
          <a:xfrm>
            <a:off x="987552" y="3941064"/>
            <a:ext cx="4800600" cy="310896"/>
          </a:xfrm>
          <a:prstGeom prst="rect">
            <a:avLst/>
          </a:prstGeom>
          <a:noFill/>
        </p:spPr>
        <p:txBody>
          <a:bodyPr wrap="square" rtlCol="0" anchor="ctr"/>
          <a:lstStyle/>
          <a:p>
            <a:pPr marL="0" indent="0">
              <a:buNone/>
            </a:pPr>
            <a:r>
              <a:rPr 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Numpy &amp; Scikit-learn </a:t>
            </a:r>
            <a:endParaRPr lang="en-US" sz="1600" dirty="0">
              <a:latin typeface="Times New Roman" panose="02020603050405020304" charset="0"/>
              <a:cs typeface="Times New Roman" panose="02020603050405020304" charset="0"/>
            </a:endParaRPr>
          </a:p>
        </p:txBody>
      </p:sp>
      <p:sp>
        <p:nvSpPr>
          <p:cNvPr id="14" name="Text 12"/>
          <p:cNvSpPr/>
          <p:nvPr/>
        </p:nvSpPr>
        <p:spPr>
          <a:xfrm>
            <a:off x="987552" y="4270248"/>
            <a:ext cx="4800600" cy="621792"/>
          </a:xfrm>
          <a:prstGeom prst="rect">
            <a:avLst/>
          </a:prstGeom>
          <a:noFill/>
        </p:spPr>
        <p:txBody>
          <a:bodyPr wrap="square" rtlCol="0" anchor="ctr"/>
          <a:lstStyle/>
          <a:p>
            <a:pPr marL="0" indent="0">
              <a:lnSpc>
                <a:spcPts val="1400"/>
              </a:lnSpc>
              <a:buNone/>
            </a:pPr>
            <a:r>
              <a:rPr lang="en-US" altLang="en-US" sz="1400" dirty="0">
                <a:solidFill>
                  <a:srgbClr val="5B6178"/>
                </a:solidFill>
                <a:latin typeface="Times New Roman" panose="02020603050405020304" charset="0"/>
                <a:ea typeface="Calibri" panose="020F0502020204030204" pitchFamily="34" charset="-122"/>
                <a:cs typeface="Times New Roman" panose="02020603050405020304" charset="0"/>
              </a:rPr>
              <a:t>Used for numerical operations, data preprocessing, model training, evaluation, and classification.</a:t>
            </a:r>
            <a:endParaRPr lang="en-US" altLang="en-US" sz="1400" dirty="0">
              <a:solidFill>
                <a:srgbClr val="5B6178"/>
              </a:solidFill>
              <a:latin typeface="Times New Roman" panose="02020603050405020304" charset="0"/>
              <a:ea typeface="Calibri" panose="020F0502020204030204" pitchFamily="34" charset="-122"/>
              <a:cs typeface="Times New Roman" panose="02020603050405020304" charset="0"/>
            </a:endParaRPr>
          </a:p>
        </p:txBody>
      </p:sp>
      <p:sp>
        <p:nvSpPr>
          <p:cNvPr id="15" name="Shape 13"/>
          <p:cNvSpPr/>
          <p:nvPr/>
        </p:nvSpPr>
        <p:spPr>
          <a:xfrm>
            <a:off x="548640" y="5111496"/>
            <a:ext cx="5394960" cy="1170432"/>
          </a:xfrm>
          <a:prstGeom prst="roundRect">
            <a:avLst>
              <a:gd name="adj" fmla="val 6250"/>
            </a:avLst>
          </a:prstGeom>
          <a:solidFill>
            <a:srgbClr val="FFFFFF"/>
          </a:solidFill>
          <a:effectLst>
            <a:outerShdw blurRad="76200" dist="25400" dir="5400000" algn="bl" rotWithShape="0">
              <a:srgbClr val="5B6178">
                <a:alpha val="14000"/>
              </a:srgbClr>
            </a:outerShdw>
          </a:effectLst>
        </p:spPr>
      </p:sp>
      <p:sp>
        <p:nvSpPr>
          <p:cNvPr id="16" name="Shape 14"/>
          <p:cNvSpPr/>
          <p:nvPr/>
        </p:nvSpPr>
        <p:spPr>
          <a:xfrm>
            <a:off x="749808" y="5294376"/>
            <a:ext cx="82296" cy="804672"/>
          </a:xfrm>
          <a:prstGeom prst="roundRect">
            <a:avLst>
              <a:gd name="adj" fmla="val 44444"/>
            </a:avLst>
          </a:prstGeom>
          <a:solidFill>
            <a:srgbClr val="8A6FF0"/>
          </a:solidFill>
        </p:spPr>
      </p:sp>
      <p:sp>
        <p:nvSpPr>
          <p:cNvPr id="17" name="Text 15"/>
          <p:cNvSpPr/>
          <p:nvPr/>
        </p:nvSpPr>
        <p:spPr>
          <a:xfrm>
            <a:off x="987552" y="5239512"/>
            <a:ext cx="4800600" cy="310896"/>
          </a:xfrm>
          <a:prstGeom prst="rect">
            <a:avLst/>
          </a:prstGeom>
          <a:noFill/>
        </p:spPr>
        <p:txBody>
          <a:bodyPr wrap="square" rtlCol="0" anchor="ctr"/>
          <a:lstStyle/>
          <a:p>
            <a:pPr marL="0" indent="0">
              <a:buNone/>
            </a:pPr>
            <a:r>
              <a:rPr lang="en-US" alt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Random Forest &amp; Joblib</a:t>
            </a:r>
            <a:endParaRPr lang="en-US" alt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endParaRPr>
          </a:p>
        </p:txBody>
      </p:sp>
      <p:sp>
        <p:nvSpPr>
          <p:cNvPr id="18" name="Text 16"/>
          <p:cNvSpPr/>
          <p:nvPr/>
        </p:nvSpPr>
        <p:spPr>
          <a:xfrm>
            <a:off x="987552" y="5568696"/>
            <a:ext cx="4800600" cy="621792"/>
          </a:xfrm>
          <a:prstGeom prst="rect">
            <a:avLst/>
          </a:prstGeom>
          <a:noFill/>
        </p:spPr>
        <p:txBody>
          <a:bodyPr wrap="square" rtlCol="0" anchor="ctr"/>
          <a:lstStyle/>
          <a:p>
            <a:pPr marL="0" indent="0">
              <a:lnSpc>
                <a:spcPts val="1400"/>
              </a:lnSpc>
              <a:buNone/>
            </a:pPr>
            <a:r>
              <a:rPr lang="en-US" altLang="en-US" sz="1400" dirty="0">
                <a:solidFill>
                  <a:srgbClr val="5B6178"/>
                </a:solidFill>
                <a:latin typeface="Times New Roman" panose="02020603050405020304" charset="0"/>
                <a:ea typeface="Calibri" panose="020F0502020204030204" pitchFamily="34" charset="-122"/>
                <a:cs typeface="Times New Roman" panose="02020603050405020304" charset="0"/>
              </a:rPr>
              <a:t>Random Forest is the final prediction model, while Joblib is used to save and load the trained model and scaler.</a:t>
            </a:r>
            <a:endParaRPr lang="en-US" altLang="en-US" sz="1400" dirty="0">
              <a:solidFill>
                <a:srgbClr val="5B6178"/>
              </a:solidFill>
              <a:latin typeface="Times New Roman" panose="02020603050405020304" charset="0"/>
              <a:ea typeface="Calibri" panose="020F0502020204030204" pitchFamily="34" charset="-122"/>
              <a:cs typeface="Times New Roman" panose="02020603050405020304" charset="0"/>
            </a:endParaRPr>
          </a:p>
        </p:txBody>
      </p:sp>
      <p:sp>
        <p:nvSpPr>
          <p:cNvPr id="19" name="Shape 17"/>
          <p:cNvSpPr/>
          <p:nvPr/>
        </p:nvSpPr>
        <p:spPr>
          <a:xfrm>
            <a:off x="6217920" y="2514600"/>
            <a:ext cx="5394960" cy="1170432"/>
          </a:xfrm>
          <a:prstGeom prst="roundRect">
            <a:avLst>
              <a:gd name="adj" fmla="val 6250"/>
            </a:avLst>
          </a:prstGeom>
          <a:solidFill>
            <a:srgbClr val="FFFFFF"/>
          </a:solidFill>
          <a:effectLst>
            <a:outerShdw blurRad="76200" dist="25400" dir="5400000" algn="bl" rotWithShape="0">
              <a:srgbClr val="5B6178">
                <a:alpha val="14000"/>
              </a:srgbClr>
            </a:outerShdw>
          </a:effectLst>
        </p:spPr>
      </p:sp>
      <p:sp>
        <p:nvSpPr>
          <p:cNvPr id="20" name="Shape 18"/>
          <p:cNvSpPr/>
          <p:nvPr/>
        </p:nvSpPr>
        <p:spPr>
          <a:xfrm>
            <a:off x="6419088" y="2697480"/>
            <a:ext cx="82296" cy="804672"/>
          </a:xfrm>
          <a:prstGeom prst="roundRect">
            <a:avLst>
              <a:gd name="adj" fmla="val 44444"/>
            </a:avLst>
          </a:prstGeom>
          <a:solidFill>
            <a:srgbClr val="8A6FF0"/>
          </a:solidFill>
        </p:spPr>
      </p:sp>
      <p:sp>
        <p:nvSpPr>
          <p:cNvPr id="21" name="Text 19"/>
          <p:cNvSpPr/>
          <p:nvPr/>
        </p:nvSpPr>
        <p:spPr>
          <a:xfrm>
            <a:off x="6656832" y="2642616"/>
            <a:ext cx="4800600" cy="310896"/>
          </a:xfrm>
          <a:prstGeom prst="rect">
            <a:avLst/>
          </a:prstGeom>
          <a:noFill/>
        </p:spPr>
        <p:txBody>
          <a:bodyPr wrap="square" rtlCol="0" anchor="ctr"/>
          <a:lstStyle/>
          <a:p>
            <a:pPr marL="0" indent="0">
              <a:buNone/>
            </a:pPr>
            <a:r>
              <a:rPr 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Streamlit</a:t>
            </a:r>
            <a:endParaRPr lang="en-US" sz="1600" dirty="0">
              <a:latin typeface="Times New Roman" panose="02020603050405020304" charset="0"/>
              <a:cs typeface="Times New Roman" panose="02020603050405020304" charset="0"/>
            </a:endParaRPr>
          </a:p>
        </p:txBody>
      </p:sp>
      <p:sp>
        <p:nvSpPr>
          <p:cNvPr id="22" name="Text 20"/>
          <p:cNvSpPr/>
          <p:nvPr/>
        </p:nvSpPr>
        <p:spPr>
          <a:xfrm>
            <a:off x="6656832" y="2971800"/>
            <a:ext cx="4800600" cy="621792"/>
          </a:xfrm>
          <a:prstGeom prst="rect">
            <a:avLst/>
          </a:prstGeom>
          <a:noFill/>
        </p:spPr>
        <p:txBody>
          <a:bodyPr wrap="square" rtlCol="0" anchor="ctr"/>
          <a:lstStyle/>
          <a:p>
            <a:pPr marL="0" indent="0">
              <a:lnSpc>
                <a:spcPts val="1400"/>
              </a:lnSpc>
              <a:buNone/>
            </a:pPr>
            <a:r>
              <a:rPr lang="en-US" altLang="en-US" sz="1400" dirty="0">
                <a:solidFill>
                  <a:srgbClr val="5B6178"/>
                </a:solidFill>
                <a:latin typeface="Times New Roman" panose="02020603050405020304" charset="0"/>
                <a:ea typeface="Calibri" panose="020F0502020204030204" pitchFamily="34" charset="-122"/>
                <a:cs typeface="Times New Roman" panose="02020603050405020304" charset="0"/>
              </a:rPr>
              <a:t>Used to build the interactive web dashboard for machine failure prediction, analytics, and prediction history.</a:t>
            </a:r>
            <a:endParaRPr lang="en-US" altLang="en-US" sz="1400" dirty="0">
              <a:solidFill>
                <a:srgbClr val="5B6178"/>
              </a:solidFill>
              <a:latin typeface="Times New Roman" panose="02020603050405020304" charset="0"/>
              <a:ea typeface="Calibri" panose="020F0502020204030204" pitchFamily="34" charset="-122"/>
              <a:cs typeface="Times New Roman" panose="02020603050405020304" charset="0"/>
            </a:endParaRPr>
          </a:p>
        </p:txBody>
      </p:sp>
      <p:sp>
        <p:nvSpPr>
          <p:cNvPr id="23" name="Shape 21"/>
          <p:cNvSpPr/>
          <p:nvPr/>
        </p:nvSpPr>
        <p:spPr>
          <a:xfrm>
            <a:off x="6217920" y="3813048"/>
            <a:ext cx="5394960" cy="1170432"/>
          </a:xfrm>
          <a:prstGeom prst="roundRect">
            <a:avLst>
              <a:gd name="adj" fmla="val 6250"/>
            </a:avLst>
          </a:prstGeom>
          <a:solidFill>
            <a:srgbClr val="FFFFFF"/>
          </a:solidFill>
          <a:effectLst>
            <a:outerShdw blurRad="76200" dist="25400" dir="5400000" algn="bl" rotWithShape="0">
              <a:srgbClr val="5B6178">
                <a:alpha val="14000"/>
              </a:srgbClr>
            </a:outerShdw>
          </a:effectLst>
        </p:spPr>
      </p:sp>
      <p:sp>
        <p:nvSpPr>
          <p:cNvPr id="24" name="Shape 22"/>
          <p:cNvSpPr/>
          <p:nvPr/>
        </p:nvSpPr>
        <p:spPr>
          <a:xfrm>
            <a:off x="6419088" y="3995928"/>
            <a:ext cx="82296" cy="804672"/>
          </a:xfrm>
          <a:prstGeom prst="roundRect">
            <a:avLst>
              <a:gd name="adj" fmla="val 44444"/>
            </a:avLst>
          </a:prstGeom>
          <a:solidFill>
            <a:srgbClr val="8A6FF0"/>
          </a:solidFill>
        </p:spPr>
      </p:sp>
      <p:sp>
        <p:nvSpPr>
          <p:cNvPr id="25" name="Text 23"/>
          <p:cNvSpPr/>
          <p:nvPr/>
        </p:nvSpPr>
        <p:spPr>
          <a:xfrm>
            <a:off x="6656832" y="3941064"/>
            <a:ext cx="4800600" cy="310896"/>
          </a:xfrm>
          <a:prstGeom prst="rect">
            <a:avLst/>
          </a:prstGeom>
          <a:noFill/>
        </p:spPr>
        <p:txBody>
          <a:bodyPr wrap="square" rtlCol="0" anchor="ctr"/>
          <a:lstStyle/>
          <a:p>
            <a:pPr marL="0" indent="0">
              <a:buNone/>
            </a:pPr>
            <a:r>
              <a:rPr 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Plotly</a:t>
            </a:r>
            <a:endParaRPr lang="en-US" sz="1600" dirty="0">
              <a:latin typeface="Times New Roman" panose="02020603050405020304" charset="0"/>
              <a:cs typeface="Times New Roman" panose="02020603050405020304" charset="0"/>
            </a:endParaRPr>
          </a:p>
        </p:txBody>
      </p:sp>
      <p:sp>
        <p:nvSpPr>
          <p:cNvPr id="26" name="Text 24"/>
          <p:cNvSpPr/>
          <p:nvPr/>
        </p:nvSpPr>
        <p:spPr>
          <a:xfrm>
            <a:off x="6656832" y="4270248"/>
            <a:ext cx="4800600" cy="621792"/>
          </a:xfrm>
          <a:prstGeom prst="rect">
            <a:avLst/>
          </a:prstGeom>
          <a:noFill/>
        </p:spPr>
        <p:txBody>
          <a:bodyPr wrap="square" rtlCol="0" anchor="ctr"/>
          <a:lstStyle/>
          <a:p>
            <a:pPr marL="0" indent="0">
              <a:lnSpc>
                <a:spcPts val="1400"/>
              </a:lnSpc>
              <a:buNone/>
            </a:pPr>
            <a:r>
              <a:rPr lang="en-US" altLang="en-US" sz="1400" dirty="0">
                <a:solidFill>
                  <a:srgbClr val="5B6178"/>
                </a:solidFill>
                <a:latin typeface="Times New Roman" panose="02020603050405020304" charset="0"/>
                <a:ea typeface="Calibri" panose="020F0502020204030204" pitchFamily="34" charset="-122"/>
                <a:cs typeface="Times New Roman" panose="02020603050405020304" charset="0"/>
              </a:rPr>
              <a:t>Used to create interactive charts such as scatter plots, gauges, bar charts, pie charts, box plots, and correlation matrices.</a:t>
            </a:r>
            <a:endParaRPr lang="en-US" altLang="en-US" sz="1400" dirty="0">
              <a:solidFill>
                <a:srgbClr val="5B6178"/>
              </a:solidFill>
              <a:latin typeface="Times New Roman" panose="02020603050405020304" charset="0"/>
              <a:ea typeface="Calibri" panose="020F0502020204030204" pitchFamily="34" charset="-122"/>
              <a:cs typeface="Times New Roman" panose="02020603050405020304" charset="0"/>
            </a:endParaRPr>
          </a:p>
        </p:txBody>
      </p:sp>
      <p:sp>
        <p:nvSpPr>
          <p:cNvPr id="27" name="Shape 25"/>
          <p:cNvSpPr/>
          <p:nvPr/>
        </p:nvSpPr>
        <p:spPr>
          <a:xfrm>
            <a:off x="6217920" y="5111496"/>
            <a:ext cx="5394960" cy="1170432"/>
          </a:xfrm>
          <a:prstGeom prst="roundRect">
            <a:avLst>
              <a:gd name="adj" fmla="val 6250"/>
            </a:avLst>
          </a:prstGeom>
          <a:solidFill>
            <a:srgbClr val="FFFFFF"/>
          </a:solidFill>
          <a:effectLst>
            <a:outerShdw blurRad="76200" dist="25400" dir="5400000" algn="bl" rotWithShape="0">
              <a:srgbClr val="5B6178">
                <a:alpha val="14000"/>
              </a:srgbClr>
            </a:outerShdw>
          </a:effectLst>
        </p:spPr>
      </p:sp>
      <p:sp>
        <p:nvSpPr>
          <p:cNvPr id="28" name="Shape 26"/>
          <p:cNvSpPr/>
          <p:nvPr/>
        </p:nvSpPr>
        <p:spPr>
          <a:xfrm>
            <a:off x="6419088" y="5294376"/>
            <a:ext cx="82296" cy="804672"/>
          </a:xfrm>
          <a:prstGeom prst="roundRect">
            <a:avLst>
              <a:gd name="adj" fmla="val 44444"/>
            </a:avLst>
          </a:prstGeom>
          <a:solidFill>
            <a:srgbClr val="8A6FF0"/>
          </a:solidFill>
        </p:spPr>
      </p:sp>
      <p:sp>
        <p:nvSpPr>
          <p:cNvPr id="29" name="Text 27"/>
          <p:cNvSpPr/>
          <p:nvPr/>
        </p:nvSpPr>
        <p:spPr>
          <a:xfrm>
            <a:off x="6656832" y="5239512"/>
            <a:ext cx="4800600" cy="310896"/>
          </a:xfrm>
          <a:prstGeom prst="rect">
            <a:avLst/>
          </a:prstGeom>
          <a:noFill/>
        </p:spPr>
        <p:txBody>
          <a:bodyPr wrap="square" rtlCol="0" anchor="ctr"/>
          <a:lstStyle/>
          <a:p>
            <a:pPr marL="0" indent="0">
              <a:buNone/>
            </a:pPr>
            <a:r>
              <a:rPr 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CSV &amp; Jupyter Notebook</a:t>
            </a:r>
            <a:endParaRPr lang="en-US" sz="1600" dirty="0">
              <a:latin typeface="Times New Roman" panose="02020603050405020304" charset="0"/>
              <a:cs typeface="Times New Roman" panose="02020603050405020304" charset="0"/>
            </a:endParaRPr>
          </a:p>
        </p:txBody>
      </p:sp>
      <p:sp>
        <p:nvSpPr>
          <p:cNvPr id="30" name="Text 28"/>
          <p:cNvSpPr/>
          <p:nvPr/>
        </p:nvSpPr>
        <p:spPr>
          <a:xfrm>
            <a:off x="6656832" y="5568696"/>
            <a:ext cx="4800600" cy="621792"/>
          </a:xfrm>
          <a:prstGeom prst="rect">
            <a:avLst/>
          </a:prstGeom>
          <a:noFill/>
        </p:spPr>
        <p:txBody>
          <a:bodyPr wrap="square" rtlCol="0" anchor="ctr"/>
          <a:lstStyle/>
          <a:p>
            <a:pPr marL="0" indent="0">
              <a:lnSpc>
                <a:spcPts val="1400"/>
              </a:lnSpc>
              <a:buNone/>
            </a:pPr>
            <a:r>
              <a:rPr lang="en-US" altLang="en-US" sz="1400" dirty="0">
                <a:solidFill>
                  <a:srgbClr val="5B6178"/>
                </a:solidFill>
                <a:latin typeface="Times New Roman" panose="02020603050405020304" charset="0"/>
                <a:ea typeface="Calibri" panose="020F0502020204030204" pitchFamily="34" charset="-122"/>
                <a:cs typeface="Times New Roman" panose="02020603050405020304" charset="0"/>
              </a:rPr>
              <a:t>CSV files are used for dataset and prediction-history storage, while Jupyter Notebook was used for model development and experimentation.</a:t>
            </a:r>
            <a:endParaRPr lang="en-US" altLang="en-US" sz="1400" dirty="0">
              <a:solidFill>
                <a:srgbClr val="5B6178"/>
              </a:solidFill>
              <a:latin typeface="Times New Roman" panose="02020603050405020304" charset="0"/>
              <a:ea typeface="Calibri" panose="020F0502020204030204" pitchFamily="34" charset="-122"/>
              <a:cs typeface="Times New Roman" panose="02020603050405020304" charset="0"/>
            </a:endParaRPr>
          </a:p>
        </p:txBody>
      </p:sp>
      <p:sp>
        <p:nvSpPr>
          <p:cNvPr id="31" name="Text 29"/>
          <p:cNvSpPr/>
          <p:nvPr/>
        </p:nvSpPr>
        <p:spPr>
          <a:xfrm>
            <a:off x="548640" y="6510528"/>
            <a:ext cx="7315200" cy="274320"/>
          </a:xfrm>
          <a:prstGeom prst="rect">
            <a:avLst/>
          </a:prstGeom>
          <a:noFill/>
        </p:spPr>
        <p:txBody>
          <a:bodyPr wrap="square" rtlCol="0" anchor="ctr"/>
          <a:lstStyle/>
          <a:p>
            <a:pPr marL="0" indent="0">
              <a:buNone/>
            </a:pP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8229600" cy="310896"/>
          </a:xfrm>
          <a:prstGeom prst="rect">
            <a:avLst/>
          </a:prstGeom>
          <a:noFill/>
        </p:spPr>
        <p:txBody>
          <a:bodyPr wrap="square" rtlCol="0" anchor="ctr"/>
          <a:lstStyle/>
          <a:p>
            <a:pPr marL="0" indent="0">
              <a:buNone/>
            </a:pPr>
            <a:r>
              <a:rPr lang="en-US" sz="1200" b="1" kern="0" spc="200" dirty="0">
                <a:solidFill>
                  <a:srgbClr val="1657E0"/>
                </a:solidFill>
                <a:latin typeface="Times New Roman" panose="02020603050405020304" charset="0"/>
                <a:ea typeface="Calibri" panose="020F0502020204030204" pitchFamily="34" charset="-122"/>
                <a:cs typeface="Times New Roman" panose="02020603050405020304" charset="0"/>
              </a:rPr>
              <a:t>SAMPLE PREDICTIONS</a:t>
            </a:r>
            <a:endParaRPr lang="en-US" sz="1200" dirty="0">
              <a:latin typeface="Times New Roman" panose="02020603050405020304" charset="0"/>
              <a:cs typeface="Times New Roman" panose="02020603050405020304" charset="0"/>
            </a:endParaRPr>
          </a:p>
        </p:txBody>
      </p:sp>
      <p:sp>
        <p:nvSpPr>
          <p:cNvPr id="3" name="Text 1"/>
          <p:cNvSpPr/>
          <p:nvPr/>
        </p:nvSpPr>
        <p:spPr>
          <a:xfrm>
            <a:off x="530352" y="640080"/>
            <a:ext cx="11155680" cy="868680"/>
          </a:xfrm>
          <a:prstGeom prst="rect">
            <a:avLst/>
          </a:prstGeom>
          <a:noFill/>
        </p:spPr>
        <p:txBody>
          <a:bodyPr wrap="square" rtlCol="0" anchor="ctr"/>
          <a:lstStyle/>
          <a:p>
            <a:pPr marL="0" indent="0">
              <a:buNone/>
            </a:pPr>
            <a:r>
              <a:rPr lang="en-US" sz="3000" b="1" dirty="0">
                <a:solidFill>
                  <a:srgbClr val="0F1B33"/>
                </a:solidFill>
                <a:latin typeface="Times New Roman" panose="02020603050405020304" charset="0"/>
                <a:ea typeface="Segoe UI" panose="020B0502040204020203" pitchFamily="34" charset="-122"/>
                <a:cs typeface="Times New Roman" panose="02020603050405020304" charset="0"/>
              </a:rPr>
              <a:t>From Raw Sensor Data to Actionable Health Insights</a:t>
            </a:r>
            <a:endParaRPr lang="en-US" sz="3000" dirty="0">
              <a:latin typeface="Times New Roman" panose="02020603050405020304" charset="0"/>
              <a:cs typeface="Times New Roman" panose="02020603050405020304" charset="0"/>
            </a:endParaRPr>
          </a:p>
        </p:txBody>
      </p:sp>
      <p:sp>
        <p:nvSpPr>
          <p:cNvPr id="4" name="Text 2"/>
          <p:cNvSpPr/>
          <p:nvPr/>
        </p:nvSpPr>
        <p:spPr>
          <a:xfrm>
            <a:off x="548640" y="1354455"/>
            <a:ext cx="11169650" cy="520065"/>
          </a:xfrm>
          <a:prstGeom prst="rect">
            <a:avLst/>
          </a:prstGeom>
          <a:noFill/>
        </p:spPr>
        <p:txBody>
          <a:bodyPr wrap="square" rtlCol="0" anchor="ctr"/>
          <a:lstStyle/>
          <a:p>
            <a:pPr marL="0" indent="0">
              <a:buNone/>
            </a:pPr>
            <a:r>
              <a:rPr lang="en-US" dirty="0">
                <a:solidFill>
                  <a:srgbClr val="56607A"/>
                </a:solidFill>
                <a:latin typeface="Times New Roman" panose="02020603050405020304" charset="0"/>
                <a:ea typeface="Calibri" panose="020F0502020204030204" pitchFamily="34" charset="-122"/>
                <a:cs typeface="Times New Roman" panose="02020603050405020304" charset="0"/>
              </a:rPr>
              <a:t>Two live examples showing how the model turns sensor readings into a health score, failure probability, and a recommended action.</a:t>
            </a:r>
            <a:endParaRPr lang="en-US" dirty="0">
              <a:latin typeface="Times New Roman" panose="02020603050405020304" charset="0"/>
              <a:cs typeface="Times New Roman" panose="02020603050405020304" charset="0"/>
            </a:endParaRPr>
          </a:p>
        </p:txBody>
      </p:sp>
      <p:sp>
        <p:nvSpPr>
          <p:cNvPr id="5" name="Shape 3"/>
          <p:cNvSpPr/>
          <p:nvPr/>
        </p:nvSpPr>
        <p:spPr>
          <a:xfrm>
            <a:off x="548640" y="2103120"/>
            <a:ext cx="5394960" cy="4206240"/>
          </a:xfrm>
          <a:prstGeom prst="roundRect">
            <a:avLst>
              <a:gd name="adj" fmla="val 1957"/>
            </a:avLst>
          </a:prstGeom>
          <a:solidFill>
            <a:srgbClr val="FFFFFF"/>
          </a:solidFill>
          <a:ln w="19050">
            <a:solidFill>
              <a:srgbClr val="17A566"/>
            </a:solidFill>
            <a:prstDash val="solid"/>
          </a:ln>
          <a:effectLst>
            <a:outerShdw blurRad="101600" dist="25400" dir="5400000" algn="bl" rotWithShape="0">
              <a:srgbClr val="3A4A7A">
                <a:alpha val="16000"/>
              </a:srgbClr>
            </a:outerShdw>
          </a:effectLst>
        </p:spPr>
      </p:sp>
      <p:sp>
        <p:nvSpPr>
          <p:cNvPr id="6" name="Shape 4"/>
          <p:cNvSpPr/>
          <p:nvPr/>
        </p:nvSpPr>
        <p:spPr>
          <a:xfrm>
            <a:off x="841248" y="2286000"/>
            <a:ext cx="2377440" cy="365760"/>
          </a:xfrm>
          <a:prstGeom prst="roundRect">
            <a:avLst>
              <a:gd name="adj" fmla="val 50000"/>
            </a:avLst>
          </a:prstGeom>
          <a:solidFill>
            <a:srgbClr val="17A566"/>
          </a:solidFill>
        </p:spPr>
      </p:sp>
      <p:sp>
        <p:nvSpPr>
          <p:cNvPr id="7" name="Text 5"/>
          <p:cNvSpPr/>
          <p:nvPr/>
        </p:nvSpPr>
        <p:spPr>
          <a:xfrm>
            <a:off x="841248" y="2286000"/>
            <a:ext cx="2377440" cy="365760"/>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NORMAL OPERATION</a:t>
            </a:r>
            <a:endParaRPr lang="en-US" sz="1100" dirty="0"/>
          </a:p>
        </p:txBody>
      </p:sp>
      <p:sp>
        <p:nvSpPr>
          <p:cNvPr id="8" name="Text 6"/>
          <p:cNvSpPr/>
          <p:nvPr/>
        </p:nvSpPr>
        <p:spPr>
          <a:xfrm>
            <a:off x="841248" y="2743200"/>
            <a:ext cx="4754880" cy="347472"/>
          </a:xfrm>
          <a:prstGeom prst="rect">
            <a:avLst/>
          </a:prstGeom>
          <a:noFill/>
        </p:spPr>
        <p:txBody>
          <a:bodyPr wrap="square" rtlCol="0" anchor="ctr"/>
          <a:lstStyle/>
          <a:p>
            <a:pPr marL="0" indent="0">
              <a:buNone/>
            </a:pPr>
            <a:r>
              <a:rPr lang="en-US" sz="1600" b="1" dirty="0">
                <a:solidFill>
                  <a:srgbClr val="0F1B33"/>
                </a:solidFill>
                <a:latin typeface="Segoe UI" panose="020B0502040204020203" pitchFamily="34" charset="0"/>
                <a:ea typeface="Segoe UI" panose="020B0502040204020203" pitchFamily="34" charset="-122"/>
                <a:cs typeface="Segoe UI" panose="020B0502040204020203" pitchFamily="34" charset="-120"/>
              </a:rPr>
              <a:t>Machine #A-104 — Healthy</a:t>
            </a:r>
            <a:endParaRPr lang="en-US" sz="1600" dirty="0"/>
          </a:p>
        </p:txBody>
      </p:sp>
      <p:sp>
        <p:nvSpPr>
          <p:cNvPr id="9" name="Text 7"/>
          <p:cNvSpPr/>
          <p:nvPr/>
        </p:nvSpPr>
        <p:spPr>
          <a:xfrm>
            <a:off x="841248" y="3182112"/>
            <a:ext cx="2743200" cy="274320"/>
          </a:xfrm>
          <a:prstGeom prst="rect">
            <a:avLst/>
          </a:prstGeom>
          <a:noFill/>
        </p:spPr>
        <p:txBody>
          <a:bodyPr wrap="square" rtlCol="0" anchor="ctr"/>
          <a:lstStyle/>
          <a:p>
            <a:pPr marL="0" indent="0">
              <a:buNone/>
            </a:pPr>
            <a:r>
              <a:rPr lang="en-US" sz="1050" b="1" dirty="0">
                <a:solidFill>
                  <a:srgbClr val="56607A"/>
                </a:solidFill>
                <a:latin typeface="Calibri" panose="020F0502020204030204" pitchFamily="34" charset="0"/>
                <a:ea typeface="Calibri" panose="020F0502020204030204" pitchFamily="34" charset="-122"/>
                <a:cs typeface="Calibri" panose="020F0502020204030204" pitchFamily="34" charset="-120"/>
              </a:rPr>
              <a:t>Machine Health Score</a:t>
            </a:r>
            <a:endParaRPr lang="en-US" sz="1050" dirty="0"/>
          </a:p>
        </p:txBody>
      </p:sp>
      <p:sp>
        <p:nvSpPr>
          <p:cNvPr id="10" name="Text 8"/>
          <p:cNvSpPr/>
          <p:nvPr/>
        </p:nvSpPr>
        <p:spPr>
          <a:xfrm>
            <a:off x="4480560" y="3108960"/>
            <a:ext cx="1188720" cy="384048"/>
          </a:xfrm>
          <a:prstGeom prst="rect">
            <a:avLst/>
          </a:prstGeom>
          <a:noFill/>
        </p:spPr>
        <p:txBody>
          <a:bodyPr wrap="square" rtlCol="0" anchor="ctr"/>
          <a:lstStyle/>
          <a:p>
            <a:pPr marL="0" indent="0" algn="r">
              <a:buNone/>
            </a:pPr>
            <a:r>
              <a:rPr lang="en-US" sz="1700" b="1" dirty="0">
                <a:solidFill>
                  <a:srgbClr val="17A566"/>
                </a:solidFill>
                <a:latin typeface="Segoe UI" panose="020B0502040204020203" pitchFamily="34" charset="0"/>
                <a:ea typeface="Segoe UI" panose="020B0502040204020203" pitchFamily="34" charset="-122"/>
                <a:cs typeface="Segoe UI" panose="020B0502040204020203" pitchFamily="34" charset="-120"/>
              </a:rPr>
              <a:t>96%</a:t>
            </a:r>
            <a:endParaRPr lang="en-US" sz="1700" dirty="0"/>
          </a:p>
        </p:txBody>
      </p:sp>
      <p:sp>
        <p:nvSpPr>
          <p:cNvPr id="11" name="Shape 9"/>
          <p:cNvSpPr/>
          <p:nvPr/>
        </p:nvSpPr>
        <p:spPr>
          <a:xfrm>
            <a:off x="841248" y="3520440"/>
            <a:ext cx="4800600" cy="237744"/>
          </a:xfrm>
          <a:prstGeom prst="roundRect">
            <a:avLst>
              <a:gd name="adj" fmla="val 50000"/>
            </a:avLst>
          </a:prstGeom>
          <a:solidFill>
            <a:srgbClr val="E4E9F7"/>
          </a:solidFill>
        </p:spPr>
      </p:sp>
      <p:sp>
        <p:nvSpPr>
          <p:cNvPr id="12" name="Shape 10"/>
          <p:cNvSpPr/>
          <p:nvPr/>
        </p:nvSpPr>
        <p:spPr>
          <a:xfrm>
            <a:off x="841248" y="3520440"/>
            <a:ext cx="4416552" cy="237744"/>
          </a:xfrm>
          <a:prstGeom prst="roundRect">
            <a:avLst>
              <a:gd name="adj" fmla="val 50000"/>
            </a:avLst>
          </a:prstGeom>
          <a:solidFill>
            <a:srgbClr val="17A566"/>
          </a:solidFill>
        </p:spPr>
      </p:sp>
      <p:sp>
        <p:nvSpPr>
          <p:cNvPr id="13" name="Text 11"/>
          <p:cNvSpPr/>
          <p:nvPr/>
        </p:nvSpPr>
        <p:spPr>
          <a:xfrm>
            <a:off x="841248" y="3886200"/>
            <a:ext cx="2743200" cy="274320"/>
          </a:xfrm>
          <a:prstGeom prst="rect">
            <a:avLst/>
          </a:prstGeom>
          <a:noFill/>
        </p:spPr>
        <p:txBody>
          <a:bodyPr wrap="square" rtlCol="0" anchor="ctr"/>
          <a:lstStyle/>
          <a:p>
            <a:pPr marL="0" indent="0">
              <a:buNone/>
            </a:pPr>
            <a:r>
              <a:rPr lang="en-US" sz="1050" b="1" dirty="0">
                <a:solidFill>
                  <a:srgbClr val="56607A"/>
                </a:solidFill>
                <a:latin typeface="Calibri" panose="020F0502020204030204" pitchFamily="34" charset="0"/>
                <a:ea typeface="Calibri" panose="020F0502020204030204" pitchFamily="34" charset="-122"/>
                <a:cs typeface="Calibri" panose="020F0502020204030204" pitchFamily="34" charset="-120"/>
              </a:rPr>
              <a:t>Failure Probability</a:t>
            </a:r>
            <a:endParaRPr lang="en-US" sz="1050" dirty="0"/>
          </a:p>
        </p:txBody>
      </p:sp>
      <p:sp>
        <p:nvSpPr>
          <p:cNvPr id="14" name="Text 12"/>
          <p:cNvSpPr/>
          <p:nvPr/>
        </p:nvSpPr>
        <p:spPr>
          <a:xfrm>
            <a:off x="4480560" y="3813048"/>
            <a:ext cx="1188720" cy="384048"/>
          </a:xfrm>
          <a:prstGeom prst="rect">
            <a:avLst/>
          </a:prstGeom>
          <a:noFill/>
        </p:spPr>
        <p:txBody>
          <a:bodyPr wrap="square" rtlCol="0" anchor="ctr"/>
          <a:lstStyle/>
          <a:p>
            <a:pPr marL="0" indent="0" algn="r">
              <a:buNone/>
            </a:pPr>
            <a:r>
              <a:rPr lang="en-US" sz="1700" b="1" dirty="0">
                <a:solidFill>
                  <a:srgbClr val="17A566"/>
                </a:solidFill>
                <a:latin typeface="Segoe UI" panose="020B0502040204020203" pitchFamily="34" charset="0"/>
                <a:ea typeface="Segoe UI" panose="020B0502040204020203" pitchFamily="34" charset="-122"/>
                <a:cs typeface="Segoe UI" panose="020B0502040204020203" pitchFamily="34" charset="-120"/>
              </a:rPr>
              <a:t>4%</a:t>
            </a:r>
            <a:endParaRPr lang="en-US" sz="1700" dirty="0"/>
          </a:p>
        </p:txBody>
      </p:sp>
      <p:sp>
        <p:nvSpPr>
          <p:cNvPr id="15" name="Shape 13"/>
          <p:cNvSpPr/>
          <p:nvPr/>
        </p:nvSpPr>
        <p:spPr>
          <a:xfrm>
            <a:off x="841248" y="4224528"/>
            <a:ext cx="4800600" cy="237744"/>
          </a:xfrm>
          <a:prstGeom prst="roundRect">
            <a:avLst>
              <a:gd name="adj" fmla="val 50000"/>
            </a:avLst>
          </a:prstGeom>
          <a:solidFill>
            <a:srgbClr val="E4E9F7"/>
          </a:solidFill>
        </p:spPr>
      </p:sp>
      <p:sp>
        <p:nvSpPr>
          <p:cNvPr id="16" name="Shape 14"/>
          <p:cNvSpPr/>
          <p:nvPr/>
        </p:nvSpPr>
        <p:spPr>
          <a:xfrm>
            <a:off x="841248" y="4224528"/>
            <a:ext cx="237744" cy="237744"/>
          </a:xfrm>
          <a:prstGeom prst="roundRect">
            <a:avLst>
              <a:gd name="adj" fmla="val 50000"/>
            </a:avLst>
          </a:prstGeom>
          <a:solidFill>
            <a:srgbClr val="17A566"/>
          </a:solidFill>
        </p:spPr>
      </p:sp>
      <p:sp>
        <p:nvSpPr>
          <p:cNvPr id="17" name="Shape 15"/>
          <p:cNvSpPr/>
          <p:nvPr/>
        </p:nvSpPr>
        <p:spPr>
          <a:xfrm>
            <a:off x="841248" y="4709160"/>
            <a:ext cx="4800600" cy="0"/>
          </a:xfrm>
          <a:prstGeom prst="line">
            <a:avLst/>
          </a:prstGeom>
          <a:noFill/>
          <a:ln w="12700">
            <a:solidFill>
              <a:srgbClr val="E4E9F7"/>
            </a:solidFill>
            <a:prstDash val="solid"/>
          </a:ln>
        </p:spPr>
      </p:sp>
      <p:sp>
        <p:nvSpPr>
          <p:cNvPr id="18" name="Text 16"/>
          <p:cNvSpPr/>
          <p:nvPr/>
        </p:nvSpPr>
        <p:spPr>
          <a:xfrm>
            <a:off x="841248" y="4800600"/>
            <a:ext cx="4572000" cy="219456"/>
          </a:xfrm>
          <a:prstGeom prst="rect">
            <a:avLst/>
          </a:prstGeom>
          <a:noFill/>
        </p:spPr>
        <p:txBody>
          <a:bodyPr wrap="square" rtlCol="0" anchor="ctr"/>
          <a:lstStyle/>
          <a:p>
            <a:pPr marL="0" indent="0">
              <a:buNone/>
            </a:pPr>
            <a:r>
              <a:rPr lang="en-US" sz="900" b="1" kern="0" spc="100" dirty="0">
                <a:solidFill>
                  <a:srgbClr val="56607A"/>
                </a:solidFill>
                <a:latin typeface="Calibri" panose="020F0502020204030204" pitchFamily="34" charset="0"/>
                <a:ea typeface="Calibri" panose="020F0502020204030204" pitchFamily="34" charset="-122"/>
                <a:cs typeface="Calibri" panose="020F0502020204030204" pitchFamily="34" charset="-120"/>
              </a:rPr>
              <a:t>KEY SENSOR SIGNALS</a:t>
            </a:r>
            <a:endParaRPr lang="en-US" sz="900" dirty="0"/>
          </a:p>
        </p:txBody>
      </p:sp>
      <p:sp>
        <p:nvSpPr>
          <p:cNvPr id="19" name="Text 17"/>
          <p:cNvSpPr/>
          <p:nvPr/>
        </p:nvSpPr>
        <p:spPr>
          <a:xfrm>
            <a:off x="841248" y="5029200"/>
            <a:ext cx="4800600" cy="292608"/>
          </a:xfrm>
          <a:prstGeom prst="rect">
            <a:avLst/>
          </a:prstGeom>
          <a:noFill/>
        </p:spPr>
        <p:txBody>
          <a:bodyPr wrap="square" rtlCol="0" anchor="ctr"/>
          <a:lstStyle/>
          <a:p>
            <a:pPr marL="0" indent="0">
              <a:buNone/>
            </a:pPr>
            <a:r>
              <a:rPr lang="en-US" sz="970" dirty="0">
                <a:solidFill>
                  <a:srgbClr val="0F1B33"/>
                </a:solidFill>
                <a:latin typeface="Calibri" panose="020F0502020204030204" pitchFamily="34" charset="0"/>
                <a:ea typeface="Calibri" panose="020F0502020204030204" pitchFamily="34" charset="-122"/>
                <a:cs typeface="Calibri" panose="020F0502020204030204" pitchFamily="34" charset="-120"/>
              </a:rPr>
              <a:t>Torque 42 Nm · Rotational Speed 1,510 rpm · Tool Wear 38 min</a:t>
            </a:r>
            <a:endParaRPr lang="en-US" sz="970" dirty="0"/>
          </a:p>
        </p:txBody>
      </p:sp>
      <p:sp>
        <p:nvSpPr>
          <p:cNvPr id="20" name="Text 18"/>
          <p:cNvSpPr/>
          <p:nvPr/>
        </p:nvSpPr>
        <p:spPr>
          <a:xfrm>
            <a:off x="841248" y="5376672"/>
            <a:ext cx="4572000" cy="201168"/>
          </a:xfrm>
          <a:prstGeom prst="rect">
            <a:avLst/>
          </a:prstGeom>
          <a:noFill/>
        </p:spPr>
        <p:txBody>
          <a:bodyPr wrap="square" rtlCol="0" anchor="ctr"/>
          <a:lstStyle/>
          <a:p>
            <a:pPr marL="0" indent="0">
              <a:buNone/>
            </a:pPr>
            <a:r>
              <a:rPr lang="en-US" sz="900" b="1" kern="0" spc="100" dirty="0">
                <a:solidFill>
                  <a:srgbClr val="17A566"/>
                </a:solidFill>
                <a:latin typeface="Calibri" panose="020F0502020204030204" pitchFamily="34" charset="0"/>
                <a:ea typeface="Calibri" panose="020F0502020204030204" pitchFamily="34" charset="-122"/>
                <a:cs typeface="Calibri" panose="020F0502020204030204" pitchFamily="34" charset="-120"/>
              </a:rPr>
              <a:t>RECOMMENDED ACTION</a:t>
            </a:r>
            <a:endParaRPr lang="en-US" sz="900" dirty="0"/>
          </a:p>
        </p:txBody>
      </p:sp>
      <p:sp>
        <p:nvSpPr>
          <p:cNvPr id="21" name="Text 19"/>
          <p:cNvSpPr/>
          <p:nvPr/>
        </p:nvSpPr>
        <p:spPr>
          <a:xfrm>
            <a:off x="841248" y="5577840"/>
            <a:ext cx="4846320" cy="621792"/>
          </a:xfrm>
          <a:prstGeom prst="rect">
            <a:avLst/>
          </a:prstGeom>
          <a:noFill/>
        </p:spPr>
        <p:txBody>
          <a:bodyPr wrap="square" rtlCol="0" anchor="ctr"/>
          <a:lstStyle/>
          <a:p>
            <a:pPr marL="0" indent="0">
              <a:lnSpc>
                <a:spcPts val="1200"/>
              </a:lnSpc>
              <a:buNone/>
            </a:pPr>
            <a:r>
              <a:rPr lang="en-US" sz="980" i="1" dirty="0">
                <a:solidFill>
                  <a:srgbClr val="0F1B33"/>
                </a:solidFill>
                <a:latin typeface="Calibri" panose="020F0502020204030204" pitchFamily="34" charset="0"/>
                <a:ea typeface="Calibri" panose="020F0502020204030204" pitchFamily="34" charset="-122"/>
                <a:cs typeface="Calibri" panose="020F0502020204030204" pitchFamily="34" charset="-120"/>
              </a:rPr>
              <a:t>Continue standard monitoring schedule — no action needed at this time.</a:t>
            </a:r>
            <a:endParaRPr lang="en-US" sz="980" dirty="0"/>
          </a:p>
        </p:txBody>
      </p:sp>
      <p:sp>
        <p:nvSpPr>
          <p:cNvPr id="22" name="Shape 20"/>
          <p:cNvSpPr/>
          <p:nvPr/>
        </p:nvSpPr>
        <p:spPr>
          <a:xfrm>
            <a:off x="6245352" y="2103120"/>
            <a:ext cx="5394960" cy="4206240"/>
          </a:xfrm>
          <a:prstGeom prst="roundRect">
            <a:avLst>
              <a:gd name="adj" fmla="val 1957"/>
            </a:avLst>
          </a:prstGeom>
          <a:solidFill>
            <a:srgbClr val="FFFFFF"/>
          </a:solidFill>
          <a:ln w="19050">
            <a:solidFill>
              <a:srgbClr val="DC3545"/>
            </a:solidFill>
            <a:prstDash val="solid"/>
          </a:ln>
          <a:effectLst>
            <a:outerShdw blurRad="101600" dist="25400" dir="5400000" algn="bl" rotWithShape="0">
              <a:srgbClr val="3A4A7A">
                <a:alpha val="16000"/>
              </a:srgbClr>
            </a:outerShdw>
          </a:effectLst>
        </p:spPr>
      </p:sp>
      <p:sp>
        <p:nvSpPr>
          <p:cNvPr id="23" name="Shape 21"/>
          <p:cNvSpPr/>
          <p:nvPr/>
        </p:nvSpPr>
        <p:spPr>
          <a:xfrm>
            <a:off x="6537960" y="2286000"/>
            <a:ext cx="2377440" cy="365760"/>
          </a:xfrm>
          <a:prstGeom prst="roundRect">
            <a:avLst>
              <a:gd name="adj" fmla="val 50000"/>
            </a:avLst>
          </a:prstGeom>
          <a:solidFill>
            <a:srgbClr val="DC3545"/>
          </a:solidFill>
        </p:spPr>
      </p:sp>
      <p:sp>
        <p:nvSpPr>
          <p:cNvPr id="24" name="Text 22"/>
          <p:cNvSpPr/>
          <p:nvPr/>
        </p:nvSpPr>
        <p:spPr>
          <a:xfrm>
            <a:off x="6537960" y="2286000"/>
            <a:ext cx="2377440" cy="365760"/>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CRITICAL — ATTENTION NEEDED</a:t>
            </a:r>
            <a:endParaRPr lang="en-US" sz="1100" dirty="0"/>
          </a:p>
        </p:txBody>
      </p:sp>
      <p:sp>
        <p:nvSpPr>
          <p:cNvPr id="25" name="Text 23"/>
          <p:cNvSpPr/>
          <p:nvPr/>
        </p:nvSpPr>
        <p:spPr>
          <a:xfrm>
            <a:off x="6537960" y="2743200"/>
            <a:ext cx="4754880" cy="347472"/>
          </a:xfrm>
          <a:prstGeom prst="rect">
            <a:avLst/>
          </a:prstGeom>
          <a:noFill/>
        </p:spPr>
        <p:txBody>
          <a:bodyPr wrap="square" rtlCol="0" anchor="ctr"/>
          <a:lstStyle/>
          <a:p>
            <a:pPr marL="0" indent="0">
              <a:buNone/>
            </a:pPr>
            <a:r>
              <a:rPr lang="en-US" sz="1600" b="1" dirty="0">
                <a:solidFill>
                  <a:srgbClr val="0F1B33"/>
                </a:solidFill>
                <a:latin typeface="Segoe UI" panose="020B0502040204020203" pitchFamily="34" charset="0"/>
                <a:ea typeface="Segoe UI" panose="020B0502040204020203" pitchFamily="34" charset="-122"/>
                <a:cs typeface="Segoe UI" panose="020B0502040204020203" pitchFamily="34" charset="-120"/>
              </a:rPr>
              <a:t>Machine #C-217 — High Risk</a:t>
            </a:r>
            <a:endParaRPr lang="en-US" sz="1600" dirty="0"/>
          </a:p>
        </p:txBody>
      </p:sp>
      <p:sp>
        <p:nvSpPr>
          <p:cNvPr id="26" name="Text 24"/>
          <p:cNvSpPr/>
          <p:nvPr/>
        </p:nvSpPr>
        <p:spPr>
          <a:xfrm>
            <a:off x="6537960" y="3182112"/>
            <a:ext cx="2743200" cy="274320"/>
          </a:xfrm>
          <a:prstGeom prst="rect">
            <a:avLst/>
          </a:prstGeom>
          <a:noFill/>
        </p:spPr>
        <p:txBody>
          <a:bodyPr wrap="square" rtlCol="0" anchor="ctr"/>
          <a:lstStyle/>
          <a:p>
            <a:pPr marL="0" indent="0">
              <a:buNone/>
            </a:pPr>
            <a:r>
              <a:rPr lang="en-US" sz="1050" b="1" dirty="0">
                <a:solidFill>
                  <a:srgbClr val="56607A"/>
                </a:solidFill>
                <a:latin typeface="Calibri" panose="020F0502020204030204" pitchFamily="34" charset="0"/>
                <a:ea typeface="Calibri" panose="020F0502020204030204" pitchFamily="34" charset="-122"/>
                <a:cs typeface="Calibri" panose="020F0502020204030204" pitchFamily="34" charset="-120"/>
              </a:rPr>
              <a:t>Machine Health Score</a:t>
            </a:r>
            <a:endParaRPr lang="en-US" sz="1050" dirty="0"/>
          </a:p>
        </p:txBody>
      </p:sp>
      <p:sp>
        <p:nvSpPr>
          <p:cNvPr id="27" name="Text 25"/>
          <p:cNvSpPr/>
          <p:nvPr/>
        </p:nvSpPr>
        <p:spPr>
          <a:xfrm>
            <a:off x="10177272" y="3108960"/>
            <a:ext cx="1188720" cy="384048"/>
          </a:xfrm>
          <a:prstGeom prst="rect">
            <a:avLst/>
          </a:prstGeom>
          <a:noFill/>
        </p:spPr>
        <p:txBody>
          <a:bodyPr wrap="square" rtlCol="0" anchor="ctr"/>
          <a:lstStyle/>
          <a:p>
            <a:pPr marL="0" indent="0" algn="r">
              <a:buNone/>
            </a:pPr>
            <a:r>
              <a:rPr lang="en-US" sz="1700" b="1" dirty="0">
                <a:solidFill>
                  <a:srgbClr val="DC3545"/>
                </a:solidFill>
                <a:latin typeface="Segoe UI" panose="020B0502040204020203" pitchFamily="34" charset="0"/>
                <a:ea typeface="Segoe UI" panose="020B0502040204020203" pitchFamily="34" charset="-122"/>
                <a:cs typeface="Segoe UI" panose="020B0502040204020203" pitchFamily="34" charset="-120"/>
              </a:rPr>
              <a:t>14%</a:t>
            </a:r>
            <a:endParaRPr lang="en-US" sz="1700" dirty="0"/>
          </a:p>
        </p:txBody>
      </p:sp>
      <p:sp>
        <p:nvSpPr>
          <p:cNvPr id="28" name="Shape 26"/>
          <p:cNvSpPr/>
          <p:nvPr/>
        </p:nvSpPr>
        <p:spPr>
          <a:xfrm>
            <a:off x="6537960" y="3520440"/>
            <a:ext cx="4800600" cy="237744"/>
          </a:xfrm>
          <a:prstGeom prst="roundRect">
            <a:avLst>
              <a:gd name="adj" fmla="val 50000"/>
            </a:avLst>
          </a:prstGeom>
          <a:solidFill>
            <a:srgbClr val="E4E9F7"/>
          </a:solidFill>
        </p:spPr>
      </p:sp>
      <p:sp>
        <p:nvSpPr>
          <p:cNvPr id="29" name="Shape 27"/>
          <p:cNvSpPr/>
          <p:nvPr/>
        </p:nvSpPr>
        <p:spPr>
          <a:xfrm>
            <a:off x="6537960" y="3520440"/>
            <a:ext cx="1296162" cy="237744"/>
          </a:xfrm>
          <a:prstGeom prst="roundRect">
            <a:avLst>
              <a:gd name="adj" fmla="val 50000"/>
            </a:avLst>
          </a:prstGeom>
          <a:solidFill>
            <a:srgbClr val="DC3545"/>
          </a:solidFill>
        </p:spPr>
      </p:sp>
      <p:sp>
        <p:nvSpPr>
          <p:cNvPr id="30" name="Text 28"/>
          <p:cNvSpPr/>
          <p:nvPr/>
        </p:nvSpPr>
        <p:spPr>
          <a:xfrm>
            <a:off x="6537960" y="3886200"/>
            <a:ext cx="2743200" cy="274320"/>
          </a:xfrm>
          <a:prstGeom prst="rect">
            <a:avLst/>
          </a:prstGeom>
          <a:noFill/>
        </p:spPr>
        <p:txBody>
          <a:bodyPr wrap="square" rtlCol="0" anchor="ctr"/>
          <a:lstStyle/>
          <a:p>
            <a:pPr marL="0" indent="0">
              <a:buNone/>
            </a:pPr>
            <a:r>
              <a:rPr lang="en-US" sz="1050" b="1" dirty="0">
                <a:solidFill>
                  <a:srgbClr val="56607A"/>
                </a:solidFill>
                <a:latin typeface="Calibri" panose="020F0502020204030204" pitchFamily="34" charset="0"/>
                <a:ea typeface="Calibri" panose="020F0502020204030204" pitchFamily="34" charset="-122"/>
                <a:cs typeface="Calibri" panose="020F0502020204030204" pitchFamily="34" charset="-120"/>
              </a:rPr>
              <a:t>Failure Probability</a:t>
            </a:r>
            <a:endParaRPr lang="en-US" sz="1050" dirty="0"/>
          </a:p>
        </p:txBody>
      </p:sp>
      <p:sp>
        <p:nvSpPr>
          <p:cNvPr id="31" name="Text 29"/>
          <p:cNvSpPr/>
          <p:nvPr/>
        </p:nvSpPr>
        <p:spPr>
          <a:xfrm>
            <a:off x="10177272" y="3813048"/>
            <a:ext cx="1188720" cy="384048"/>
          </a:xfrm>
          <a:prstGeom prst="rect">
            <a:avLst/>
          </a:prstGeom>
          <a:noFill/>
        </p:spPr>
        <p:txBody>
          <a:bodyPr wrap="square" rtlCol="0" anchor="ctr"/>
          <a:lstStyle/>
          <a:p>
            <a:pPr marL="0" indent="0" algn="r">
              <a:buNone/>
            </a:pPr>
            <a:r>
              <a:rPr lang="en-US" sz="1700" b="1" dirty="0">
                <a:solidFill>
                  <a:srgbClr val="DC3545"/>
                </a:solidFill>
                <a:latin typeface="Segoe UI" panose="020B0502040204020203" pitchFamily="34" charset="0"/>
                <a:ea typeface="Segoe UI" panose="020B0502040204020203" pitchFamily="34" charset="-122"/>
                <a:cs typeface="Segoe UI" panose="020B0502040204020203" pitchFamily="34" charset="-120"/>
              </a:rPr>
              <a:t>86%</a:t>
            </a:r>
            <a:endParaRPr lang="en-US" sz="1700" dirty="0"/>
          </a:p>
        </p:txBody>
      </p:sp>
      <p:sp>
        <p:nvSpPr>
          <p:cNvPr id="32" name="Shape 30"/>
          <p:cNvSpPr/>
          <p:nvPr/>
        </p:nvSpPr>
        <p:spPr>
          <a:xfrm>
            <a:off x="6537960" y="4224528"/>
            <a:ext cx="4800600" cy="237744"/>
          </a:xfrm>
          <a:prstGeom prst="roundRect">
            <a:avLst>
              <a:gd name="adj" fmla="val 50000"/>
            </a:avLst>
          </a:prstGeom>
          <a:solidFill>
            <a:srgbClr val="E4E9F7"/>
          </a:solidFill>
        </p:spPr>
      </p:sp>
      <p:sp>
        <p:nvSpPr>
          <p:cNvPr id="33" name="Shape 31"/>
          <p:cNvSpPr/>
          <p:nvPr/>
        </p:nvSpPr>
        <p:spPr>
          <a:xfrm>
            <a:off x="6537960" y="4224528"/>
            <a:ext cx="4128516" cy="237744"/>
          </a:xfrm>
          <a:prstGeom prst="roundRect">
            <a:avLst>
              <a:gd name="adj" fmla="val 50000"/>
            </a:avLst>
          </a:prstGeom>
          <a:solidFill>
            <a:srgbClr val="DC3545"/>
          </a:solidFill>
        </p:spPr>
      </p:sp>
      <p:sp>
        <p:nvSpPr>
          <p:cNvPr id="34" name="Shape 32"/>
          <p:cNvSpPr/>
          <p:nvPr/>
        </p:nvSpPr>
        <p:spPr>
          <a:xfrm>
            <a:off x="6537960" y="4709160"/>
            <a:ext cx="4800600" cy="0"/>
          </a:xfrm>
          <a:prstGeom prst="line">
            <a:avLst/>
          </a:prstGeom>
          <a:noFill/>
          <a:ln w="12700">
            <a:solidFill>
              <a:srgbClr val="E4E9F7"/>
            </a:solidFill>
            <a:prstDash val="solid"/>
          </a:ln>
        </p:spPr>
      </p:sp>
      <p:sp>
        <p:nvSpPr>
          <p:cNvPr id="35" name="Text 33"/>
          <p:cNvSpPr/>
          <p:nvPr/>
        </p:nvSpPr>
        <p:spPr>
          <a:xfrm>
            <a:off x="6537960" y="4800600"/>
            <a:ext cx="4572000" cy="219456"/>
          </a:xfrm>
          <a:prstGeom prst="rect">
            <a:avLst/>
          </a:prstGeom>
          <a:noFill/>
        </p:spPr>
        <p:txBody>
          <a:bodyPr wrap="square" rtlCol="0" anchor="ctr"/>
          <a:lstStyle/>
          <a:p>
            <a:pPr marL="0" indent="0">
              <a:buNone/>
            </a:pPr>
            <a:r>
              <a:rPr lang="en-US" sz="900" b="1" kern="0" spc="100" dirty="0">
                <a:solidFill>
                  <a:srgbClr val="56607A"/>
                </a:solidFill>
                <a:latin typeface="Calibri" panose="020F0502020204030204" pitchFamily="34" charset="0"/>
                <a:ea typeface="Calibri" panose="020F0502020204030204" pitchFamily="34" charset="-122"/>
                <a:cs typeface="Calibri" panose="020F0502020204030204" pitchFamily="34" charset="-120"/>
              </a:rPr>
              <a:t>KEY SENSOR SIGNALS</a:t>
            </a:r>
            <a:endParaRPr lang="en-US" sz="900" dirty="0"/>
          </a:p>
        </p:txBody>
      </p:sp>
      <p:sp>
        <p:nvSpPr>
          <p:cNvPr id="36" name="Text 34"/>
          <p:cNvSpPr/>
          <p:nvPr/>
        </p:nvSpPr>
        <p:spPr>
          <a:xfrm>
            <a:off x="6537960" y="5029200"/>
            <a:ext cx="4800600" cy="292608"/>
          </a:xfrm>
          <a:prstGeom prst="rect">
            <a:avLst/>
          </a:prstGeom>
          <a:noFill/>
        </p:spPr>
        <p:txBody>
          <a:bodyPr wrap="square" rtlCol="0" anchor="ctr"/>
          <a:lstStyle/>
          <a:p>
            <a:pPr marL="0" indent="0">
              <a:buNone/>
            </a:pPr>
            <a:r>
              <a:rPr lang="en-US" sz="970" dirty="0">
                <a:solidFill>
                  <a:srgbClr val="0F1B33"/>
                </a:solidFill>
                <a:latin typeface="Calibri" panose="020F0502020204030204" pitchFamily="34" charset="0"/>
                <a:ea typeface="Calibri" panose="020F0502020204030204" pitchFamily="34" charset="-122"/>
                <a:cs typeface="Calibri" panose="020F0502020204030204" pitchFamily="34" charset="-120"/>
              </a:rPr>
              <a:t>Torque 61 Nm · Rotational Speed 2,340 rpm · Tool Wear 214 min</a:t>
            </a:r>
            <a:endParaRPr lang="en-US" sz="970" dirty="0"/>
          </a:p>
        </p:txBody>
      </p:sp>
      <p:sp>
        <p:nvSpPr>
          <p:cNvPr id="37" name="Text 35"/>
          <p:cNvSpPr/>
          <p:nvPr/>
        </p:nvSpPr>
        <p:spPr>
          <a:xfrm>
            <a:off x="6537960" y="5376672"/>
            <a:ext cx="4572000" cy="201168"/>
          </a:xfrm>
          <a:prstGeom prst="rect">
            <a:avLst/>
          </a:prstGeom>
          <a:noFill/>
        </p:spPr>
        <p:txBody>
          <a:bodyPr wrap="square" rtlCol="0" anchor="ctr"/>
          <a:lstStyle/>
          <a:p>
            <a:pPr marL="0" indent="0">
              <a:buNone/>
            </a:pPr>
            <a:r>
              <a:rPr lang="en-US" sz="900" b="1" kern="0" spc="100" dirty="0">
                <a:solidFill>
                  <a:srgbClr val="DC3545"/>
                </a:solidFill>
                <a:latin typeface="Calibri" panose="020F0502020204030204" pitchFamily="34" charset="0"/>
                <a:ea typeface="Calibri" panose="020F0502020204030204" pitchFamily="34" charset="-122"/>
                <a:cs typeface="Calibri" panose="020F0502020204030204" pitchFamily="34" charset="-120"/>
              </a:rPr>
              <a:t>RECOMMENDED ACTION</a:t>
            </a:r>
            <a:endParaRPr lang="en-US" sz="900" dirty="0"/>
          </a:p>
        </p:txBody>
      </p:sp>
      <p:sp>
        <p:nvSpPr>
          <p:cNvPr id="38" name="Text 36"/>
          <p:cNvSpPr/>
          <p:nvPr/>
        </p:nvSpPr>
        <p:spPr>
          <a:xfrm>
            <a:off x="6537960" y="5577840"/>
            <a:ext cx="4846320" cy="621792"/>
          </a:xfrm>
          <a:prstGeom prst="rect">
            <a:avLst/>
          </a:prstGeom>
          <a:noFill/>
        </p:spPr>
        <p:txBody>
          <a:bodyPr wrap="square" rtlCol="0" anchor="ctr"/>
          <a:lstStyle/>
          <a:p>
            <a:pPr marL="0" indent="0">
              <a:lnSpc>
                <a:spcPts val="1200"/>
              </a:lnSpc>
              <a:buNone/>
            </a:pPr>
            <a:r>
              <a:rPr lang="en-US" sz="980" i="1" dirty="0">
                <a:solidFill>
                  <a:srgbClr val="0F1B33"/>
                </a:solidFill>
                <a:latin typeface="Calibri" panose="020F0502020204030204" pitchFamily="34" charset="0"/>
                <a:ea typeface="Calibri" panose="020F0502020204030204" pitchFamily="34" charset="-122"/>
                <a:cs typeface="Calibri" panose="020F0502020204030204" pitchFamily="34" charset="-120"/>
              </a:rPr>
              <a:t>Self-healing action: reduce load, inspect tool insert, and schedule immediate maintenance.</a:t>
            </a:r>
            <a:endParaRPr lang="en-US" sz="9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8229600" cy="310896"/>
          </a:xfrm>
          <a:prstGeom prst="rect">
            <a:avLst/>
          </a:prstGeom>
          <a:noFill/>
        </p:spPr>
        <p:txBody>
          <a:bodyPr wrap="square" rtlCol="0" anchor="ctr"/>
          <a:lstStyle/>
          <a:p>
            <a:pPr marL="0" indent="0">
              <a:buNone/>
            </a:pPr>
            <a:r>
              <a:rPr lang="en-US" sz="1200" b="1" kern="0" spc="200" dirty="0">
                <a:solidFill>
                  <a:srgbClr val="1657E0"/>
                </a:solidFill>
                <a:latin typeface="Times New Roman" panose="02020603050405020304" charset="0"/>
                <a:ea typeface="Calibri" panose="020F0502020204030204" pitchFamily="34" charset="-122"/>
                <a:cs typeface="Times New Roman" panose="02020603050405020304" charset="0"/>
              </a:rPr>
              <a:t>RESULTS</a:t>
            </a:r>
            <a:endParaRPr lang="en-US" sz="1200" dirty="0">
              <a:latin typeface="Times New Roman" panose="02020603050405020304" charset="0"/>
              <a:cs typeface="Times New Roman" panose="02020603050405020304" charset="0"/>
            </a:endParaRPr>
          </a:p>
        </p:txBody>
      </p:sp>
      <p:sp>
        <p:nvSpPr>
          <p:cNvPr id="3" name="Text 1"/>
          <p:cNvSpPr/>
          <p:nvPr/>
        </p:nvSpPr>
        <p:spPr>
          <a:xfrm>
            <a:off x="530352" y="640080"/>
            <a:ext cx="11155680" cy="868680"/>
          </a:xfrm>
          <a:prstGeom prst="rect">
            <a:avLst/>
          </a:prstGeom>
          <a:noFill/>
        </p:spPr>
        <p:txBody>
          <a:bodyPr wrap="square" rtlCol="0" anchor="ctr"/>
          <a:lstStyle/>
          <a:p>
            <a:pPr marL="0" indent="0">
              <a:buNone/>
            </a:pPr>
            <a:r>
              <a:rPr lang="en-US" sz="3000" b="1" dirty="0">
                <a:solidFill>
                  <a:srgbClr val="0F1B33"/>
                </a:solidFill>
                <a:latin typeface="Times New Roman" panose="02020603050405020304" charset="0"/>
                <a:ea typeface="Segoe UI" panose="020B0502040204020203" pitchFamily="34" charset="-122"/>
                <a:cs typeface="Times New Roman" panose="02020603050405020304" charset="0"/>
              </a:rPr>
              <a:t>Random Forest Delivers the Strongest Performance</a:t>
            </a:r>
            <a:endParaRPr lang="en-US" sz="3000" dirty="0">
              <a:latin typeface="Times New Roman" panose="02020603050405020304" charset="0"/>
              <a:cs typeface="Times New Roman" panose="02020603050405020304" charset="0"/>
            </a:endParaRPr>
          </a:p>
        </p:txBody>
      </p:sp>
      <p:sp>
        <p:nvSpPr>
          <p:cNvPr id="4" name="Shape 2"/>
          <p:cNvSpPr/>
          <p:nvPr/>
        </p:nvSpPr>
        <p:spPr>
          <a:xfrm>
            <a:off x="548640" y="1508760"/>
            <a:ext cx="3137535" cy="3282315"/>
          </a:xfrm>
          <a:prstGeom prst="roundRect">
            <a:avLst>
              <a:gd name="adj" fmla="val 3273"/>
            </a:avLst>
          </a:prstGeom>
          <a:solidFill>
            <a:srgbClr val="FFFFFF"/>
          </a:solidFill>
          <a:effectLst>
            <a:outerShdw blurRad="101600" dist="25400" dir="5400000" algn="bl" rotWithShape="0">
              <a:srgbClr val="3A4A7A">
                <a:alpha val="16000"/>
              </a:srgbClr>
            </a:outerShdw>
          </a:effectLst>
        </p:spPr>
      </p:sp>
      <p:sp>
        <p:nvSpPr>
          <p:cNvPr id="5" name="Text 3"/>
          <p:cNvSpPr/>
          <p:nvPr/>
        </p:nvSpPr>
        <p:spPr>
          <a:xfrm>
            <a:off x="777240" y="1618615"/>
            <a:ext cx="2920365" cy="290830"/>
          </a:xfrm>
          <a:prstGeom prst="rect">
            <a:avLst/>
          </a:prstGeom>
          <a:noFill/>
        </p:spPr>
        <p:txBody>
          <a:bodyPr wrap="square" rtlCol="0" anchor="ctr"/>
          <a:lstStyle/>
          <a:p>
            <a:pPr marL="0" indent="0">
              <a:buNone/>
            </a:pPr>
            <a:r>
              <a:rPr lang="en-US" sz="1400" b="1" dirty="0">
                <a:solidFill>
                  <a:srgbClr val="0F1B33"/>
                </a:solidFill>
                <a:latin typeface="Times New Roman" panose="02020603050405020304" charset="0"/>
                <a:ea typeface="Segoe UI" panose="020B0502040204020203" pitchFamily="34" charset="-122"/>
                <a:cs typeface="Times New Roman" panose="02020603050405020304" charset="0"/>
              </a:rPr>
              <a:t>    Model Accuracy Comparison</a:t>
            </a:r>
            <a:endParaRPr lang="en-US" sz="1400" dirty="0">
              <a:latin typeface="Times New Roman" panose="02020603050405020304" charset="0"/>
              <a:cs typeface="Times New Roman" panose="02020603050405020304" charset="0"/>
            </a:endParaRPr>
          </a:p>
        </p:txBody>
      </p:sp>
      <p:pic>
        <p:nvPicPr>
          <p:cNvPr id="6" name="Image 0" descr="/home/claude/proj2/cropped/model_comparison.png"/>
          <p:cNvPicPr>
            <a:picLocks noChangeAspect="1"/>
          </p:cNvPicPr>
          <p:nvPr/>
        </p:nvPicPr>
        <p:blipFill>
          <a:blip r:embed="rId1"/>
          <a:srcRect l="2108" t="2877" r="59942" b="13922"/>
          <a:stretch>
            <a:fillRect/>
          </a:stretch>
        </p:blipFill>
        <p:spPr>
          <a:xfrm>
            <a:off x="570230" y="1931670"/>
            <a:ext cx="3103880" cy="2664460"/>
          </a:xfrm>
          <a:prstGeom prst="rect">
            <a:avLst/>
          </a:prstGeom>
        </p:spPr>
      </p:pic>
      <p:sp>
        <p:nvSpPr>
          <p:cNvPr id="7" name="Shape 4"/>
          <p:cNvSpPr/>
          <p:nvPr/>
        </p:nvSpPr>
        <p:spPr>
          <a:xfrm>
            <a:off x="3887470" y="1502410"/>
            <a:ext cx="3236595" cy="3291840"/>
          </a:xfrm>
          <a:prstGeom prst="roundRect">
            <a:avLst>
              <a:gd name="adj" fmla="val 3273"/>
            </a:avLst>
          </a:prstGeom>
          <a:solidFill>
            <a:srgbClr val="FFFFFF"/>
          </a:solidFill>
          <a:effectLst>
            <a:outerShdw blurRad="101600" dist="25400" dir="5400000" algn="bl" rotWithShape="0">
              <a:srgbClr val="3A4A7A">
                <a:alpha val="16000"/>
              </a:srgbClr>
            </a:outerShdw>
          </a:effectLst>
        </p:spPr>
      </p:sp>
      <p:sp>
        <p:nvSpPr>
          <p:cNvPr id="8" name="Text 5"/>
          <p:cNvSpPr/>
          <p:nvPr/>
        </p:nvSpPr>
        <p:spPr>
          <a:xfrm>
            <a:off x="3893185" y="1638935"/>
            <a:ext cx="3576955" cy="272415"/>
          </a:xfrm>
          <a:prstGeom prst="rect">
            <a:avLst/>
          </a:prstGeom>
          <a:noFill/>
        </p:spPr>
        <p:txBody>
          <a:bodyPr wrap="square" rtlCol="0" anchor="ctr"/>
          <a:lstStyle/>
          <a:p>
            <a:pPr marL="0" indent="0">
              <a:buNone/>
            </a:pPr>
            <a:r>
              <a:rPr lang="en-US" sz="1400" b="1" dirty="0">
                <a:solidFill>
                  <a:srgbClr val="0F1B33"/>
                </a:solidFill>
                <a:latin typeface="Times New Roman" panose="02020603050405020304" charset="0"/>
                <a:ea typeface="Segoe UI" panose="020B0502040204020203" pitchFamily="34" charset="-122"/>
                <a:cs typeface="Times New Roman" panose="02020603050405020304" charset="0"/>
              </a:rPr>
              <a:t>Confusion Matrix — Random Forest</a:t>
            </a:r>
            <a:endParaRPr lang="en-US" sz="1400" dirty="0">
              <a:latin typeface="Times New Roman" panose="02020603050405020304" charset="0"/>
              <a:cs typeface="Times New Roman" panose="02020603050405020304" charset="0"/>
            </a:endParaRPr>
          </a:p>
        </p:txBody>
      </p:sp>
      <p:pic>
        <p:nvPicPr>
          <p:cNvPr id="9" name="Image 1" descr="/home/claude/proj2/cropped/confusion_matrix.png"/>
          <p:cNvPicPr>
            <a:picLocks noChangeAspect="1"/>
          </p:cNvPicPr>
          <p:nvPr/>
        </p:nvPicPr>
        <p:blipFill>
          <a:blip r:embed="rId2"/>
          <a:srcRect l="7481" t="5136" r="45847" b="6783"/>
          <a:stretch>
            <a:fillRect/>
          </a:stretch>
        </p:blipFill>
        <p:spPr>
          <a:xfrm>
            <a:off x="3884930" y="1859280"/>
            <a:ext cx="3228340" cy="2917825"/>
          </a:xfrm>
          <a:prstGeom prst="rect">
            <a:avLst/>
          </a:prstGeom>
        </p:spPr>
      </p:pic>
      <p:sp>
        <p:nvSpPr>
          <p:cNvPr id="10" name="Shape 6"/>
          <p:cNvSpPr/>
          <p:nvPr/>
        </p:nvSpPr>
        <p:spPr>
          <a:xfrm>
            <a:off x="530225" y="5193665"/>
            <a:ext cx="11109960" cy="1537970"/>
          </a:xfrm>
          <a:prstGeom prst="roundRect">
            <a:avLst>
              <a:gd name="adj" fmla="val 4186"/>
            </a:avLst>
          </a:prstGeom>
          <a:solidFill>
            <a:srgbClr val="0A1E4A"/>
          </a:solidFill>
          <a:effectLst>
            <a:outerShdw blurRad="101600" dist="25400" dir="5400000" algn="bl" rotWithShape="0">
              <a:srgbClr val="3A4A7A">
                <a:alpha val="16000"/>
              </a:srgbClr>
            </a:outerShdw>
          </a:effectLst>
        </p:spPr>
      </p:sp>
      <p:sp>
        <p:nvSpPr>
          <p:cNvPr id="11" name="Text 7"/>
          <p:cNvSpPr/>
          <p:nvPr/>
        </p:nvSpPr>
        <p:spPr>
          <a:xfrm>
            <a:off x="822960" y="5273675"/>
            <a:ext cx="4572000" cy="281305"/>
          </a:xfrm>
          <a:prstGeom prst="rect">
            <a:avLst/>
          </a:prstGeom>
          <a:noFill/>
        </p:spPr>
        <p:txBody>
          <a:bodyPr wrap="square" rtlCol="0" anchor="ctr"/>
          <a:lstStyle/>
          <a:p>
            <a:pPr marL="0" indent="0">
              <a:buNone/>
            </a:pPr>
            <a:r>
              <a:rPr lang="en-US" sz="1600" b="1" kern="0" spc="150" dirty="0">
                <a:solidFill>
                  <a:srgbClr val="22D3EE"/>
                </a:solidFill>
                <a:latin typeface="Times New Roman" panose="02020603050405020304" charset="0"/>
                <a:ea typeface="Calibri" panose="020F0502020204030204" pitchFamily="34" charset="-122"/>
                <a:cs typeface="Times New Roman" panose="02020603050405020304" charset="0"/>
              </a:rPr>
              <a:t>KEY FINDINGS</a:t>
            </a:r>
            <a:endParaRPr lang="en-US" sz="1600" dirty="0">
              <a:latin typeface="Times New Roman" panose="02020603050405020304" charset="0"/>
              <a:cs typeface="Times New Roman" panose="02020603050405020304" charset="0"/>
            </a:endParaRPr>
          </a:p>
        </p:txBody>
      </p:sp>
      <p:sp>
        <p:nvSpPr>
          <p:cNvPr id="12" name="Text 8"/>
          <p:cNvSpPr/>
          <p:nvPr/>
        </p:nvSpPr>
        <p:spPr>
          <a:xfrm>
            <a:off x="868680" y="5558790"/>
            <a:ext cx="5212080" cy="1002030"/>
          </a:xfrm>
          <a:prstGeom prst="rect">
            <a:avLst/>
          </a:prstGeom>
          <a:noFill/>
        </p:spPr>
        <p:txBody>
          <a:bodyPr wrap="square" rtlCol="0" anchor="ctr"/>
          <a:lstStyle/>
          <a:p>
            <a:pPr marL="177800" indent="-177800">
              <a:lnSpc>
                <a:spcPts val="1500"/>
              </a:lnSpc>
              <a:spcAft>
                <a:spcPts val="800"/>
              </a:spcAft>
              <a:buSzPct val="100000"/>
              <a:buChar char="•"/>
            </a:pPr>
            <a:r>
              <a:rPr lang="en-US" sz="1200" dirty="0">
                <a:solidFill>
                  <a:srgbClr val="D9E2FF"/>
                </a:solidFill>
                <a:latin typeface="Times New Roman" panose="02020603050405020304" charset="0"/>
                <a:ea typeface="Calibri" panose="020F0502020204030204" pitchFamily="34" charset="-122"/>
                <a:cs typeface="Times New Roman" panose="02020603050405020304" charset="0"/>
              </a:rPr>
              <a:t>Random Forest achieved the highest accuracy at 98.40% among all models tested.</a:t>
            </a:r>
            <a:endParaRPr lang="en-US" sz="1200" dirty="0">
              <a:latin typeface="Times New Roman" panose="02020603050405020304" charset="0"/>
              <a:cs typeface="Times New Roman" panose="02020603050405020304" charset="0"/>
            </a:endParaRPr>
          </a:p>
          <a:p>
            <a:pPr marL="177800" indent="-177800">
              <a:lnSpc>
                <a:spcPts val="1500"/>
              </a:lnSpc>
              <a:spcAft>
                <a:spcPts val="800"/>
              </a:spcAft>
              <a:buSzPct val="100000"/>
              <a:buChar char="•"/>
            </a:pPr>
            <a:r>
              <a:rPr lang="en-US" sz="1200" dirty="0">
                <a:solidFill>
                  <a:srgbClr val="D9E2FF"/>
                </a:solidFill>
                <a:latin typeface="Times New Roman" panose="02020603050405020304" charset="0"/>
                <a:ea typeface="Calibri" panose="020F0502020204030204" pitchFamily="34" charset="-122"/>
                <a:cs typeface="Times New Roman" panose="02020603050405020304" charset="0"/>
              </a:rPr>
              <a:t>Only 7 false alarms and 25 missed failures out of ~2,000 test cases.</a:t>
            </a:r>
            <a:endParaRPr lang="en-US" sz="1200" dirty="0">
              <a:latin typeface="Times New Roman" panose="02020603050405020304" charset="0"/>
              <a:cs typeface="Times New Roman" panose="02020603050405020304" charset="0"/>
            </a:endParaRPr>
          </a:p>
          <a:p>
            <a:pPr marL="177800" indent="-177800">
              <a:lnSpc>
                <a:spcPts val="1500"/>
              </a:lnSpc>
              <a:spcAft>
                <a:spcPts val="800"/>
              </a:spcAft>
              <a:buSzPct val="100000"/>
              <a:buChar char="•"/>
            </a:pPr>
            <a:r>
              <a:rPr lang="en-US" sz="1200" dirty="0">
                <a:solidFill>
                  <a:srgbClr val="D9E2FF"/>
                </a:solidFill>
                <a:latin typeface="Times New Roman" panose="02020603050405020304" charset="0"/>
                <a:ea typeface="Calibri" panose="020F0502020204030204" pitchFamily="34" charset="-122"/>
                <a:cs typeface="Times New Roman" panose="02020603050405020304" charset="0"/>
              </a:rPr>
              <a:t>Torque and Rotational Speed emerged as the strongest failure predictors.</a:t>
            </a:r>
            <a:endParaRPr lang="en-US" sz="1200" dirty="0">
              <a:latin typeface="Times New Roman" panose="02020603050405020304" charset="0"/>
              <a:cs typeface="Times New Roman" panose="02020603050405020304" charset="0"/>
            </a:endParaRPr>
          </a:p>
        </p:txBody>
      </p:sp>
      <p:sp>
        <p:nvSpPr>
          <p:cNvPr id="13" name="Text 9"/>
          <p:cNvSpPr/>
          <p:nvPr/>
        </p:nvSpPr>
        <p:spPr>
          <a:xfrm>
            <a:off x="6263640" y="5554345"/>
            <a:ext cx="5212080" cy="1006475"/>
          </a:xfrm>
          <a:prstGeom prst="rect">
            <a:avLst/>
          </a:prstGeom>
          <a:noFill/>
        </p:spPr>
        <p:txBody>
          <a:bodyPr wrap="square" rtlCol="0" anchor="ctr"/>
          <a:lstStyle/>
          <a:p>
            <a:pPr marL="177800" indent="-177800">
              <a:lnSpc>
                <a:spcPts val="1500"/>
              </a:lnSpc>
              <a:spcAft>
                <a:spcPts val="800"/>
              </a:spcAft>
              <a:buSzPct val="100000"/>
              <a:buChar char="•"/>
            </a:pPr>
            <a:r>
              <a:rPr lang="en-US" sz="1200" dirty="0">
                <a:solidFill>
                  <a:srgbClr val="D9E2FF"/>
                </a:solidFill>
                <a:latin typeface="Times New Roman" panose="02020603050405020304" charset="0"/>
                <a:ea typeface="Calibri" panose="020F0502020204030204" pitchFamily="34" charset="-122"/>
                <a:cs typeface="Times New Roman" panose="02020603050405020304" charset="0"/>
              </a:rPr>
              <a:t>Model maintains high recall on the rare failure class despite class imbalance.</a:t>
            </a:r>
            <a:endParaRPr lang="en-US" sz="1200" dirty="0">
              <a:latin typeface="Times New Roman" panose="02020603050405020304" charset="0"/>
              <a:cs typeface="Times New Roman" panose="02020603050405020304" charset="0"/>
            </a:endParaRPr>
          </a:p>
          <a:p>
            <a:pPr marL="177800" indent="-177800">
              <a:lnSpc>
                <a:spcPts val="1500"/>
              </a:lnSpc>
              <a:spcAft>
                <a:spcPts val="800"/>
              </a:spcAft>
              <a:buSzPct val="100000"/>
              <a:buChar char="•"/>
            </a:pPr>
            <a:r>
              <a:rPr lang="en-US" sz="1200" dirty="0">
                <a:solidFill>
                  <a:srgbClr val="D9E2FF"/>
                </a:solidFill>
                <a:latin typeface="Times New Roman" panose="02020603050405020304" charset="0"/>
                <a:ea typeface="Calibri" panose="020F0502020204030204" pitchFamily="34" charset="-122"/>
                <a:cs typeface="Times New Roman" panose="02020603050405020304" charset="0"/>
              </a:rPr>
              <a:t>Consistent performance across all five failure modes (TWF, HDF, PWF, OSF, RNF).</a:t>
            </a:r>
            <a:endParaRPr lang="en-US" sz="1200" dirty="0">
              <a:latin typeface="Times New Roman" panose="02020603050405020304" charset="0"/>
              <a:cs typeface="Times New Roman" panose="02020603050405020304" charset="0"/>
            </a:endParaRPr>
          </a:p>
          <a:p>
            <a:pPr marL="177800" indent="-177800">
              <a:lnSpc>
                <a:spcPts val="1500"/>
              </a:lnSpc>
              <a:spcAft>
                <a:spcPts val="800"/>
              </a:spcAft>
              <a:buSzPct val="100000"/>
              <a:buChar char="•"/>
            </a:pPr>
            <a:r>
              <a:rPr lang="en-US" sz="1200" dirty="0">
                <a:solidFill>
                  <a:srgbClr val="D9E2FF"/>
                </a:solidFill>
                <a:latin typeface="Times New Roman" panose="02020603050405020304" charset="0"/>
                <a:ea typeface="Calibri" panose="020F0502020204030204" pitchFamily="34" charset="-122"/>
                <a:cs typeface="Times New Roman" panose="02020603050405020304" charset="0"/>
              </a:rPr>
              <a:t>Selected as the production model for real-time health scoring.</a:t>
            </a:r>
            <a:endParaRPr lang="en-US" sz="1200" dirty="0">
              <a:latin typeface="Times New Roman" panose="02020603050405020304" charset="0"/>
              <a:cs typeface="Times New Roman" panose="02020603050405020304" charset="0"/>
            </a:endParaRPr>
          </a:p>
        </p:txBody>
      </p:sp>
      <p:pic>
        <p:nvPicPr>
          <p:cNvPr id="16" name="Picture 15" descr="Screenshot (76)"/>
          <p:cNvPicPr>
            <a:picLocks noChangeAspect="1"/>
          </p:cNvPicPr>
          <p:nvPr/>
        </p:nvPicPr>
        <p:blipFill>
          <a:blip r:embed="rId3"/>
          <a:srcRect l="16392" t="32350" r="45391" b="16259"/>
          <a:stretch>
            <a:fillRect/>
          </a:stretch>
        </p:blipFill>
        <p:spPr>
          <a:xfrm>
            <a:off x="7391400" y="1502410"/>
            <a:ext cx="4504690" cy="35102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p:spPr>
        <p:txBody>
          <a:bodyPr wrap="square" rtlCol="0" anchor="ctr"/>
          <a:lstStyle/>
          <a:p>
            <a:pPr marL="0" indent="0">
              <a:buNone/>
            </a:pPr>
            <a:r>
              <a:rPr lang="en-US" sz="1200" b="1" kern="0" spc="200" dirty="0">
                <a:solidFill>
                  <a:srgbClr val="4B4FE0"/>
                </a:solidFill>
                <a:latin typeface="Times New Roman" panose="02020603050405020304" charset="0"/>
                <a:ea typeface="Calibri" panose="020F0502020204030204" pitchFamily="34" charset="-122"/>
                <a:cs typeface="Times New Roman" panose="02020603050405020304" charset="0"/>
              </a:rPr>
              <a:t>BENEFITS</a:t>
            </a:r>
            <a:endParaRPr lang="en-US" sz="1200" dirty="0">
              <a:latin typeface="Times New Roman" panose="02020603050405020304" charset="0"/>
              <a:cs typeface="Times New Roman" panose="02020603050405020304" charset="0"/>
            </a:endParaRPr>
          </a:p>
        </p:txBody>
      </p:sp>
      <p:sp>
        <p:nvSpPr>
          <p:cNvPr id="3" name="Text 1"/>
          <p:cNvSpPr/>
          <p:nvPr/>
        </p:nvSpPr>
        <p:spPr>
          <a:xfrm>
            <a:off x="530352" y="658368"/>
            <a:ext cx="11064240" cy="822960"/>
          </a:xfrm>
          <a:prstGeom prst="rect">
            <a:avLst/>
          </a:prstGeom>
          <a:noFill/>
        </p:spPr>
        <p:txBody>
          <a:bodyPr wrap="square" rtlCol="0" anchor="ctr"/>
          <a:lstStyle/>
          <a:p>
            <a:pPr marL="0" indent="0">
              <a:buNone/>
            </a:pPr>
            <a:r>
              <a:rPr lang="en-US" sz="3000" b="1" dirty="0">
                <a:solidFill>
                  <a:srgbClr val="1C2140"/>
                </a:solidFill>
                <a:latin typeface="Times New Roman" panose="02020603050405020304" charset="0"/>
                <a:ea typeface="Century Schoolbook" panose="02040604050505020304" pitchFamily="34" charset="-122"/>
                <a:cs typeface="Times New Roman" panose="02020603050405020304" charset="0"/>
              </a:rPr>
              <a:t>Key Benefits of Smart Failure Detection</a:t>
            </a:r>
            <a:endParaRPr lang="en-US" sz="3000" dirty="0">
              <a:latin typeface="Times New Roman" panose="02020603050405020304" charset="0"/>
              <a:cs typeface="Times New Roman" panose="02020603050405020304" charset="0"/>
            </a:endParaRPr>
          </a:p>
        </p:txBody>
      </p:sp>
      <p:sp>
        <p:nvSpPr>
          <p:cNvPr id="4" name="Text 2"/>
          <p:cNvSpPr/>
          <p:nvPr/>
        </p:nvSpPr>
        <p:spPr>
          <a:xfrm>
            <a:off x="548640" y="1417320"/>
            <a:ext cx="11064240" cy="548640"/>
          </a:xfrm>
          <a:prstGeom prst="rect">
            <a:avLst/>
          </a:prstGeom>
          <a:noFill/>
        </p:spPr>
        <p:txBody>
          <a:bodyPr wrap="square" rtlCol="0" anchor="ctr"/>
          <a:lstStyle/>
          <a:p>
            <a:pPr marL="0" indent="0">
              <a:lnSpc>
                <a:spcPts val="1800"/>
              </a:lnSpc>
              <a:buNone/>
            </a:pPr>
            <a:r>
              <a:rPr lang="en-US" dirty="0">
                <a:solidFill>
                  <a:srgbClr val="5B6178"/>
                </a:solidFill>
                <a:latin typeface="Times New Roman" panose="02020603050405020304" charset="0"/>
                <a:ea typeface="Calibri" panose="020F0502020204030204" pitchFamily="34" charset="-122"/>
                <a:cs typeface="Times New Roman" panose="02020603050405020304" charset="0"/>
              </a:rPr>
              <a:t>Adopting an ML-driven failure detection system delivers measurable improvements across operational efficiency, cost management, safety, and system reliability for organizations of all sizes.</a:t>
            </a:r>
            <a:endParaRPr lang="en-US" dirty="0">
              <a:latin typeface="Times New Roman" panose="02020603050405020304" charset="0"/>
              <a:cs typeface="Times New Roman" panose="02020603050405020304" charset="0"/>
            </a:endParaRPr>
          </a:p>
        </p:txBody>
      </p:sp>
      <p:sp>
        <p:nvSpPr>
          <p:cNvPr id="5" name="Shape 3"/>
          <p:cNvSpPr/>
          <p:nvPr/>
        </p:nvSpPr>
        <p:spPr>
          <a:xfrm>
            <a:off x="548640" y="2148840"/>
            <a:ext cx="2624328" cy="3566160"/>
          </a:xfrm>
          <a:prstGeom prst="roundRect">
            <a:avLst>
              <a:gd name="adj" fmla="val 3484"/>
            </a:avLst>
          </a:prstGeom>
          <a:solidFill>
            <a:srgbClr val="161B45"/>
          </a:solidFill>
          <a:effectLst>
            <a:outerShdw blurRad="88900" dist="25400" dir="5400000" algn="bl" rotWithShape="0">
              <a:srgbClr val="5B6178">
                <a:alpha val="16000"/>
              </a:srgbClr>
            </a:outerShdw>
          </a:effectLst>
        </p:spPr>
      </p:sp>
      <p:sp>
        <p:nvSpPr>
          <p:cNvPr id="6" name="Text 4"/>
          <p:cNvSpPr/>
          <p:nvPr/>
        </p:nvSpPr>
        <p:spPr>
          <a:xfrm>
            <a:off x="548640" y="2423160"/>
            <a:ext cx="2624328" cy="640080"/>
          </a:xfrm>
          <a:prstGeom prst="rect">
            <a:avLst/>
          </a:prstGeom>
          <a:noFill/>
        </p:spPr>
        <p:txBody>
          <a:bodyPr wrap="square" rtlCol="0" anchor="ctr"/>
          <a:lstStyle/>
          <a:p>
            <a:pPr marL="0" indent="0" algn="ctr">
              <a:buNone/>
            </a:pPr>
            <a:r>
              <a:rPr lang="en-US" sz="3000" b="1" dirty="0">
                <a:solidFill>
                  <a:srgbClr val="34D1BF"/>
                </a:solidFill>
                <a:latin typeface="Calibri" panose="020F0502020204030204" pitchFamily="34" charset="0"/>
                <a:ea typeface="Calibri" panose="020F0502020204030204" pitchFamily="34" charset="-122"/>
                <a:cs typeface="Calibri" panose="020F0502020204030204" pitchFamily="34" charset="-120"/>
              </a:rPr>
              <a:t>↓</a:t>
            </a:r>
            <a:endParaRPr lang="en-US" sz="3000" dirty="0"/>
          </a:p>
        </p:txBody>
      </p:sp>
      <p:sp>
        <p:nvSpPr>
          <p:cNvPr id="7" name="Text 5"/>
          <p:cNvSpPr/>
          <p:nvPr/>
        </p:nvSpPr>
        <p:spPr>
          <a:xfrm>
            <a:off x="548640" y="3017520"/>
            <a:ext cx="2624328" cy="502920"/>
          </a:xfrm>
          <a:prstGeom prst="rect">
            <a:avLst/>
          </a:prstGeom>
          <a:noFill/>
        </p:spPr>
        <p:txBody>
          <a:bodyPr wrap="square" rtlCol="0" anchor="ctr"/>
          <a:lstStyle/>
          <a:p>
            <a:pPr marL="0" indent="0" algn="ctr">
              <a:buNone/>
            </a:pPr>
            <a:r>
              <a:rPr lang="en-US" sz="2000" b="1" dirty="0">
                <a:solidFill>
                  <a:srgbClr val="FFFFFF"/>
                </a:solidFill>
                <a:latin typeface="Century Schoolbook" panose="02040604050505020304" pitchFamily="34" charset="0"/>
                <a:ea typeface="Century Schoolbook" panose="02040604050505020304" pitchFamily="34" charset="-122"/>
                <a:cs typeface="Century Schoolbook" panose="02040604050505020304" pitchFamily="34" charset="-120"/>
              </a:rPr>
              <a:t>Downtime</a:t>
            </a:r>
            <a:endParaRPr lang="en-US" sz="2000" dirty="0"/>
          </a:p>
        </p:txBody>
      </p:sp>
      <p:sp>
        <p:nvSpPr>
          <p:cNvPr id="8" name="Text 6"/>
          <p:cNvSpPr/>
          <p:nvPr/>
        </p:nvSpPr>
        <p:spPr>
          <a:xfrm>
            <a:off x="731520" y="3657600"/>
            <a:ext cx="2258568" cy="502920"/>
          </a:xfrm>
          <a:prstGeom prst="rect">
            <a:avLst/>
          </a:prstGeom>
          <a:noFill/>
        </p:spPr>
        <p:txBody>
          <a:bodyPr wrap="square" rtlCol="0" anchor="ctr"/>
          <a:lstStyle/>
          <a:p>
            <a:pPr marL="0" indent="0" algn="ctr">
              <a:buNone/>
            </a:pPr>
            <a:r>
              <a:rPr lang="en-US" sz="1600" b="1" dirty="0">
                <a:solidFill>
                  <a:srgbClr val="C7CBF5"/>
                </a:solidFill>
                <a:latin typeface="Calibri" panose="020F0502020204030204" pitchFamily="34" charset="0"/>
                <a:ea typeface="Calibri" panose="020F0502020204030204" pitchFamily="34" charset="-122"/>
                <a:cs typeface="Calibri" panose="020F0502020204030204" pitchFamily="34" charset="-120"/>
              </a:rPr>
              <a:t>Unplanned Downtime</a:t>
            </a:r>
            <a:endParaRPr lang="en-US" sz="1600" dirty="0"/>
          </a:p>
        </p:txBody>
      </p:sp>
      <p:sp>
        <p:nvSpPr>
          <p:cNvPr id="9" name="Text 7"/>
          <p:cNvSpPr/>
          <p:nvPr/>
        </p:nvSpPr>
        <p:spPr>
          <a:xfrm>
            <a:off x="749808" y="4206240"/>
            <a:ext cx="2221992" cy="1325880"/>
          </a:xfrm>
          <a:prstGeom prst="rect">
            <a:avLst/>
          </a:prstGeom>
          <a:noFill/>
        </p:spPr>
        <p:txBody>
          <a:bodyPr wrap="square" rtlCol="0" anchor="ctr"/>
          <a:lstStyle/>
          <a:p>
            <a:pPr marL="0" indent="0" algn="ctr">
              <a:lnSpc>
                <a:spcPts val="1300"/>
              </a:lnSpc>
              <a:buNone/>
            </a:pPr>
            <a:r>
              <a:rPr lang="en-US" sz="1200" dirty="0">
                <a:solidFill>
                  <a:srgbClr val="C7CBF5"/>
                </a:solidFill>
                <a:latin typeface="Times New Roman" panose="02020603050405020304" charset="0"/>
                <a:ea typeface="Calibri" panose="020F0502020204030204" pitchFamily="34" charset="-122"/>
                <a:cs typeface="Times New Roman" panose="02020603050405020304" charset="0"/>
              </a:rPr>
              <a:t>Early anomaly detection lets teams address issues before failures occur, cutting unexpected outages.</a:t>
            </a:r>
            <a:endParaRPr lang="en-US" sz="1200" dirty="0">
              <a:latin typeface="Times New Roman" panose="02020603050405020304" charset="0"/>
              <a:cs typeface="Times New Roman" panose="02020603050405020304" charset="0"/>
            </a:endParaRPr>
          </a:p>
        </p:txBody>
      </p:sp>
      <p:sp>
        <p:nvSpPr>
          <p:cNvPr id="10" name="Shape 8"/>
          <p:cNvSpPr/>
          <p:nvPr/>
        </p:nvSpPr>
        <p:spPr>
          <a:xfrm>
            <a:off x="3346704" y="2148840"/>
            <a:ext cx="2624328" cy="3566160"/>
          </a:xfrm>
          <a:prstGeom prst="roundRect">
            <a:avLst>
              <a:gd name="adj" fmla="val 3484"/>
            </a:avLst>
          </a:prstGeom>
          <a:solidFill>
            <a:srgbClr val="FFFFFF"/>
          </a:solidFill>
          <a:effectLst>
            <a:outerShdw blurRad="88900" dist="25400" dir="5400000" algn="bl" rotWithShape="0">
              <a:srgbClr val="5B6178">
                <a:alpha val="16000"/>
              </a:srgbClr>
            </a:outerShdw>
          </a:effectLst>
        </p:spPr>
      </p:sp>
      <p:sp>
        <p:nvSpPr>
          <p:cNvPr id="11" name="Text 9"/>
          <p:cNvSpPr/>
          <p:nvPr/>
        </p:nvSpPr>
        <p:spPr>
          <a:xfrm>
            <a:off x="3346704" y="2423160"/>
            <a:ext cx="2624328" cy="640080"/>
          </a:xfrm>
          <a:prstGeom prst="rect">
            <a:avLst/>
          </a:prstGeom>
          <a:noFill/>
        </p:spPr>
        <p:txBody>
          <a:bodyPr wrap="square" rtlCol="0" anchor="ctr"/>
          <a:lstStyle/>
          <a:p>
            <a:pPr marL="0" indent="0" algn="ctr">
              <a:buNone/>
            </a:pPr>
            <a:r>
              <a:rPr lang="en-US" sz="3000" b="1" dirty="0">
                <a:solidFill>
                  <a:srgbClr val="4B4FE0"/>
                </a:solidFill>
                <a:latin typeface="Calibri" panose="020F0502020204030204" pitchFamily="34" charset="0"/>
                <a:ea typeface="Calibri" panose="020F0502020204030204" pitchFamily="34" charset="-122"/>
                <a:cs typeface="Calibri" panose="020F0502020204030204" pitchFamily="34" charset="-120"/>
              </a:rPr>
              <a:t>↓</a:t>
            </a:r>
            <a:endParaRPr lang="en-US" sz="3000" dirty="0"/>
          </a:p>
        </p:txBody>
      </p:sp>
      <p:sp>
        <p:nvSpPr>
          <p:cNvPr id="12" name="Text 10"/>
          <p:cNvSpPr/>
          <p:nvPr/>
        </p:nvSpPr>
        <p:spPr>
          <a:xfrm>
            <a:off x="3346704" y="3017520"/>
            <a:ext cx="2624328" cy="502920"/>
          </a:xfrm>
          <a:prstGeom prst="rect">
            <a:avLst/>
          </a:prstGeom>
          <a:noFill/>
        </p:spPr>
        <p:txBody>
          <a:bodyPr wrap="square" rtlCol="0" anchor="ctr"/>
          <a:lstStyle/>
          <a:p>
            <a:pPr marL="0" indent="0" algn="ctr">
              <a:buNone/>
            </a:pPr>
            <a:r>
              <a:rPr lang="en-US" sz="2000" b="1" dirty="0">
                <a:solidFill>
                  <a:srgbClr val="1C2140"/>
                </a:solidFill>
                <a:latin typeface="Century Schoolbook" panose="02040604050505020304" pitchFamily="34" charset="0"/>
                <a:ea typeface="Century Schoolbook" panose="02040604050505020304" pitchFamily="34" charset="-122"/>
                <a:cs typeface="Century Schoolbook" panose="02040604050505020304" pitchFamily="34" charset="-120"/>
              </a:rPr>
              <a:t>Costs</a:t>
            </a:r>
            <a:endParaRPr lang="en-US" sz="2000" dirty="0"/>
          </a:p>
        </p:txBody>
      </p:sp>
      <p:sp>
        <p:nvSpPr>
          <p:cNvPr id="13" name="Text 11"/>
          <p:cNvSpPr/>
          <p:nvPr/>
        </p:nvSpPr>
        <p:spPr>
          <a:xfrm>
            <a:off x="3529584" y="3657600"/>
            <a:ext cx="2258568" cy="502920"/>
          </a:xfrm>
          <a:prstGeom prst="rect">
            <a:avLst/>
          </a:prstGeom>
          <a:noFill/>
        </p:spPr>
        <p:txBody>
          <a:bodyPr wrap="square" rtlCol="0" anchor="ctr"/>
          <a:lstStyle/>
          <a:p>
            <a:pPr marL="0" indent="0" algn="ctr">
              <a:buNone/>
            </a:pPr>
            <a:r>
              <a:rPr lang="en-US" sz="1600" b="1" dirty="0">
                <a:solidFill>
                  <a:srgbClr val="4B4FE0"/>
                </a:solidFill>
                <a:latin typeface="Calibri" panose="020F0502020204030204" pitchFamily="34" charset="0"/>
                <a:ea typeface="Calibri" panose="020F0502020204030204" pitchFamily="34" charset="-122"/>
                <a:cs typeface="Calibri" panose="020F0502020204030204" pitchFamily="34" charset="-120"/>
              </a:rPr>
              <a:t>Maintenance Costs</a:t>
            </a:r>
            <a:endParaRPr lang="en-US" sz="1600" dirty="0"/>
          </a:p>
        </p:txBody>
      </p:sp>
      <p:sp>
        <p:nvSpPr>
          <p:cNvPr id="14" name="Text 12"/>
          <p:cNvSpPr/>
          <p:nvPr/>
        </p:nvSpPr>
        <p:spPr>
          <a:xfrm>
            <a:off x="3547872" y="4206240"/>
            <a:ext cx="2221992" cy="1325880"/>
          </a:xfrm>
          <a:prstGeom prst="rect">
            <a:avLst/>
          </a:prstGeom>
          <a:noFill/>
        </p:spPr>
        <p:txBody>
          <a:bodyPr wrap="square" rtlCol="0" anchor="ctr"/>
          <a:lstStyle/>
          <a:p>
            <a:pPr marL="0" indent="0" algn="ctr">
              <a:lnSpc>
                <a:spcPts val="1300"/>
              </a:lnSpc>
              <a:buNone/>
            </a:pPr>
            <a:r>
              <a:rPr lang="en-US" sz="1200" dirty="0">
                <a:solidFill>
                  <a:srgbClr val="5B6178"/>
                </a:solidFill>
                <a:latin typeface="Times New Roman" panose="02020603050405020304" charset="0"/>
                <a:ea typeface="Calibri" panose="020F0502020204030204" pitchFamily="34" charset="-122"/>
                <a:cs typeface="Times New Roman" panose="02020603050405020304" charset="0"/>
              </a:rPr>
              <a:t>Predictive maintenance eliminates unnecessary cycles and reduces emergency repair expenses.</a:t>
            </a:r>
            <a:endParaRPr lang="en-US" sz="1200" dirty="0">
              <a:latin typeface="Times New Roman" panose="02020603050405020304" charset="0"/>
              <a:cs typeface="Times New Roman" panose="02020603050405020304" charset="0"/>
            </a:endParaRPr>
          </a:p>
        </p:txBody>
      </p:sp>
      <p:sp>
        <p:nvSpPr>
          <p:cNvPr id="15" name="Shape 13"/>
          <p:cNvSpPr/>
          <p:nvPr/>
        </p:nvSpPr>
        <p:spPr>
          <a:xfrm>
            <a:off x="6144768" y="2148840"/>
            <a:ext cx="2624328" cy="3566160"/>
          </a:xfrm>
          <a:prstGeom prst="roundRect">
            <a:avLst>
              <a:gd name="adj" fmla="val 3484"/>
            </a:avLst>
          </a:prstGeom>
          <a:solidFill>
            <a:srgbClr val="161B45"/>
          </a:solidFill>
          <a:effectLst>
            <a:outerShdw blurRad="88900" dist="25400" dir="5400000" algn="bl" rotWithShape="0">
              <a:srgbClr val="5B6178">
                <a:alpha val="16000"/>
              </a:srgbClr>
            </a:outerShdw>
          </a:effectLst>
        </p:spPr>
      </p:sp>
      <p:sp>
        <p:nvSpPr>
          <p:cNvPr id="16" name="Text 14"/>
          <p:cNvSpPr/>
          <p:nvPr/>
        </p:nvSpPr>
        <p:spPr>
          <a:xfrm>
            <a:off x="6144768" y="2423160"/>
            <a:ext cx="2624328" cy="640080"/>
          </a:xfrm>
          <a:prstGeom prst="rect">
            <a:avLst/>
          </a:prstGeom>
          <a:noFill/>
        </p:spPr>
        <p:txBody>
          <a:bodyPr wrap="square" rtlCol="0" anchor="ctr"/>
          <a:lstStyle/>
          <a:p>
            <a:pPr marL="0" indent="0" algn="ctr">
              <a:buNone/>
            </a:pPr>
            <a:r>
              <a:rPr lang="en-US" sz="3000" b="1" dirty="0">
                <a:solidFill>
                  <a:srgbClr val="34D1BF"/>
                </a:solidFill>
                <a:latin typeface="Calibri" panose="020F0502020204030204" pitchFamily="34" charset="0"/>
                <a:ea typeface="Calibri" panose="020F0502020204030204" pitchFamily="34" charset="-122"/>
                <a:cs typeface="Calibri" panose="020F0502020204030204" pitchFamily="34" charset="-120"/>
              </a:rPr>
              <a:t>↑</a:t>
            </a:r>
            <a:endParaRPr lang="en-US" sz="3000" dirty="0"/>
          </a:p>
        </p:txBody>
      </p:sp>
      <p:sp>
        <p:nvSpPr>
          <p:cNvPr id="17" name="Text 15"/>
          <p:cNvSpPr/>
          <p:nvPr/>
        </p:nvSpPr>
        <p:spPr>
          <a:xfrm>
            <a:off x="6144768" y="3017520"/>
            <a:ext cx="2624328" cy="502920"/>
          </a:xfrm>
          <a:prstGeom prst="rect">
            <a:avLst/>
          </a:prstGeom>
          <a:noFill/>
        </p:spPr>
        <p:txBody>
          <a:bodyPr wrap="square" rtlCol="0" anchor="ctr"/>
          <a:lstStyle/>
          <a:p>
            <a:pPr marL="0" indent="0" algn="ctr">
              <a:buNone/>
            </a:pPr>
            <a:r>
              <a:rPr lang="en-US" sz="2000" b="1" dirty="0">
                <a:solidFill>
                  <a:srgbClr val="FFFFFF"/>
                </a:solidFill>
                <a:latin typeface="Century Schoolbook" panose="02040604050505020304" pitchFamily="34" charset="0"/>
                <a:ea typeface="Century Schoolbook" panose="02040604050505020304" pitchFamily="34" charset="-122"/>
                <a:cs typeface="Century Schoolbook" panose="02040604050505020304" pitchFamily="34" charset="-120"/>
              </a:rPr>
              <a:t>Accuracy</a:t>
            </a:r>
            <a:endParaRPr lang="en-US" sz="2000" dirty="0"/>
          </a:p>
        </p:txBody>
      </p:sp>
      <p:sp>
        <p:nvSpPr>
          <p:cNvPr id="18" name="Text 16"/>
          <p:cNvSpPr/>
          <p:nvPr/>
        </p:nvSpPr>
        <p:spPr>
          <a:xfrm>
            <a:off x="6327648" y="3657600"/>
            <a:ext cx="2258568" cy="502920"/>
          </a:xfrm>
          <a:prstGeom prst="rect">
            <a:avLst/>
          </a:prstGeom>
          <a:noFill/>
        </p:spPr>
        <p:txBody>
          <a:bodyPr wrap="square" rtlCol="0" anchor="ctr"/>
          <a:lstStyle/>
          <a:p>
            <a:pPr marL="0" indent="0" algn="ctr">
              <a:buNone/>
            </a:pPr>
            <a:r>
              <a:rPr lang="en-US" sz="1600" b="1" dirty="0">
                <a:solidFill>
                  <a:srgbClr val="C7CBF5"/>
                </a:solidFill>
                <a:latin typeface="Calibri" panose="020F0502020204030204" pitchFamily="34" charset="0"/>
                <a:ea typeface="Calibri" panose="020F0502020204030204" pitchFamily="34" charset="-122"/>
                <a:cs typeface="Calibri" panose="020F0502020204030204" pitchFamily="34" charset="-120"/>
              </a:rPr>
              <a:t>Detection Accuracy</a:t>
            </a:r>
            <a:endParaRPr lang="en-US" sz="1600" dirty="0"/>
          </a:p>
        </p:txBody>
      </p:sp>
      <p:sp>
        <p:nvSpPr>
          <p:cNvPr id="19" name="Text 17"/>
          <p:cNvSpPr/>
          <p:nvPr/>
        </p:nvSpPr>
        <p:spPr>
          <a:xfrm>
            <a:off x="6345936" y="4206240"/>
            <a:ext cx="2221992" cy="1325880"/>
          </a:xfrm>
          <a:prstGeom prst="rect">
            <a:avLst/>
          </a:prstGeom>
          <a:noFill/>
        </p:spPr>
        <p:txBody>
          <a:bodyPr wrap="square" rtlCol="0" anchor="ctr"/>
          <a:lstStyle/>
          <a:p>
            <a:pPr marL="0" indent="0" algn="ctr">
              <a:lnSpc>
                <a:spcPts val="1300"/>
              </a:lnSpc>
              <a:buNone/>
            </a:pPr>
            <a:r>
              <a:rPr lang="en-US" sz="1200" dirty="0">
                <a:solidFill>
                  <a:srgbClr val="C7CBF5"/>
                </a:solidFill>
                <a:latin typeface="Times New Roman" panose="02020603050405020304" charset="0"/>
                <a:ea typeface="Calibri" panose="020F0502020204030204" pitchFamily="34" charset="-122"/>
                <a:cs typeface="Times New Roman" panose="02020603050405020304" charset="0"/>
              </a:rPr>
              <a:t>ML models outperform threshold-based systems, catching complex multivariate failure patterns.</a:t>
            </a:r>
            <a:endParaRPr lang="en-US" sz="1200" dirty="0">
              <a:latin typeface="Times New Roman" panose="02020603050405020304" charset="0"/>
              <a:cs typeface="Times New Roman" panose="02020603050405020304" charset="0"/>
            </a:endParaRPr>
          </a:p>
        </p:txBody>
      </p:sp>
      <p:sp>
        <p:nvSpPr>
          <p:cNvPr id="20" name="Shape 18"/>
          <p:cNvSpPr/>
          <p:nvPr/>
        </p:nvSpPr>
        <p:spPr>
          <a:xfrm>
            <a:off x="8942832" y="2148840"/>
            <a:ext cx="2624328" cy="3566160"/>
          </a:xfrm>
          <a:prstGeom prst="roundRect">
            <a:avLst>
              <a:gd name="adj" fmla="val 3484"/>
            </a:avLst>
          </a:prstGeom>
          <a:solidFill>
            <a:srgbClr val="FFFFFF"/>
          </a:solidFill>
          <a:effectLst>
            <a:outerShdw blurRad="88900" dist="25400" dir="5400000" algn="bl" rotWithShape="0">
              <a:srgbClr val="5B6178">
                <a:alpha val="16000"/>
              </a:srgbClr>
            </a:outerShdw>
          </a:effectLst>
        </p:spPr>
      </p:sp>
      <p:sp>
        <p:nvSpPr>
          <p:cNvPr id="21" name="Text 19"/>
          <p:cNvSpPr/>
          <p:nvPr/>
        </p:nvSpPr>
        <p:spPr>
          <a:xfrm>
            <a:off x="8942832" y="2423160"/>
            <a:ext cx="2624328" cy="640080"/>
          </a:xfrm>
          <a:prstGeom prst="rect">
            <a:avLst/>
          </a:prstGeom>
          <a:noFill/>
        </p:spPr>
        <p:txBody>
          <a:bodyPr wrap="square" rtlCol="0" anchor="ctr"/>
          <a:lstStyle/>
          <a:p>
            <a:pPr marL="0" indent="0" algn="ctr">
              <a:buNone/>
            </a:pPr>
            <a:r>
              <a:rPr lang="en-US" sz="3000" b="1" dirty="0">
                <a:solidFill>
                  <a:srgbClr val="4B4FE0"/>
                </a:solidFill>
                <a:latin typeface="Calibri" panose="020F0502020204030204" pitchFamily="34" charset="0"/>
                <a:ea typeface="Calibri" panose="020F0502020204030204" pitchFamily="34" charset="-122"/>
                <a:cs typeface="Calibri" panose="020F0502020204030204" pitchFamily="34" charset="-120"/>
              </a:rPr>
              <a:t>↑</a:t>
            </a:r>
            <a:endParaRPr lang="en-US" sz="3000" dirty="0"/>
          </a:p>
        </p:txBody>
      </p:sp>
      <p:sp>
        <p:nvSpPr>
          <p:cNvPr id="22" name="Text 20"/>
          <p:cNvSpPr/>
          <p:nvPr/>
        </p:nvSpPr>
        <p:spPr>
          <a:xfrm>
            <a:off x="8942832" y="3017520"/>
            <a:ext cx="2624328" cy="502920"/>
          </a:xfrm>
          <a:prstGeom prst="rect">
            <a:avLst/>
          </a:prstGeom>
          <a:noFill/>
        </p:spPr>
        <p:txBody>
          <a:bodyPr wrap="square" rtlCol="0" anchor="ctr"/>
          <a:lstStyle/>
          <a:p>
            <a:pPr marL="0" indent="0" algn="ctr">
              <a:buNone/>
            </a:pPr>
            <a:r>
              <a:rPr lang="en-US" sz="2000" b="1" dirty="0">
                <a:solidFill>
                  <a:srgbClr val="1C2140"/>
                </a:solidFill>
                <a:latin typeface="Century Schoolbook" panose="02040604050505020304" pitchFamily="34" charset="0"/>
                <a:ea typeface="Century Schoolbook" panose="02040604050505020304" pitchFamily="34" charset="-122"/>
                <a:cs typeface="Century Schoolbook" panose="02040604050505020304" pitchFamily="34" charset="-120"/>
              </a:rPr>
              <a:t>5x Faster</a:t>
            </a:r>
            <a:endParaRPr lang="en-US" sz="2000" dirty="0"/>
          </a:p>
        </p:txBody>
      </p:sp>
      <p:sp>
        <p:nvSpPr>
          <p:cNvPr id="23" name="Text 21"/>
          <p:cNvSpPr/>
          <p:nvPr/>
        </p:nvSpPr>
        <p:spPr>
          <a:xfrm>
            <a:off x="9125712" y="3657600"/>
            <a:ext cx="2258568" cy="502920"/>
          </a:xfrm>
          <a:prstGeom prst="rect">
            <a:avLst/>
          </a:prstGeom>
          <a:noFill/>
        </p:spPr>
        <p:txBody>
          <a:bodyPr wrap="square" rtlCol="0" anchor="ctr"/>
          <a:lstStyle/>
          <a:p>
            <a:pPr marL="0" indent="0" algn="ctr">
              <a:buNone/>
            </a:pPr>
            <a:r>
              <a:rPr lang="en-US" sz="1600" b="1" dirty="0">
                <a:solidFill>
                  <a:srgbClr val="4B4FE0"/>
                </a:solidFill>
                <a:latin typeface="Calibri" panose="020F0502020204030204" pitchFamily="34" charset="0"/>
                <a:ea typeface="Calibri" panose="020F0502020204030204" pitchFamily="34" charset="-122"/>
                <a:cs typeface="Calibri" panose="020F0502020204030204" pitchFamily="34" charset="-120"/>
              </a:rPr>
              <a:t>Incident Response</a:t>
            </a:r>
            <a:endParaRPr lang="en-US" sz="1600" dirty="0"/>
          </a:p>
        </p:txBody>
      </p:sp>
      <p:sp>
        <p:nvSpPr>
          <p:cNvPr id="24" name="Text 22"/>
          <p:cNvSpPr/>
          <p:nvPr/>
        </p:nvSpPr>
        <p:spPr>
          <a:xfrm>
            <a:off x="9144000" y="4206240"/>
            <a:ext cx="2221992" cy="1325880"/>
          </a:xfrm>
          <a:prstGeom prst="rect">
            <a:avLst/>
          </a:prstGeom>
          <a:noFill/>
        </p:spPr>
        <p:txBody>
          <a:bodyPr wrap="square" rtlCol="0" anchor="ctr"/>
          <a:lstStyle/>
          <a:p>
            <a:pPr marL="0" indent="0" algn="ctr">
              <a:lnSpc>
                <a:spcPts val="1300"/>
              </a:lnSpc>
              <a:buNone/>
            </a:pPr>
            <a:r>
              <a:rPr lang="en-US" sz="1200" dirty="0">
                <a:solidFill>
                  <a:srgbClr val="5B6178"/>
                </a:solidFill>
                <a:latin typeface="Times New Roman" panose="02020603050405020304" charset="0"/>
                <a:ea typeface="Calibri" panose="020F0502020204030204" pitchFamily="34" charset="-122"/>
                <a:cs typeface="Times New Roman" panose="02020603050405020304" charset="0"/>
              </a:rPr>
              <a:t>Automated smart alerts with root-cause context resolve issues up to 5x faster than manual monitoring.</a:t>
            </a:r>
            <a:endParaRPr lang="en-US" sz="1200" dirty="0">
              <a:latin typeface="Times New Roman" panose="02020603050405020304" charset="0"/>
              <a:cs typeface="Times New Roman"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8229600" cy="310896"/>
          </a:xfrm>
          <a:prstGeom prst="rect">
            <a:avLst/>
          </a:prstGeom>
          <a:noFill/>
        </p:spPr>
        <p:txBody>
          <a:bodyPr wrap="square" rtlCol="0" anchor="ctr"/>
          <a:lstStyle/>
          <a:p>
            <a:pPr marL="0" indent="0">
              <a:buNone/>
            </a:pPr>
            <a:r>
              <a:rPr lang="en-US" sz="1200" b="1" kern="0" spc="200" dirty="0">
                <a:solidFill>
                  <a:srgbClr val="1657E0"/>
                </a:solidFill>
                <a:latin typeface="Times New Roman" panose="02020603050405020304" charset="0"/>
                <a:ea typeface="Calibri" panose="020F0502020204030204" pitchFamily="34" charset="-122"/>
                <a:cs typeface="Times New Roman" panose="02020603050405020304" charset="0"/>
              </a:rPr>
              <a:t>FUTURE SCOPE</a:t>
            </a:r>
            <a:endParaRPr lang="en-US" sz="1200" dirty="0">
              <a:latin typeface="Times New Roman" panose="02020603050405020304" charset="0"/>
              <a:cs typeface="Times New Roman" panose="02020603050405020304" charset="0"/>
            </a:endParaRPr>
          </a:p>
        </p:txBody>
      </p:sp>
      <p:sp>
        <p:nvSpPr>
          <p:cNvPr id="3" name="Text 1"/>
          <p:cNvSpPr/>
          <p:nvPr/>
        </p:nvSpPr>
        <p:spPr>
          <a:xfrm>
            <a:off x="530352" y="640080"/>
            <a:ext cx="11155680" cy="868680"/>
          </a:xfrm>
          <a:prstGeom prst="rect">
            <a:avLst/>
          </a:prstGeom>
          <a:noFill/>
        </p:spPr>
        <p:txBody>
          <a:bodyPr wrap="square" rtlCol="0" anchor="ctr"/>
          <a:lstStyle/>
          <a:p>
            <a:pPr marL="0" indent="0">
              <a:buNone/>
            </a:pPr>
            <a:r>
              <a:rPr lang="en-US" sz="3000" b="1" dirty="0">
                <a:solidFill>
                  <a:srgbClr val="0F1B33"/>
                </a:solidFill>
                <a:latin typeface="Times New Roman" panose="02020603050405020304" charset="0"/>
                <a:ea typeface="Segoe UI" panose="020B0502040204020203" pitchFamily="34" charset="-122"/>
                <a:cs typeface="Times New Roman" panose="02020603050405020304" charset="0"/>
              </a:rPr>
              <a:t>Scaling Toward a Fully Autonomous Maintenance System</a:t>
            </a:r>
            <a:endParaRPr lang="en-US" sz="3000" dirty="0">
              <a:latin typeface="Times New Roman" panose="02020603050405020304" charset="0"/>
              <a:cs typeface="Times New Roman" panose="02020603050405020304" charset="0"/>
            </a:endParaRPr>
          </a:p>
        </p:txBody>
      </p:sp>
      <p:sp>
        <p:nvSpPr>
          <p:cNvPr id="4" name="Text 2"/>
          <p:cNvSpPr/>
          <p:nvPr/>
        </p:nvSpPr>
        <p:spPr>
          <a:xfrm>
            <a:off x="548640" y="1417320"/>
            <a:ext cx="11064240" cy="457200"/>
          </a:xfrm>
          <a:prstGeom prst="rect">
            <a:avLst/>
          </a:prstGeom>
          <a:noFill/>
        </p:spPr>
        <p:txBody>
          <a:bodyPr wrap="square" rtlCol="0" anchor="ctr"/>
          <a:lstStyle/>
          <a:p>
            <a:pPr marL="0" indent="0">
              <a:buNone/>
            </a:pPr>
            <a:r>
              <a:rPr lang="en-US" dirty="0">
                <a:solidFill>
                  <a:srgbClr val="56607A"/>
                </a:solidFill>
                <a:latin typeface="Times New Roman" panose="02020603050405020304" charset="0"/>
                <a:ea typeface="Calibri" panose="020F0502020204030204" pitchFamily="34" charset="-122"/>
                <a:cs typeface="Times New Roman" panose="02020603050405020304" charset="0"/>
              </a:rPr>
              <a:t>The current model is the foundation for a production-grade, always-on predictive maintenance platform.</a:t>
            </a:r>
            <a:endParaRPr lang="en-US" dirty="0">
              <a:latin typeface="Times New Roman" panose="02020603050405020304" charset="0"/>
              <a:cs typeface="Times New Roman" panose="02020603050405020304" charset="0"/>
            </a:endParaRPr>
          </a:p>
        </p:txBody>
      </p:sp>
      <p:sp>
        <p:nvSpPr>
          <p:cNvPr id="5" name="Shape 3"/>
          <p:cNvSpPr/>
          <p:nvPr/>
        </p:nvSpPr>
        <p:spPr>
          <a:xfrm>
            <a:off x="548640" y="2148840"/>
            <a:ext cx="5394960" cy="1847088"/>
          </a:xfrm>
          <a:prstGeom prst="roundRect">
            <a:avLst>
              <a:gd name="adj" fmla="val 4455"/>
            </a:avLst>
          </a:prstGeom>
          <a:solidFill>
            <a:srgbClr val="FFFFFF"/>
          </a:solidFill>
          <a:effectLst>
            <a:outerShdw blurRad="101600" dist="25400" dir="5400000" algn="bl" rotWithShape="0">
              <a:srgbClr val="3A4A7A">
                <a:alpha val="16000"/>
              </a:srgbClr>
            </a:outerShdw>
          </a:effectLst>
        </p:spPr>
      </p:sp>
      <p:sp>
        <p:nvSpPr>
          <p:cNvPr id="6" name="Shape 4"/>
          <p:cNvSpPr/>
          <p:nvPr/>
        </p:nvSpPr>
        <p:spPr>
          <a:xfrm>
            <a:off x="804672" y="2404872"/>
            <a:ext cx="502920" cy="502920"/>
          </a:xfrm>
          <a:prstGeom prst="ellipse">
            <a:avLst/>
          </a:prstGeom>
          <a:solidFill>
            <a:srgbClr val="1657E0"/>
          </a:solidFill>
        </p:spPr>
      </p:sp>
      <p:sp>
        <p:nvSpPr>
          <p:cNvPr id="7" name="Text 5"/>
          <p:cNvSpPr/>
          <p:nvPr/>
        </p:nvSpPr>
        <p:spPr>
          <a:xfrm>
            <a:off x="804672" y="2404872"/>
            <a:ext cx="502920" cy="502920"/>
          </a:xfrm>
          <a:prstGeom prst="rect">
            <a:avLst/>
          </a:prstGeom>
          <a:noFill/>
        </p:spPr>
        <p:txBody>
          <a:bodyPr wrap="square" rtlCol="0" anchor="ctr"/>
          <a:lstStyle/>
          <a:p>
            <a:pPr marL="0" indent="0" algn="ctr">
              <a:buNone/>
            </a:pPr>
            <a:r>
              <a:rPr 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700" dirty="0"/>
          </a:p>
        </p:txBody>
      </p:sp>
      <p:sp>
        <p:nvSpPr>
          <p:cNvPr id="8" name="Text 6"/>
          <p:cNvSpPr/>
          <p:nvPr/>
        </p:nvSpPr>
        <p:spPr>
          <a:xfrm>
            <a:off x="1417320" y="2450338"/>
            <a:ext cx="4251960" cy="457200"/>
          </a:xfrm>
          <a:prstGeom prst="rect">
            <a:avLst/>
          </a:prstGeom>
          <a:noFill/>
        </p:spPr>
        <p:txBody>
          <a:bodyPr wrap="square" rtlCol="0" anchor="ctr"/>
          <a:lstStyle/>
          <a:p>
            <a:pPr marL="0" indent="0">
              <a:buNone/>
            </a:pPr>
            <a:r>
              <a:rPr lang="en-US" b="1" dirty="0">
                <a:solidFill>
                  <a:srgbClr val="0F1B33"/>
                </a:solidFill>
                <a:latin typeface="Times New Roman" panose="02020603050405020304" charset="0"/>
                <a:ea typeface="Segoe UI" panose="020B0502040204020203" pitchFamily="34" charset="-122"/>
                <a:cs typeface="Times New Roman" panose="02020603050405020304" charset="0"/>
              </a:rPr>
              <a:t>Streamlit Dashboard</a:t>
            </a:r>
            <a:endParaRPr lang="en-US" dirty="0">
              <a:latin typeface="Times New Roman" panose="02020603050405020304" charset="0"/>
              <a:cs typeface="Times New Roman" panose="02020603050405020304" charset="0"/>
            </a:endParaRPr>
          </a:p>
        </p:txBody>
      </p:sp>
      <p:sp>
        <p:nvSpPr>
          <p:cNvPr id="9" name="Text 7"/>
          <p:cNvSpPr/>
          <p:nvPr/>
        </p:nvSpPr>
        <p:spPr>
          <a:xfrm>
            <a:off x="822960" y="2971800"/>
            <a:ext cx="4846320" cy="886968"/>
          </a:xfrm>
          <a:prstGeom prst="rect">
            <a:avLst/>
          </a:prstGeom>
          <a:noFill/>
        </p:spPr>
        <p:txBody>
          <a:bodyPr wrap="square" rtlCol="0" anchor="ctr"/>
          <a:lstStyle/>
          <a:p>
            <a:pPr marL="0" indent="0">
              <a:lnSpc>
                <a:spcPts val="1500"/>
              </a:lnSpc>
              <a:buNone/>
            </a:pPr>
            <a:r>
              <a:rPr lang="en-US" sz="1600" dirty="0">
                <a:solidFill>
                  <a:srgbClr val="56607A"/>
                </a:solidFill>
                <a:latin typeface="Times New Roman" panose="02020603050405020304" charset="0"/>
                <a:ea typeface="Calibri" panose="020F0502020204030204" pitchFamily="34" charset="-122"/>
                <a:cs typeface="Times New Roman" panose="02020603050405020304" charset="0"/>
              </a:rPr>
              <a:t>An interactive web app for live machine health monitoring, accessible to plant operators and managers.</a:t>
            </a:r>
            <a:endParaRPr lang="en-US" sz="1600" dirty="0">
              <a:latin typeface="Times New Roman" panose="02020603050405020304" charset="0"/>
              <a:cs typeface="Times New Roman" panose="02020603050405020304" charset="0"/>
            </a:endParaRPr>
          </a:p>
        </p:txBody>
      </p:sp>
      <p:sp>
        <p:nvSpPr>
          <p:cNvPr id="10" name="Shape 8"/>
          <p:cNvSpPr/>
          <p:nvPr/>
        </p:nvSpPr>
        <p:spPr>
          <a:xfrm>
            <a:off x="6217920" y="2148840"/>
            <a:ext cx="5394960" cy="1847088"/>
          </a:xfrm>
          <a:prstGeom prst="roundRect">
            <a:avLst>
              <a:gd name="adj" fmla="val 4455"/>
            </a:avLst>
          </a:prstGeom>
          <a:solidFill>
            <a:srgbClr val="FFFFFF"/>
          </a:solidFill>
          <a:effectLst>
            <a:outerShdw blurRad="101600" dist="25400" dir="5400000" algn="bl" rotWithShape="0">
              <a:srgbClr val="3A4A7A">
                <a:alpha val="16000"/>
              </a:srgbClr>
            </a:outerShdw>
          </a:effectLst>
        </p:spPr>
      </p:sp>
      <p:sp>
        <p:nvSpPr>
          <p:cNvPr id="11" name="Shape 9"/>
          <p:cNvSpPr/>
          <p:nvPr/>
        </p:nvSpPr>
        <p:spPr>
          <a:xfrm>
            <a:off x="6473952" y="2404872"/>
            <a:ext cx="502920" cy="502920"/>
          </a:xfrm>
          <a:prstGeom prst="ellipse">
            <a:avLst/>
          </a:prstGeom>
          <a:solidFill>
            <a:srgbClr val="2B6CF0"/>
          </a:solidFill>
        </p:spPr>
      </p:sp>
      <p:sp>
        <p:nvSpPr>
          <p:cNvPr id="12" name="Text 10"/>
          <p:cNvSpPr/>
          <p:nvPr/>
        </p:nvSpPr>
        <p:spPr>
          <a:xfrm>
            <a:off x="6473952" y="2404872"/>
            <a:ext cx="502920" cy="502920"/>
          </a:xfrm>
          <a:prstGeom prst="rect">
            <a:avLst/>
          </a:prstGeom>
          <a:noFill/>
        </p:spPr>
        <p:txBody>
          <a:bodyPr wrap="square" rtlCol="0" anchor="ctr"/>
          <a:lstStyle/>
          <a:p>
            <a:pPr marL="0" indent="0" algn="ctr">
              <a:buNone/>
            </a:pPr>
            <a:r>
              <a:rPr 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700" dirty="0"/>
          </a:p>
        </p:txBody>
      </p:sp>
      <p:sp>
        <p:nvSpPr>
          <p:cNvPr id="13" name="Text 11"/>
          <p:cNvSpPr/>
          <p:nvPr/>
        </p:nvSpPr>
        <p:spPr>
          <a:xfrm>
            <a:off x="7132320" y="2450338"/>
            <a:ext cx="4251960" cy="457200"/>
          </a:xfrm>
          <a:prstGeom prst="rect">
            <a:avLst/>
          </a:prstGeom>
          <a:noFill/>
        </p:spPr>
        <p:txBody>
          <a:bodyPr wrap="square" rtlCol="0" anchor="ctr"/>
          <a:lstStyle/>
          <a:p>
            <a:pPr marL="0" indent="0">
              <a:buNone/>
            </a:pPr>
            <a:r>
              <a:rPr lang="en-US" b="1" dirty="0">
                <a:solidFill>
                  <a:srgbClr val="0F1B33"/>
                </a:solidFill>
                <a:latin typeface="Times New Roman" panose="02020603050405020304" charset="0"/>
                <a:ea typeface="Segoe UI" panose="020B0502040204020203" pitchFamily="34" charset="-122"/>
                <a:cs typeface="Times New Roman" panose="02020603050405020304" charset="0"/>
              </a:rPr>
              <a:t>IoT Integration</a:t>
            </a:r>
            <a:endParaRPr lang="en-US" dirty="0">
              <a:latin typeface="Times New Roman" panose="02020603050405020304" charset="0"/>
              <a:cs typeface="Times New Roman" panose="02020603050405020304" charset="0"/>
            </a:endParaRPr>
          </a:p>
        </p:txBody>
      </p:sp>
      <p:sp>
        <p:nvSpPr>
          <p:cNvPr id="14" name="Text 12"/>
          <p:cNvSpPr/>
          <p:nvPr/>
        </p:nvSpPr>
        <p:spPr>
          <a:xfrm>
            <a:off x="6492240" y="2971800"/>
            <a:ext cx="4846320" cy="886968"/>
          </a:xfrm>
          <a:prstGeom prst="rect">
            <a:avLst/>
          </a:prstGeom>
          <a:noFill/>
        </p:spPr>
        <p:txBody>
          <a:bodyPr wrap="square" rtlCol="0" anchor="ctr"/>
          <a:lstStyle/>
          <a:p>
            <a:pPr marL="0" indent="0">
              <a:lnSpc>
                <a:spcPts val="1500"/>
              </a:lnSpc>
              <a:buNone/>
            </a:pPr>
            <a:r>
              <a:rPr lang="en-US" sz="1600" dirty="0">
                <a:solidFill>
                  <a:srgbClr val="56607A"/>
                </a:solidFill>
                <a:latin typeface="Times New Roman" panose="02020603050405020304" charset="0"/>
                <a:ea typeface="Calibri" panose="020F0502020204030204" pitchFamily="34" charset="-122"/>
                <a:cs typeface="Times New Roman" panose="02020603050405020304" charset="0"/>
              </a:rPr>
              <a:t>Stream real sensor data directly from edge devices and PLCs for true real-time predictions.</a:t>
            </a:r>
            <a:endParaRPr lang="en-US" sz="1600" dirty="0">
              <a:latin typeface="Times New Roman" panose="02020603050405020304" charset="0"/>
              <a:cs typeface="Times New Roman" panose="02020603050405020304" charset="0"/>
            </a:endParaRPr>
          </a:p>
        </p:txBody>
      </p:sp>
      <p:sp>
        <p:nvSpPr>
          <p:cNvPr id="15" name="Shape 13"/>
          <p:cNvSpPr/>
          <p:nvPr/>
        </p:nvSpPr>
        <p:spPr>
          <a:xfrm>
            <a:off x="548640" y="4233672"/>
            <a:ext cx="5394960" cy="1847088"/>
          </a:xfrm>
          <a:prstGeom prst="roundRect">
            <a:avLst>
              <a:gd name="adj" fmla="val 4455"/>
            </a:avLst>
          </a:prstGeom>
          <a:solidFill>
            <a:srgbClr val="FFFFFF"/>
          </a:solidFill>
          <a:effectLst>
            <a:outerShdw blurRad="101600" dist="25400" dir="5400000" algn="bl" rotWithShape="0">
              <a:srgbClr val="3A4A7A">
                <a:alpha val="16000"/>
              </a:srgbClr>
            </a:outerShdw>
          </a:effectLst>
        </p:spPr>
      </p:sp>
      <p:sp>
        <p:nvSpPr>
          <p:cNvPr id="16" name="Shape 14"/>
          <p:cNvSpPr/>
          <p:nvPr/>
        </p:nvSpPr>
        <p:spPr>
          <a:xfrm>
            <a:off x="804672" y="4489704"/>
            <a:ext cx="502920" cy="502920"/>
          </a:xfrm>
          <a:prstGeom prst="ellipse">
            <a:avLst/>
          </a:prstGeom>
          <a:solidFill>
            <a:srgbClr val="3D5AFE"/>
          </a:solidFill>
        </p:spPr>
      </p:sp>
      <p:sp>
        <p:nvSpPr>
          <p:cNvPr id="17" name="Text 15"/>
          <p:cNvSpPr/>
          <p:nvPr/>
        </p:nvSpPr>
        <p:spPr>
          <a:xfrm>
            <a:off x="804672" y="4489704"/>
            <a:ext cx="502920" cy="502920"/>
          </a:xfrm>
          <a:prstGeom prst="rect">
            <a:avLst/>
          </a:prstGeom>
          <a:noFill/>
        </p:spPr>
        <p:txBody>
          <a:bodyPr wrap="square" rtlCol="0" anchor="ctr"/>
          <a:lstStyle/>
          <a:p>
            <a:pPr marL="0" indent="0" algn="ctr">
              <a:buNone/>
            </a:pPr>
            <a:r>
              <a:rPr 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700" dirty="0"/>
          </a:p>
        </p:txBody>
      </p:sp>
      <p:sp>
        <p:nvSpPr>
          <p:cNvPr id="18" name="Text 16"/>
          <p:cNvSpPr/>
          <p:nvPr/>
        </p:nvSpPr>
        <p:spPr>
          <a:xfrm>
            <a:off x="1463040" y="4535170"/>
            <a:ext cx="4251960" cy="457200"/>
          </a:xfrm>
          <a:prstGeom prst="rect">
            <a:avLst/>
          </a:prstGeom>
          <a:noFill/>
        </p:spPr>
        <p:txBody>
          <a:bodyPr wrap="square" rtlCol="0" anchor="ctr"/>
          <a:lstStyle/>
          <a:p>
            <a:pPr marL="0" indent="0">
              <a:buNone/>
            </a:pPr>
            <a:r>
              <a:rPr lang="en-US" b="1" dirty="0">
                <a:solidFill>
                  <a:srgbClr val="0F1B33"/>
                </a:solidFill>
                <a:latin typeface="Times New Roman" panose="02020603050405020304" charset="0"/>
                <a:ea typeface="Segoe UI" panose="020B0502040204020203" pitchFamily="34" charset="-122"/>
                <a:cs typeface="Times New Roman" panose="02020603050405020304" charset="0"/>
              </a:rPr>
              <a:t>Cloud Deployment</a:t>
            </a:r>
            <a:endParaRPr lang="en-US" dirty="0">
              <a:latin typeface="Times New Roman" panose="02020603050405020304" charset="0"/>
              <a:cs typeface="Times New Roman" panose="02020603050405020304" charset="0"/>
            </a:endParaRPr>
          </a:p>
        </p:txBody>
      </p:sp>
      <p:sp>
        <p:nvSpPr>
          <p:cNvPr id="19" name="Text 17"/>
          <p:cNvSpPr/>
          <p:nvPr/>
        </p:nvSpPr>
        <p:spPr>
          <a:xfrm>
            <a:off x="822960" y="5056632"/>
            <a:ext cx="4846320" cy="886968"/>
          </a:xfrm>
          <a:prstGeom prst="rect">
            <a:avLst/>
          </a:prstGeom>
          <a:noFill/>
        </p:spPr>
        <p:txBody>
          <a:bodyPr wrap="square" rtlCol="0" anchor="ctr"/>
          <a:lstStyle/>
          <a:p>
            <a:pPr marL="0" indent="0">
              <a:lnSpc>
                <a:spcPts val="1500"/>
              </a:lnSpc>
              <a:buNone/>
            </a:pPr>
            <a:r>
              <a:rPr lang="en-US" sz="1600" dirty="0">
                <a:solidFill>
                  <a:srgbClr val="56607A"/>
                </a:solidFill>
                <a:latin typeface="Times New Roman" panose="02020603050405020304" charset="0"/>
                <a:ea typeface="Calibri" panose="020F0502020204030204" pitchFamily="34" charset="-122"/>
                <a:cs typeface="Times New Roman" panose="02020603050405020304" charset="0"/>
              </a:rPr>
              <a:t>Host the model on scalable cloud infrastructure (AWS / Azure) to support multiple plants.</a:t>
            </a:r>
            <a:endParaRPr lang="en-US" sz="1600" dirty="0">
              <a:latin typeface="Times New Roman" panose="02020603050405020304" charset="0"/>
              <a:cs typeface="Times New Roman" panose="02020603050405020304" charset="0"/>
            </a:endParaRPr>
          </a:p>
        </p:txBody>
      </p:sp>
      <p:sp>
        <p:nvSpPr>
          <p:cNvPr id="20" name="Shape 18"/>
          <p:cNvSpPr/>
          <p:nvPr/>
        </p:nvSpPr>
        <p:spPr>
          <a:xfrm>
            <a:off x="6217920" y="4233672"/>
            <a:ext cx="5394960" cy="1847088"/>
          </a:xfrm>
          <a:prstGeom prst="roundRect">
            <a:avLst>
              <a:gd name="adj" fmla="val 4455"/>
            </a:avLst>
          </a:prstGeom>
          <a:solidFill>
            <a:srgbClr val="FFFFFF"/>
          </a:solidFill>
          <a:effectLst>
            <a:outerShdw blurRad="101600" dist="25400" dir="5400000" algn="bl" rotWithShape="0">
              <a:srgbClr val="3A4A7A">
                <a:alpha val="16000"/>
              </a:srgbClr>
            </a:outerShdw>
          </a:effectLst>
        </p:spPr>
      </p:sp>
      <p:sp>
        <p:nvSpPr>
          <p:cNvPr id="21" name="Shape 19"/>
          <p:cNvSpPr/>
          <p:nvPr/>
        </p:nvSpPr>
        <p:spPr>
          <a:xfrm>
            <a:off x="6473952" y="4489704"/>
            <a:ext cx="502920" cy="502920"/>
          </a:xfrm>
          <a:prstGeom prst="ellipse">
            <a:avLst/>
          </a:prstGeom>
          <a:solidFill>
            <a:srgbClr val="0D3B8C"/>
          </a:solidFill>
        </p:spPr>
      </p:sp>
      <p:sp>
        <p:nvSpPr>
          <p:cNvPr id="22" name="Text 20"/>
          <p:cNvSpPr/>
          <p:nvPr/>
        </p:nvSpPr>
        <p:spPr>
          <a:xfrm>
            <a:off x="6473952" y="4489704"/>
            <a:ext cx="502920" cy="502920"/>
          </a:xfrm>
          <a:prstGeom prst="rect">
            <a:avLst/>
          </a:prstGeom>
          <a:noFill/>
        </p:spPr>
        <p:txBody>
          <a:bodyPr wrap="square" rtlCol="0" anchor="ctr"/>
          <a:lstStyle/>
          <a:p>
            <a:pPr marL="0" indent="0" algn="ctr">
              <a:buNone/>
            </a:pPr>
            <a:r>
              <a:rPr 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700" dirty="0"/>
          </a:p>
        </p:txBody>
      </p:sp>
      <p:sp>
        <p:nvSpPr>
          <p:cNvPr id="23" name="Text 21"/>
          <p:cNvSpPr/>
          <p:nvPr/>
        </p:nvSpPr>
        <p:spPr>
          <a:xfrm>
            <a:off x="7132320" y="4535170"/>
            <a:ext cx="4251960" cy="457200"/>
          </a:xfrm>
          <a:prstGeom prst="rect">
            <a:avLst/>
          </a:prstGeom>
          <a:noFill/>
        </p:spPr>
        <p:txBody>
          <a:bodyPr wrap="square" rtlCol="0" anchor="ctr"/>
          <a:lstStyle/>
          <a:p>
            <a:pPr marL="0" indent="0">
              <a:buNone/>
            </a:pPr>
            <a:r>
              <a:rPr lang="en-US" b="1" dirty="0">
                <a:solidFill>
                  <a:srgbClr val="0F1B33"/>
                </a:solidFill>
                <a:latin typeface="Times New Roman" panose="02020603050405020304" charset="0"/>
                <a:ea typeface="Segoe UI" panose="020B0502040204020203" pitchFamily="34" charset="-122"/>
                <a:cs typeface="Times New Roman" panose="02020603050405020304" charset="0"/>
              </a:rPr>
              <a:t>Real-Time Monitoring &amp; Alerts</a:t>
            </a:r>
            <a:endParaRPr lang="en-US" dirty="0">
              <a:latin typeface="Times New Roman" panose="02020603050405020304" charset="0"/>
              <a:cs typeface="Times New Roman" panose="02020603050405020304" charset="0"/>
            </a:endParaRPr>
          </a:p>
        </p:txBody>
      </p:sp>
      <p:sp>
        <p:nvSpPr>
          <p:cNvPr id="24" name="Text 22"/>
          <p:cNvSpPr/>
          <p:nvPr/>
        </p:nvSpPr>
        <p:spPr>
          <a:xfrm>
            <a:off x="6492240" y="5056632"/>
            <a:ext cx="4846320" cy="886968"/>
          </a:xfrm>
          <a:prstGeom prst="rect">
            <a:avLst/>
          </a:prstGeom>
          <a:noFill/>
        </p:spPr>
        <p:txBody>
          <a:bodyPr wrap="square" rtlCol="0" anchor="ctr"/>
          <a:lstStyle/>
          <a:p>
            <a:pPr marL="0" indent="0">
              <a:lnSpc>
                <a:spcPts val="1500"/>
              </a:lnSpc>
              <a:buNone/>
            </a:pPr>
            <a:r>
              <a:rPr lang="en-US" sz="1600" dirty="0">
                <a:solidFill>
                  <a:srgbClr val="56607A"/>
                </a:solidFill>
                <a:latin typeface="Times New Roman" panose="02020603050405020304" charset="0"/>
                <a:ea typeface="Calibri" panose="020F0502020204030204" pitchFamily="34" charset="-122"/>
                <a:cs typeface="Times New Roman" panose="02020603050405020304" charset="0"/>
              </a:rPr>
              <a:t>Push live anomaly alerts to maintenance teams via SMS / email the moment risk is detected.</a:t>
            </a:r>
            <a:endParaRPr lang="en-US" sz="1600" dirty="0">
              <a:latin typeface="Times New Roman" panose="02020603050405020304" charset="0"/>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144000" y="-1920240"/>
            <a:ext cx="5669280" cy="5669280"/>
          </a:xfrm>
          <a:prstGeom prst="ellipse">
            <a:avLst/>
          </a:prstGeom>
          <a:solidFill>
            <a:srgbClr val="12296B"/>
          </a:solidFill>
        </p:spPr>
      </p:sp>
      <p:sp>
        <p:nvSpPr>
          <p:cNvPr id="3" name="Shape 1"/>
          <p:cNvSpPr/>
          <p:nvPr/>
        </p:nvSpPr>
        <p:spPr>
          <a:xfrm rot="720000">
            <a:off x="10607040" y="4297680"/>
            <a:ext cx="914400" cy="914400"/>
          </a:xfrm>
          <a:prstGeom prst="hexagon">
            <a:avLst/>
          </a:prstGeom>
          <a:solidFill>
            <a:srgbClr val="2B6CF0">
              <a:alpha val="35000"/>
            </a:srgbClr>
          </a:solidFill>
        </p:spPr>
      </p:sp>
      <p:sp>
        <p:nvSpPr>
          <p:cNvPr id="4" name="Text 2"/>
          <p:cNvSpPr/>
          <p:nvPr/>
        </p:nvSpPr>
        <p:spPr>
          <a:xfrm>
            <a:off x="548640" y="365760"/>
            <a:ext cx="8229600" cy="310896"/>
          </a:xfrm>
          <a:prstGeom prst="rect">
            <a:avLst/>
          </a:prstGeom>
          <a:noFill/>
        </p:spPr>
        <p:txBody>
          <a:bodyPr wrap="square" rtlCol="0" anchor="ctr"/>
          <a:lstStyle/>
          <a:p>
            <a:pPr marL="0" indent="0">
              <a:buNone/>
            </a:pPr>
            <a:r>
              <a:rPr lang="en-US" sz="1200" b="1" kern="0" spc="200" dirty="0">
                <a:solidFill>
                  <a:srgbClr val="22D3EE"/>
                </a:solidFill>
                <a:latin typeface="Times New Roman" panose="02020603050405020304" charset="0"/>
                <a:ea typeface="Calibri" panose="020F0502020204030204" pitchFamily="34" charset="-122"/>
                <a:cs typeface="Times New Roman" panose="02020603050405020304" charset="0"/>
              </a:rPr>
              <a:t>CONCLUSION</a:t>
            </a:r>
            <a:endParaRPr lang="en-US" sz="1200" dirty="0">
              <a:latin typeface="Times New Roman" panose="02020603050405020304" charset="0"/>
              <a:cs typeface="Times New Roman" panose="02020603050405020304" charset="0"/>
            </a:endParaRPr>
          </a:p>
        </p:txBody>
      </p:sp>
      <p:sp>
        <p:nvSpPr>
          <p:cNvPr id="5" name="Text 3"/>
          <p:cNvSpPr/>
          <p:nvPr/>
        </p:nvSpPr>
        <p:spPr>
          <a:xfrm>
            <a:off x="530352" y="640080"/>
            <a:ext cx="11155680" cy="868680"/>
          </a:xfrm>
          <a:prstGeom prst="rect">
            <a:avLst/>
          </a:prstGeom>
          <a:noFill/>
        </p:spPr>
        <p:txBody>
          <a:bodyPr wrap="square" rtlCol="0" anchor="ctr"/>
          <a:lstStyle/>
          <a:p>
            <a:pPr marL="0" indent="0">
              <a:buNone/>
            </a:pPr>
            <a:r>
              <a:rPr lang="en-US" sz="3000" b="1" dirty="0">
                <a:solidFill>
                  <a:srgbClr val="FFFFFF"/>
                </a:solidFill>
                <a:latin typeface="Times New Roman" panose="02020603050405020304" charset="0"/>
                <a:ea typeface="Segoe UI" panose="020B0502040204020203" pitchFamily="34" charset="-122"/>
                <a:cs typeface="Times New Roman" panose="02020603050405020304" charset="0"/>
              </a:rPr>
              <a:t>Toward Smarter, Self-Healing Manufacturing</a:t>
            </a:r>
            <a:endParaRPr lang="en-US" sz="3000" dirty="0">
              <a:latin typeface="Times New Roman" panose="02020603050405020304" charset="0"/>
              <a:cs typeface="Times New Roman" panose="02020603050405020304" charset="0"/>
            </a:endParaRPr>
          </a:p>
        </p:txBody>
      </p:sp>
      <p:sp>
        <p:nvSpPr>
          <p:cNvPr id="6" name="Text 4"/>
          <p:cNvSpPr/>
          <p:nvPr/>
        </p:nvSpPr>
        <p:spPr>
          <a:xfrm>
            <a:off x="548640" y="1463040"/>
            <a:ext cx="11064240" cy="777240"/>
          </a:xfrm>
          <a:prstGeom prst="rect">
            <a:avLst/>
          </a:prstGeom>
          <a:noFill/>
        </p:spPr>
        <p:txBody>
          <a:bodyPr wrap="square" rtlCol="0" anchor="ctr"/>
          <a:lstStyle/>
          <a:p>
            <a:pPr marL="0" indent="0">
              <a:lnSpc>
                <a:spcPts val="1800"/>
              </a:lnSpc>
              <a:buNone/>
            </a:pPr>
            <a:r>
              <a:rPr lang="en-US" dirty="0">
                <a:solidFill>
                  <a:srgbClr val="C9D6FF"/>
                </a:solidFill>
                <a:latin typeface="Times New Roman" panose="02020603050405020304" charset="0"/>
                <a:ea typeface="Calibri" panose="020F0502020204030204" pitchFamily="34" charset="-122"/>
                <a:cs typeface="Times New Roman" panose="02020603050405020304" charset="0"/>
              </a:rPr>
              <a:t>This project demonstrates that AI can move beyond simple failure prediction by combining accurate classification, continuous health scoring, and prescriptive self-healing guidance into a single intelligent system for smart manufacturing.</a:t>
            </a:r>
            <a:endParaRPr lang="en-US" dirty="0">
              <a:latin typeface="Times New Roman" panose="02020603050405020304" charset="0"/>
              <a:cs typeface="Times New Roman" panose="02020603050405020304" charset="0"/>
            </a:endParaRPr>
          </a:p>
        </p:txBody>
      </p:sp>
      <p:sp>
        <p:nvSpPr>
          <p:cNvPr id="7" name="Shape 5"/>
          <p:cNvSpPr/>
          <p:nvPr/>
        </p:nvSpPr>
        <p:spPr>
          <a:xfrm>
            <a:off x="548640" y="2423160"/>
            <a:ext cx="3538728" cy="2743200"/>
          </a:xfrm>
          <a:prstGeom prst="roundRect">
            <a:avLst>
              <a:gd name="adj" fmla="val 3000"/>
            </a:avLst>
          </a:prstGeom>
          <a:solidFill>
            <a:srgbClr val="12296B"/>
          </a:solidFill>
          <a:ln w="12700">
            <a:solidFill>
              <a:srgbClr val="2B6CF0"/>
            </a:solidFill>
            <a:prstDash val="solid"/>
          </a:ln>
          <a:effectLst>
            <a:outerShdw blurRad="101600" dist="25400" dir="5400000" algn="bl" rotWithShape="0">
              <a:srgbClr val="3A4A7A">
                <a:alpha val="16000"/>
              </a:srgbClr>
            </a:outerShdw>
          </a:effectLst>
        </p:spPr>
      </p:sp>
      <p:sp>
        <p:nvSpPr>
          <p:cNvPr id="8" name="Shape 6"/>
          <p:cNvSpPr/>
          <p:nvPr/>
        </p:nvSpPr>
        <p:spPr>
          <a:xfrm>
            <a:off x="804672" y="2679192"/>
            <a:ext cx="502920" cy="502920"/>
          </a:xfrm>
          <a:prstGeom prst="ellipse">
            <a:avLst/>
          </a:prstGeom>
          <a:solidFill>
            <a:srgbClr val="22D3EE"/>
          </a:solidFill>
        </p:spPr>
      </p:sp>
      <p:sp>
        <p:nvSpPr>
          <p:cNvPr id="9" name="Text 7"/>
          <p:cNvSpPr/>
          <p:nvPr/>
        </p:nvSpPr>
        <p:spPr>
          <a:xfrm>
            <a:off x="804672" y="2679192"/>
            <a:ext cx="502920" cy="502920"/>
          </a:xfrm>
          <a:prstGeom prst="rect">
            <a:avLst/>
          </a:prstGeom>
          <a:noFill/>
        </p:spPr>
        <p:txBody>
          <a:bodyPr wrap="square" rtlCol="0" anchor="ctr"/>
          <a:lstStyle/>
          <a:p>
            <a:pPr marL="0" indent="0" algn="ctr">
              <a:buNone/>
            </a:pPr>
            <a:r>
              <a:rPr lang="en-US" sz="1700" b="1" dirty="0">
                <a:solidFill>
                  <a:srgbClr val="0A1E4A"/>
                </a:solidFill>
                <a:latin typeface="Calibri" panose="020F0502020204030204" pitchFamily="34" charset="0"/>
                <a:ea typeface="Calibri" panose="020F0502020204030204" pitchFamily="34" charset="-122"/>
                <a:cs typeface="Calibri" panose="020F0502020204030204" pitchFamily="34" charset="-120"/>
              </a:rPr>
              <a:t>1</a:t>
            </a:r>
            <a:endParaRPr lang="en-US" sz="1700" dirty="0"/>
          </a:p>
        </p:txBody>
      </p:sp>
      <p:sp>
        <p:nvSpPr>
          <p:cNvPr id="10" name="Text 8"/>
          <p:cNvSpPr/>
          <p:nvPr/>
        </p:nvSpPr>
        <p:spPr>
          <a:xfrm>
            <a:off x="822960" y="3337560"/>
            <a:ext cx="2990088" cy="640080"/>
          </a:xfrm>
          <a:prstGeom prst="rect">
            <a:avLst/>
          </a:prstGeom>
          <a:noFill/>
        </p:spPr>
        <p:txBody>
          <a:bodyPr wrap="square" rtlCol="0" anchor="ctr"/>
          <a:lstStyle/>
          <a:p>
            <a:pPr marL="0" indent="0">
              <a:buNone/>
            </a:pPr>
            <a:r>
              <a:rPr lang="en-US" sz="1600" b="1" dirty="0">
                <a:solidFill>
                  <a:srgbClr val="FFFFFF"/>
                </a:solidFill>
                <a:latin typeface="Times New Roman" panose="02020603050405020304" charset="0"/>
                <a:ea typeface="Segoe UI" panose="020B0502040204020203" pitchFamily="34" charset="-122"/>
                <a:cs typeface="Times New Roman" panose="02020603050405020304" charset="0"/>
              </a:rPr>
              <a:t>Proven Predictive Power</a:t>
            </a:r>
            <a:endParaRPr lang="en-US" sz="1600" dirty="0">
              <a:latin typeface="Times New Roman" panose="02020603050405020304" charset="0"/>
              <a:cs typeface="Times New Roman" panose="02020603050405020304" charset="0"/>
            </a:endParaRPr>
          </a:p>
        </p:txBody>
      </p:sp>
      <p:sp>
        <p:nvSpPr>
          <p:cNvPr id="11" name="Text 9"/>
          <p:cNvSpPr/>
          <p:nvPr/>
        </p:nvSpPr>
        <p:spPr>
          <a:xfrm>
            <a:off x="822960" y="3977640"/>
            <a:ext cx="2990088" cy="1005840"/>
          </a:xfrm>
          <a:prstGeom prst="rect">
            <a:avLst/>
          </a:prstGeom>
          <a:noFill/>
        </p:spPr>
        <p:txBody>
          <a:bodyPr wrap="square" rtlCol="0" anchor="ctr"/>
          <a:lstStyle/>
          <a:p>
            <a:pPr marL="0" indent="0">
              <a:lnSpc>
                <a:spcPts val="1500"/>
              </a:lnSpc>
              <a:buNone/>
            </a:pPr>
            <a:r>
              <a:rPr lang="en-US" sz="1400" dirty="0">
                <a:solidFill>
                  <a:srgbClr val="C9D6FF"/>
                </a:solidFill>
                <a:latin typeface="Times New Roman" panose="02020603050405020304" charset="0"/>
                <a:ea typeface="Calibri" panose="020F0502020204030204" pitchFamily="34" charset="-122"/>
                <a:cs typeface="Times New Roman" panose="02020603050405020304" charset="0"/>
              </a:rPr>
              <a:t>Random Forest achieved 98.4% accuracy , reliably classifying failures from real sensor data.</a:t>
            </a:r>
            <a:endParaRPr lang="en-US" sz="1400" dirty="0">
              <a:latin typeface="Times New Roman" panose="02020603050405020304" charset="0"/>
              <a:cs typeface="Times New Roman" panose="02020603050405020304" charset="0"/>
            </a:endParaRPr>
          </a:p>
        </p:txBody>
      </p:sp>
      <p:sp>
        <p:nvSpPr>
          <p:cNvPr id="12" name="Shape 10"/>
          <p:cNvSpPr/>
          <p:nvPr/>
        </p:nvSpPr>
        <p:spPr>
          <a:xfrm>
            <a:off x="4306824" y="2423160"/>
            <a:ext cx="3538728" cy="2743200"/>
          </a:xfrm>
          <a:prstGeom prst="roundRect">
            <a:avLst>
              <a:gd name="adj" fmla="val 3000"/>
            </a:avLst>
          </a:prstGeom>
          <a:solidFill>
            <a:srgbClr val="12296B"/>
          </a:solidFill>
          <a:ln w="12700">
            <a:solidFill>
              <a:srgbClr val="2B6CF0"/>
            </a:solidFill>
            <a:prstDash val="solid"/>
          </a:ln>
          <a:effectLst>
            <a:outerShdw blurRad="101600" dist="25400" dir="5400000" algn="bl" rotWithShape="0">
              <a:srgbClr val="3A4A7A">
                <a:alpha val="16000"/>
              </a:srgbClr>
            </a:outerShdw>
          </a:effectLst>
        </p:spPr>
      </p:sp>
      <p:sp>
        <p:nvSpPr>
          <p:cNvPr id="13" name="Shape 11"/>
          <p:cNvSpPr/>
          <p:nvPr/>
        </p:nvSpPr>
        <p:spPr>
          <a:xfrm>
            <a:off x="4562856" y="2679192"/>
            <a:ext cx="502920" cy="502920"/>
          </a:xfrm>
          <a:prstGeom prst="ellipse">
            <a:avLst/>
          </a:prstGeom>
          <a:solidFill>
            <a:srgbClr val="22D3EE"/>
          </a:solidFill>
        </p:spPr>
      </p:sp>
      <p:sp>
        <p:nvSpPr>
          <p:cNvPr id="14" name="Text 12"/>
          <p:cNvSpPr/>
          <p:nvPr/>
        </p:nvSpPr>
        <p:spPr>
          <a:xfrm>
            <a:off x="4562856" y="2679192"/>
            <a:ext cx="502920" cy="502920"/>
          </a:xfrm>
          <a:prstGeom prst="rect">
            <a:avLst/>
          </a:prstGeom>
          <a:noFill/>
        </p:spPr>
        <p:txBody>
          <a:bodyPr wrap="square" rtlCol="0" anchor="ctr"/>
          <a:lstStyle/>
          <a:p>
            <a:pPr marL="0" indent="0" algn="ctr">
              <a:buNone/>
            </a:pPr>
            <a:r>
              <a:rPr lang="en-US" sz="1700" b="1" dirty="0">
                <a:solidFill>
                  <a:srgbClr val="0A1E4A"/>
                </a:solidFill>
                <a:latin typeface="Calibri" panose="020F0502020204030204" pitchFamily="34" charset="0"/>
                <a:ea typeface="Calibri" panose="020F0502020204030204" pitchFamily="34" charset="-122"/>
                <a:cs typeface="Calibri" panose="020F0502020204030204" pitchFamily="34" charset="-120"/>
              </a:rPr>
              <a:t>2</a:t>
            </a:r>
            <a:endParaRPr lang="en-US" sz="1700" dirty="0"/>
          </a:p>
        </p:txBody>
      </p:sp>
      <p:sp>
        <p:nvSpPr>
          <p:cNvPr id="15" name="Text 13"/>
          <p:cNvSpPr/>
          <p:nvPr/>
        </p:nvSpPr>
        <p:spPr>
          <a:xfrm>
            <a:off x="4581144" y="3337560"/>
            <a:ext cx="2990088" cy="640080"/>
          </a:xfrm>
          <a:prstGeom prst="rect">
            <a:avLst/>
          </a:prstGeom>
          <a:noFill/>
        </p:spPr>
        <p:txBody>
          <a:bodyPr wrap="square" rtlCol="0" anchor="ctr"/>
          <a:lstStyle/>
          <a:p>
            <a:pPr marL="0" indent="0">
              <a:buNone/>
            </a:pPr>
            <a:r>
              <a:rPr lang="en-US" sz="1600" b="1" dirty="0">
                <a:solidFill>
                  <a:srgbClr val="FFFFFF"/>
                </a:solidFill>
                <a:latin typeface="Times New Roman" panose="02020603050405020304" charset="0"/>
                <a:ea typeface="Segoe UI" panose="020B0502040204020203" pitchFamily="34" charset="-122"/>
                <a:cs typeface="Times New Roman" panose="02020603050405020304" charset="0"/>
              </a:rPr>
              <a:t>Actionable Health Insights</a:t>
            </a:r>
            <a:endParaRPr lang="en-US" sz="1600" dirty="0">
              <a:latin typeface="Times New Roman" panose="02020603050405020304" charset="0"/>
              <a:cs typeface="Times New Roman" panose="02020603050405020304" charset="0"/>
            </a:endParaRPr>
          </a:p>
        </p:txBody>
      </p:sp>
      <p:sp>
        <p:nvSpPr>
          <p:cNvPr id="16" name="Text 14"/>
          <p:cNvSpPr/>
          <p:nvPr/>
        </p:nvSpPr>
        <p:spPr>
          <a:xfrm>
            <a:off x="4581144" y="3977640"/>
            <a:ext cx="2990088" cy="1005840"/>
          </a:xfrm>
          <a:prstGeom prst="rect">
            <a:avLst/>
          </a:prstGeom>
          <a:noFill/>
        </p:spPr>
        <p:txBody>
          <a:bodyPr wrap="square" rtlCol="0" anchor="ctr"/>
          <a:lstStyle/>
          <a:p>
            <a:pPr marL="0" indent="0">
              <a:lnSpc>
                <a:spcPts val="1500"/>
              </a:lnSpc>
              <a:buNone/>
            </a:pPr>
            <a:r>
              <a:rPr lang="en-US" sz="1400" dirty="0">
                <a:solidFill>
                  <a:srgbClr val="C9D6FF"/>
                </a:solidFill>
                <a:latin typeface="Times New Roman" panose="02020603050405020304" charset="0"/>
                <a:ea typeface="Calibri" panose="020F0502020204030204" pitchFamily="34" charset="-122"/>
                <a:cs typeface="Times New Roman" panose="02020603050405020304" charset="0"/>
              </a:rPr>
              <a:t>Health scores, failure probability, and self-healing recommendations go beyond a simple Yes/No prediction.</a:t>
            </a:r>
            <a:endParaRPr lang="en-US" sz="1400" dirty="0">
              <a:latin typeface="Times New Roman" panose="02020603050405020304" charset="0"/>
              <a:cs typeface="Times New Roman" panose="02020603050405020304" charset="0"/>
            </a:endParaRPr>
          </a:p>
        </p:txBody>
      </p:sp>
      <p:sp>
        <p:nvSpPr>
          <p:cNvPr id="17" name="Shape 15"/>
          <p:cNvSpPr/>
          <p:nvPr/>
        </p:nvSpPr>
        <p:spPr>
          <a:xfrm>
            <a:off x="8065008" y="2423160"/>
            <a:ext cx="3538728" cy="2743200"/>
          </a:xfrm>
          <a:prstGeom prst="roundRect">
            <a:avLst>
              <a:gd name="adj" fmla="val 3000"/>
            </a:avLst>
          </a:prstGeom>
          <a:solidFill>
            <a:srgbClr val="12296B"/>
          </a:solidFill>
          <a:ln w="12700">
            <a:solidFill>
              <a:srgbClr val="2B6CF0"/>
            </a:solidFill>
            <a:prstDash val="solid"/>
          </a:ln>
          <a:effectLst>
            <a:outerShdw blurRad="101600" dist="25400" dir="5400000" algn="bl" rotWithShape="0">
              <a:srgbClr val="3A4A7A">
                <a:alpha val="16000"/>
              </a:srgbClr>
            </a:outerShdw>
          </a:effectLst>
        </p:spPr>
      </p:sp>
      <p:sp>
        <p:nvSpPr>
          <p:cNvPr id="18" name="Shape 16"/>
          <p:cNvSpPr/>
          <p:nvPr/>
        </p:nvSpPr>
        <p:spPr>
          <a:xfrm>
            <a:off x="8321040" y="2679192"/>
            <a:ext cx="502920" cy="502920"/>
          </a:xfrm>
          <a:prstGeom prst="ellipse">
            <a:avLst/>
          </a:prstGeom>
          <a:solidFill>
            <a:srgbClr val="22D3EE"/>
          </a:solidFill>
        </p:spPr>
      </p:sp>
      <p:sp>
        <p:nvSpPr>
          <p:cNvPr id="19" name="Text 17"/>
          <p:cNvSpPr/>
          <p:nvPr/>
        </p:nvSpPr>
        <p:spPr>
          <a:xfrm>
            <a:off x="8321040" y="2679192"/>
            <a:ext cx="502920" cy="502920"/>
          </a:xfrm>
          <a:prstGeom prst="rect">
            <a:avLst/>
          </a:prstGeom>
          <a:noFill/>
        </p:spPr>
        <p:txBody>
          <a:bodyPr wrap="square" rtlCol="0" anchor="ctr"/>
          <a:lstStyle/>
          <a:p>
            <a:pPr marL="0" indent="0" algn="ctr">
              <a:buNone/>
            </a:pPr>
            <a:r>
              <a:rPr lang="en-US" sz="1700" b="1" dirty="0">
                <a:solidFill>
                  <a:srgbClr val="0A1E4A"/>
                </a:solidFill>
                <a:latin typeface="Calibri" panose="020F0502020204030204" pitchFamily="34" charset="0"/>
                <a:ea typeface="Calibri" panose="020F0502020204030204" pitchFamily="34" charset="-122"/>
                <a:cs typeface="Calibri" panose="020F0502020204030204" pitchFamily="34" charset="-120"/>
              </a:rPr>
              <a:t>3</a:t>
            </a:r>
            <a:endParaRPr lang="en-US" sz="1700" dirty="0"/>
          </a:p>
        </p:txBody>
      </p:sp>
      <p:sp>
        <p:nvSpPr>
          <p:cNvPr id="20" name="Text 18"/>
          <p:cNvSpPr/>
          <p:nvPr/>
        </p:nvSpPr>
        <p:spPr>
          <a:xfrm>
            <a:off x="8339328" y="3337560"/>
            <a:ext cx="2990088" cy="640080"/>
          </a:xfrm>
          <a:prstGeom prst="rect">
            <a:avLst/>
          </a:prstGeom>
          <a:noFill/>
        </p:spPr>
        <p:txBody>
          <a:bodyPr wrap="square" rtlCol="0" anchor="ctr"/>
          <a:lstStyle/>
          <a:p>
            <a:pPr marL="0" indent="0">
              <a:buNone/>
            </a:pPr>
            <a:r>
              <a:rPr lang="en-US" sz="1600" b="1" dirty="0">
                <a:solidFill>
                  <a:srgbClr val="FFFFFF"/>
                </a:solidFill>
                <a:latin typeface="Times New Roman" panose="02020603050405020304" charset="0"/>
                <a:ea typeface="Segoe UI" panose="020B0502040204020203" pitchFamily="34" charset="-122"/>
                <a:cs typeface="Times New Roman" panose="02020603050405020304" charset="0"/>
              </a:rPr>
              <a:t>Foundation for Industry 4.0</a:t>
            </a:r>
            <a:endParaRPr lang="en-US" sz="1600" dirty="0">
              <a:latin typeface="Times New Roman" panose="02020603050405020304" charset="0"/>
              <a:cs typeface="Times New Roman" panose="02020603050405020304" charset="0"/>
            </a:endParaRPr>
          </a:p>
        </p:txBody>
      </p:sp>
      <p:sp>
        <p:nvSpPr>
          <p:cNvPr id="21" name="Text 19"/>
          <p:cNvSpPr/>
          <p:nvPr/>
        </p:nvSpPr>
        <p:spPr>
          <a:xfrm>
            <a:off x="8339328" y="3977640"/>
            <a:ext cx="2990088" cy="1005840"/>
          </a:xfrm>
          <a:prstGeom prst="rect">
            <a:avLst/>
          </a:prstGeom>
          <a:noFill/>
        </p:spPr>
        <p:txBody>
          <a:bodyPr wrap="square" rtlCol="0" anchor="ctr"/>
          <a:lstStyle/>
          <a:p>
            <a:pPr marL="0" indent="0">
              <a:lnSpc>
                <a:spcPts val="1500"/>
              </a:lnSpc>
              <a:buNone/>
            </a:pPr>
            <a:r>
              <a:rPr lang="en-US" sz="1400" dirty="0">
                <a:solidFill>
                  <a:srgbClr val="C9D6FF"/>
                </a:solidFill>
                <a:latin typeface="Times New Roman" panose="02020603050405020304" charset="0"/>
                <a:ea typeface="Calibri" panose="020F0502020204030204" pitchFamily="34" charset="-122"/>
                <a:cs typeface="Times New Roman" panose="02020603050405020304" charset="0"/>
              </a:rPr>
              <a:t>A scalable architecture, ready for IoT streaming and cloud deployment across multiple plants.</a:t>
            </a:r>
            <a:endParaRPr lang="en-US" sz="1400" dirty="0">
              <a:latin typeface="Times New Roman" panose="02020603050405020304" charset="0"/>
              <a:cs typeface="Times New Roman" panose="02020603050405020304" charset="0"/>
            </a:endParaRPr>
          </a:p>
        </p:txBody>
      </p:sp>
      <p:sp>
        <p:nvSpPr>
          <p:cNvPr id="22" name="Shape 20"/>
          <p:cNvSpPr/>
          <p:nvPr/>
        </p:nvSpPr>
        <p:spPr>
          <a:xfrm>
            <a:off x="4709160" y="5532120"/>
            <a:ext cx="2743200" cy="0"/>
          </a:xfrm>
          <a:prstGeom prst="line">
            <a:avLst/>
          </a:prstGeom>
          <a:noFill/>
          <a:ln w="19050">
            <a:solidFill>
              <a:srgbClr val="22D3EE"/>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61B45"/>
        </a:solidFill>
        <a:effectLst/>
      </p:bgPr>
    </p:bg>
    <p:spTree>
      <p:nvGrpSpPr>
        <p:cNvPr id="1" name=""/>
        <p:cNvGrpSpPr/>
        <p:nvPr/>
      </p:nvGrpSpPr>
      <p:grpSpPr>
        <a:xfrm>
          <a:off x="0" y="0"/>
          <a:ext cx="0" cy="0"/>
          <a:chOff x="0" y="0"/>
          <a:chExt cx="0" cy="0"/>
        </a:xfrm>
      </p:grpSpPr>
      <p:sp>
        <p:nvSpPr>
          <p:cNvPr id="2" name="Shape 0"/>
          <p:cNvSpPr/>
          <p:nvPr/>
        </p:nvSpPr>
        <p:spPr>
          <a:xfrm>
            <a:off x="-1828800" y="-2011680"/>
            <a:ext cx="5486400" cy="5486400"/>
          </a:xfrm>
          <a:prstGeom prst="ellipse">
            <a:avLst/>
          </a:prstGeom>
          <a:solidFill>
            <a:srgbClr val="1F2564"/>
          </a:solidFill>
        </p:spPr>
      </p:sp>
      <p:sp>
        <p:nvSpPr>
          <p:cNvPr id="3" name="Shape 1"/>
          <p:cNvSpPr/>
          <p:nvPr/>
        </p:nvSpPr>
        <p:spPr>
          <a:xfrm>
            <a:off x="9875520" y="4023360"/>
            <a:ext cx="4572000" cy="4572000"/>
          </a:xfrm>
          <a:prstGeom prst="ellipse">
            <a:avLst/>
          </a:prstGeom>
          <a:solidFill>
            <a:srgbClr val="4B4FE0">
              <a:alpha val="22000"/>
            </a:srgbClr>
          </a:solidFill>
        </p:spPr>
      </p:sp>
      <p:sp>
        <p:nvSpPr>
          <p:cNvPr id="4" name="Text 2"/>
          <p:cNvSpPr/>
          <p:nvPr/>
        </p:nvSpPr>
        <p:spPr>
          <a:xfrm>
            <a:off x="548640" y="2633345"/>
            <a:ext cx="11064240" cy="1057275"/>
          </a:xfrm>
          <a:prstGeom prst="rect">
            <a:avLst/>
          </a:prstGeom>
          <a:noFill/>
        </p:spPr>
        <p:txBody>
          <a:bodyPr wrap="square" rtlCol="0" anchor="ctr"/>
          <a:lstStyle/>
          <a:p>
            <a:pPr marL="0" indent="0" algn="ctr">
              <a:buNone/>
            </a:pPr>
            <a:r>
              <a:rPr lang="en-US" sz="5000" b="1" dirty="0">
                <a:solidFill>
                  <a:srgbClr val="FFFFFF"/>
                </a:solidFill>
                <a:latin typeface="Century Schoolbook" panose="02040604050505020304" pitchFamily="34" charset="0"/>
                <a:ea typeface="Century Schoolbook" panose="02040604050505020304" pitchFamily="34" charset="-122"/>
                <a:cs typeface="Century Schoolbook" panose="02040604050505020304" pitchFamily="34" charset="-120"/>
              </a:rPr>
              <a:t>Thank You</a:t>
            </a:r>
            <a:endParaRPr lang="en-US" sz="5000" dirty="0"/>
          </a:p>
        </p:txBody>
      </p:sp>
      <p:sp>
        <p:nvSpPr>
          <p:cNvPr id="7" name="Text 5"/>
          <p:cNvSpPr/>
          <p:nvPr/>
        </p:nvSpPr>
        <p:spPr>
          <a:xfrm>
            <a:off x="6911340" y="4600575"/>
            <a:ext cx="4202430" cy="1705610"/>
          </a:xfrm>
          <a:prstGeom prst="rect">
            <a:avLst/>
          </a:prstGeom>
          <a:noFill/>
        </p:spPr>
        <p:txBody>
          <a:bodyPr wrap="square" rtlCol="0" anchor="ctr"/>
          <a:lstStyle/>
          <a:p>
            <a:pPr marL="0" indent="0" algn="l">
              <a:buNone/>
            </a:pPr>
            <a:r>
              <a:rPr lang="en-US" sz="2600" b="1" dirty="0">
                <a:solidFill>
                  <a:schemeClr val="bg1"/>
                </a:solidFill>
              </a:rPr>
              <a:t>Presented By: </a:t>
            </a:r>
            <a:endParaRPr lang="en-US" sz="2600" b="1" dirty="0">
              <a:solidFill>
                <a:schemeClr val="bg1"/>
              </a:solidFill>
            </a:endParaRPr>
          </a:p>
          <a:p>
            <a:pPr marL="0" indent="0" algn="l">
              <a:buNone/>
            </a:pPr>
            <a:r>
              <a:rPr lang="en-US" sz="1200" b="1" dirty="0">
                <a:solidFill>
                  <a:schemeClr val="bg1"/>
                </a:solidFill>
              </a:rPr>
              <a:t>                                          </a:t>
            </a:r>
            <a:r>
              <a:rPr lang="en-US" b="1" dirty="0">
                <a:solidFill>
                  <a:schemeClr val="bg1"/>
                </a:solidFill>
              </a:rPr>
              <a:t> Aadya Patil</a:t>
            </a:r>
            <a:endParaRPr lang="en-US" b="1" dirty="0">
              <a:solidFill>
                <a:schemeClr val="bg1"/>
              </a:solidFill>
            </a:endParaRPr>
          </a:p>
          <a:p>
            <a:pPr marL="0" indent="0" algn="l">
              <a:buNone/>
            </a:pPr>
            <a:r>
              <a:rPr lang="en-US" dirty="0">
                <a:solidFill>
                  <a:schemeClr val="bg1"/>
                </a:solidFill>
              </a:rPr>
              <a:t>                             </a:t>
            </a:r>
            <a:r>
              <a:rPr lang="en-US" b="1" dirty="0">
                <a:solidFill>
                  <a:srgbClr val="FFFFFF"/>
                </a:solidFill>
                <a:latin typeface="Calibri" panose="020F0502020204030204" pitchFamily="34" charset="0"/>
                <a:ea typeface="Calibri" panose="020F0502020204030204" pitchFamily="34" charset="-122"/>
                <a:cs typeface="Calibri" panose="020F0502020204030204" pitchFamily="34" charset="-120"/>
                <a:sym typeface="+mn-ea"/>
              </a:rPr>
              <a:t>Balasri Korasikha</a:t>
            </a:r>
            <a:endParaRPr lang="en-US" b="1" dirty="0">
              <a:solidFill>
                <a:srgbClr val="FFFFFF"/>
              </a:solidFill>
              <a:latin typeface="Calibri" panose="020F0502020204030204" pitchFamily="34" charset="0"/>
              <a:ea typeface="Calibri" panose="020F0502020204030204" pitchFamily="34" charset="-122"/>
              <a:cs typeface="Calibri" panose="020F0502020204030204" pitchFamily="34" charset="-120"/>
              <a:sym typeface="+mn-ea"/>
            </a:endParaRPr>
          </a:p>
          <a:p>
            <a:pPr marL="0" indent="0" algn="l">
              <a:buNone/>
            </a:pPr>
            <a:r>
              <a:rPr lang="en-US" b="1" dirty="0">
                <a:solidFill>
                  <a:srgbClr val="FFFFFF"/>
                </a:solidFill>
                <a:latin typeface="Calibri" panose="020F0502020204030204" pitchFamily="34" charset="0"/>
                <a:ea typeface="Calibri" panose="020F0502020204030204" pitchFamily="34" charset="-122"/>
                <a:cs typeface="Calibri" panose="020F0502020204030204" pitchFamily="34" charset="-120"/>
                <a:sym typeface="+mn-ea"/>
              </a:rPr>
              <a:t>                             Bandaru Keerthi Pranathi</a:t>
            </a:r>
            <a:endParaRPr lang="en-US" b="1" dirty="0">
              <a:solidFill>
                <a:srgbClr val="FFFFFF"/>
              </a:solidFill>
              <a:latin typeface="Calibri" panose="020F0502020204030204" pitchFamily="34" charset="0"/>
              <a:ea typeface="Calibri" panose="020F0502020204030204" pitchFamily="34" charset="-122"/>
              <a:cs typeface="Calibri" panose="020F0502020204030204" pitchFamily="34" charset="-120"/>
              <a:sym typeface="+mn-ea"/>
            </a:endParaRPr>
          </a:p>
          <a:p>
            <a:pPr marL="0" indent="0" algn="l">
              <a:buNone/>
            </a:pPr>
            <a:r>
              <a:rPr lang="en-US" b="1" dirty="0">
                <a:solidFill>
                  <a:srgbClr val="FFFFFF"/>
                </a:solidFill>
                <a:latin typeface="Calibri" panose="020F0502020204030204" pitchFamily="34" charset="0"/>
                <a:ea typeface="Calibri" panose="020F0502020204030204" pitchFamily="34" charset="-122"/>
                <a:cs typeface="Calibri" panose="020F0502020204030204" pitchFamily="34" charset="-120"/>
                <a:sym typeface="+mn-ea"/>
              </a:rPr>
              <a:t>                             Chandini K </a:t>
            </a:r>
            <a:endParaRPr lang="en-US" b="1" dirty="0">
              <a:solidFill>
                <a:srgbClr val="FFFFFF"/>
              </a:solidFill>
              <a:latin typeface="Calibri" panose="020F0502020204030204" pitchFamily="34" charset="0"/>
              <a:ea typeface="Calibri" panose="020F0502020204030204" pitchFamily="34" charset="-122"/>
              <a:cs typeface="Calibri" panose="020F0502020204030204" pitchFamily="34" charset="-120"/>
              <a:sym typeface="+mn-ea"/>
            </a:endParaRPr>
          </a:p>
          <a:p>
            <a:pPr marL="0" indent="0" algn="l">
              <a:buNone/>
            </a:pPr>
            <a:r>
              <a:rPr lang="en-US" b="1" dirty="0">
                <a:solidFill>
                  <a:srgbClr val="FFFFFF"/>
                </a:solidFill>
                <a:latin typeface="Calibri" panose="020F0502020204030204" pitchFamily="34" charset="0"/>
                <a:ea typeface="Calibri" panose="020F0502020204030204" pitchFamily="34" charset="-122"/>
                <a:cs typeface="Calibri" panose="020F0502020204030204" pitchFamily="34" charset="-120"/>
                <a:sym typeface="+mn-ea"/>
              </a:rPr>
              <a:t>                             Vasavi Kolla</a:t>
            </a:r>
            <a:endParaRPr lang="en-US" sz="1200" dirty="0"/>
          </a:p>
          <a:p>
            <a:pPr marL="0" indent="0" algn="ctr">
              <a:buNone/>
            </a:pPr>
            <a:r>
              <a:rPr lang="en-US" sz="1200" dirty="0"/>
              <a:t> </a:t>
            </a:r>
            <a:endParaRPr lang="en-US" sz="1200" dirty="0"/>
          </a:p>
          <a:p>
            <a:pPr marL="0" indent="0" algn="ctr">
              <a:buNone/>
            </a:pPr>
            <a:r>
              <a:rPr lang="en-US" sz="1200" dirty="0"/>
              <a:t> </a:t>
            </a:r>
            <a:endParaRPr lang="en-US" sz="1200" dirty="0"/>
          </a:p>
        </p:txBody>
      </p:sp>
      <p:sp>
        <p:nvSpPr>
          <p:cNvPr id="10" name="Text 8"/>
          <p:cNvSpPr/>
          <p:nvPr/>
        </p:nvSpPr>
        <p:spPr>
          <a:xfrm>
            <a:off x="1417320" y="5669280"/>
            <a:ext cx="1645920" cy="365760"/>
          </a:xfrm>
          <a:prstGeom prst="rect">
            <a:avLst/>
          </a:prstGeom>
          <a:noFill/>
        </p:spPr>
        <p:txBody>
          <a:bodyPr wrap="square" rtlCol="0" anchor="ctr"/>
          <a:lstStyle/>
          <a:p>
            <a:pPr marL="0" indent="0" algn="ctr">
              <a:buNone/>
            </a:pPr>
            <a:endParaRPr lang="en-US" sz="1050" dirty="0"/>
          </a:p>
        </p:txBody>
      </p:sp>
      <p:sp>
        <p:nvSpPr>
          <p:cNvPr id="12" name="Text 10"/>
          <p:cNvSpPr/>
          <p:nvPr/>
        </p:nvSpPr>
        <p:spPr>
          <a:xfrm>
            <a:off x="4160520" y="5029200"/>
            <a:ext cx="548640" cy="548640"/>
          </a:xfrm>
          <a:prstGeom prst="rect">
            <a:avLst/>
          </a:prstGeom>
          <a:noFill/>
        </p:spPr>
        <p:txBody>
          <a:bodyPr wrap="square" rtlCol="0" anchor="ctr"/>
          <a:lstStyle/>
          <a:p>
            <a:pPr marL="0" indent="0" algn="ctr">
              <a:buNone/>
            </a:pPr>
            <a:endParaRPr lang="en-US" sz="1800" dirty="0"/>
          </a:p>
        </p:txBody>
      </p:sp>
      <p:sp>
        <p:nvSpPr>
          <p:cNvPr id="13" name="Text 11"/>
          <p:cNvSpPr/>
          <p:nvPr/>
        </p:nvSpPr>
        <p:spPr>
          <a:xfrm>
            <a:off x="3611880" y="5669280"/>
            <a:ext cx="1645920" cy="365760"/>
          </a:xfrm>
          <a:prstGeom prst="rect">
            <a:avLst/>
          </a:prstGeom>
          <a:noFill/>
        </p:spPr>
        <p:txBody>
          <a:bodyPr wrap="square" rtlCol="0" anchor="ctr"/>
          <a:lstStyle/>
          <a:p>
            <a:pPr marL="0" indent="0" algn="ctr">
              <a:buNone/>
            </a:pPr>
            <a:endParaRPr lang="en-US" sz="1050" dirty="0"/>
          </a:p>
        </p:txBody>
      </p:sp>
      <p:sp>
        <p:nvSpPr>
          <p:cNvPr id="15" name="Text 13"/>
          <p:cNvSpPr/>
          <p:nvPr/>
        </p:nvSpPr>
        <p:spPr>
          <a:xfrm>
            <a:off x="6355080" y="5029200"/>
            <a:ext cx="548640" cy="548640"/>
          </a:xfrm>
          <a:prstGeom prst="rect">
            <a:avLst/>
          </a:prstGeom>
          <a:noFill/>
        </p:spPr>
        <p:txBody>
          <a:bodyPr wrap="square" rtlCol="0" anchor="ctr"/>
          <a:lstStyle/>
          <a:p>
            <a:pPr marL="0" indent="0" algn="ctr">
              <a:buNone/>
            </a:pPr>
            <a:endParaRPr lang="en-US" sz="1800" dirty="0"/>
          </a:p>
        </p:txBody>
      </p:sp>
      <p:sp>
        <p:nvSpPr>
          <p:cNvPr id="16" name="Text 14"/>
          <p:cNvSpPr/>
          <p:nvPr/>
        </p:nvSpPr>
        <p:spPr>
          <a:xfrm>
            <a:off x="-1645920" y="6979920"/>
            <a:ext cx="1645920" cy="365760"/>
          </a:xfrm>
          <a:prstGeom prst="rect">
            <a:avLst/>
          </a:prstGeom>
          <a:noFill/>
        </p:spPr>
        <p:txBody>
          <a:bodyPr wrap="square" rtlCol="0" anchor="ctr"/>
          <a:lstStyle/>
          <a:p>
            <a:pPr marL="0" indent="0" algn="ctr">
              <a:buNone/>
            </a:pPr>
            <a:endParaRPr lang="en-US" sz="1050" dirty="0"/>
          </a:p>
        </p:txBody>
      </p:sp>
      <p:sp>
        <p:nvSpPr>
          <p:cNvPr id="18" name="Text 16"/>
          <p:cNvSpPr/>
          <p:nvPr/>
        </p:nvSpPr>
        <p:spPr>
          <a:xfrm>
            <a:off x="11377930" y="368300"/>
            <a:ext cx="548640" cy="548640"/>
          </a:xfrm>
          <a:prstGeom prst="rect">
            <a:avLst/>
          </a:prstGeom>
          <a:noFill/>
        </p:spPr>
        <p:txBody>
          <a:bodyPr wrap="square" rtlCol="0" anchor="ctr"/>
          <a:lstStyle/>
          <a:p>
            <a:pPr marL="0" indent="0" algn="ctr">
              <a:buNone/>
            </a:pP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10395</Words>
  <Application>WPS Presentation</Application>
  <PresentationFormat>On-screen Show (16:9)</PresentationFormat>
  <Paragraphs>435</Paragraphs>
  <Slides>14</Slides>
  <Notes>16</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14</vt:i4>
      </vt:variant>
    </vt:vector>
  </HeadingPairs>
  <TitlesOfParts>
    <vt:vector size="31" baseType="lpstr">
      <vt:lpstr>Arial</vt:lpstr>
      <vt:lpstr>SimSun</vt:lpstr>
      <vt:lpstr>Wingdings</vt:lpstr>
      <vt:lpstr>Times New Roman</vt:lpstr>
      <vt:lpstr>Calibri</vt:lpstr>
      <vt:lpstr>Century Schoolbook</vt:lpstr>
      <vt:lpstr>Calibri</vt:lpstr>
      <vt:lpstr>Calibri</vt:lpstr>
      <vt:lpstr>Century Schoolbook</vt:lpstr>
      <vt:lpstr>Century Schoolbook</vt:lpstr>
      <vt:lpstr>Calibri</vt:lpstr>
      <vt:lpstr>Microsoft YaHei</vt:lpstr>
      <vt:lpstr>Arial Unicode MS</vt:lpstr>
      <vt:lpstr>Segoe UI</vt:lpstr>
      <vt:lpstr>Segoe UI</vt:lpstr>
      <vt:lpstr>Segoe UI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Aadya Patil</cp:lastModifiedBy>
  <cp:revision>6</cp:revision>
  <dcterms:created xsi:type="dcterms:W3CDTF">2026-07-10T12:08:00Z</dcterms:created>
  <dcterms:modified xsi:type="dcterms:W3CDTF">2026-08-11T15:44:55Z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F6CAE66114A842EEAC34A3C68BB61C96_13</vt:lpwstr>
  </property>
</Properties>
</file>